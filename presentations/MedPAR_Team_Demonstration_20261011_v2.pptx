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d10ed2c21e4baa" /><Relationship Type="http://schemas.openxmlformats.org/officeDocument/2006/relationships/extended-properties" Target="/docProps/app.xml" Id="R49f91cb3c61b4dfe" /><Relationship Type="http://schemas.openxmlformats.org/officeDocument/2006/relationships/officeDocument" Target="/ppt/presentation.xml" Id="Re3c747bcfeb84a1b" /></Relationships>
</file>

<file path=ppt/presentation.xml><?xml version="1.0" encoding="utf-8"?>
<p:presentation xmlns:p="http://schemas.openxmlformats.org/presentationml/2006/main">
  <p:sldMasterIdLst>
    <p:sldMasterId xmlns:r="http://schemas.openxmlformats.org/officeDocument/2006/relationships" id="2147483648" r:id="Ra53b141994db4f7a"/>
  </p:sldMasterIdLst>
  <p:notesMasterIdLst>
    <p:notesMasterId xmlns:r="http://schemas.openxmlformats.org/officeDocument/2006/relationships" r:id="R8b791c4617eb49e2"/>
  </p:notesMasterIdLst>
  <p:sldIdLst>
    <p:sldId xmlns:r="http://schemas.openxmlformats.org/officeDocument/2006/relationships" id="256" r:id="R1f6ea432729348cc"/>
    <p:sldId xmlns:r="http://schemas.openxmlformats.org/officeDocument/2006/relationships" id="257" r:id="R4fe7122aeffc4a8f"/>
    <p:sldId xmlns:r="http://schemas.openxmlformats.org/officeDocument/2006/relationships" id="258" r:id="R4ca0202c496b46af"/>
    <p:sldId xmlns:r="http://schemas.openxmlformats.org/officeDocument/2006/relationships" id="259" r:id="Ra3672d74fb4244ff"/>
    <p:sldId xmlns:r="http://schemas.openxmlformats.org/officeDocument/2006/relationships" id="260" r:id="Rcd15521c9ce1464b"/>
    <p:sldId xmlns:r="http://schemas.openxmlformats.org/officeDocument/2006/relationships" id="261" r:id="R9888fbb977ca4d76"/>
    <p:sldId xmlns:r="http://schemas.openxmlformats.org/officeDocument/2006/relationships" id="262" r:id="R0b41d2642eeb4da7"/>
    <p:sldId xmlns:r="http://schemas.openxmlformats.org/officeDocument/2006/relationships" id="263" r:id="R5174cb51a2594125"/>
    <p:sldId xmlns:r="http://schemas.openxmlformats.org/officeDocument/2006/relationships" id="264" r:id="Rbba2f121e68c4336"/>
    <p:sldId xmlns:r="http://schemas.openxmlformats.org/officeDocument/2006/relationships" id="265" r:id="R3adda983fdfa4f2b"/>
    <p:sldId xmlns:r="http://schemas.openxmlformats.org/officeDocument/2006/relationships" id="266" r:id="R429fb103403040c3"/>
    <p:sldId xmlns:r="http://schemas.openxmlformats.org/officeDocument/2006/relationships" id="267" r:id="R422e63fd8df54f43"/>
    <p:sldId xmlns:r="http://schemas.openxmlformats.org/officeDocument/2006/relationships" id="268" r:id="R9eafdf30c46d4cde"/>
    <p:sldId xmlns:r="http://schemas.openxmlformats.org/officeDocument/2006/relationships" id="269" r:id="Rd421215e24ad4470"/>
    <p:sldId xmlns:r="http://schemas.openxmlformats.org/officeDocument/2006/relationships" id="270" r:id="Ra4a86edfae884a2b"/>
    <p:sldId xmlns:r="http://schemas.openxmlformats.org/officeDocument/2006/relationships" id="271" r:id="Rd5be938c09a142c5"/>
    <p:sldId xmlns:r="http://schemas.openxmlformats.org/officeDocument/2006/relationships" id="272" r:id="Re4e844eb62094efc"/>
    <p:sldId xmlns:r="http://schemas.openxmlformats.org/officeDocument/2006/relationships" id="273" r:id="Rf7b95fb20df74402"/>
    <p:sldId xmlns:r="http://schemas.openxmlformats.org/officeDocument/2006/relationships" id="274" r:id="Refb8d617b6304d92"/>
    <p:sldId xmlns:r="http://schemas.openxmlformats.org/officeDocument/2006/relationships" id="275" r:id="Raee9e0590a2646be"/>
    <p:sldId xmlns:r="http://schemas.openxmlformats.org/officeDocument/2006/relationships" id="276" r:id="R916b9ccac2584827"/>
    <p:sldId xmlns:r="http://schemas.openxmlformats.org/officeDocument/2006/relationships" id="277" r:id="R71b13bd444494a79"/>
    <p:sldId xmlns:r="http://schemas.openxmlformats.org/officeDocument/2006/relationships" id="278" r:id="Rc2dde254647a4ccf"/>
    <p:sldId xmlns:r="http://schemas.openxmlformats.org/officeDocument/2006/relationships" id="279" r:id="R6b853f77a16546de"/>
    <p:sldId xmlns:r="http://schemas.openxmlformats.org/officeDocument/2006/relationships" id="280" r:id="R44378894bef5409e"/>
    <p:sldId xmlns:r="http://schemas.openxmlformats.org/officeDocument/2006/relationships" id="281" r:id="R06df1c7e59724780"/>
    <p:sldId xmlns:r="http://schemas.openxmlformats.org/officeDocument/2006/relationships" id="282" r:id="Rff56013b449e4e1d"/>
    <p:sldId xmlns:r="http://schemas.openxmlformats.org/officeDocument/2006/relationships" id="283" r:id="R449d3e7b0d1c4643"/>
    <p:sldId xmlns:r="http://schemas.openxmlformats.org/officeDocument/2006/relationships" id="284" r:id="R5a9282326edb45b4"/>
    <p:sldId xmlns:r="http://schemas.openxmlformats.org/officeDocument/2006/relationships" id="285" r:id="Re9b4c94b7cc74b32"/>
    <p:sldId xmlns:r="http://schemas.openxmlformats.org/officeDocument/2006/relationships" id="286" r:id="Rbf7052c63e1444bc"/>
    <p:sldId xmlns:r="http://schemas.openxmlformats.org/officeDocument/2006/relationships" id="287" r:id="R25cc9536cf124205"/>
    <p:sldId xmlns:r="http://schemas.openxmlformats.org/officeDocument/2006/relationships" id="288" r:id="Ra2ce333581e34c6f"/>
    <p:sldId xmlns:r="http://schemas.openxmlformats.org/officeDocument/2006/relationships" id="289" r:id="R8443e3d7e4074391"/>
    <p:sldId xmlns:r="http://schemas.openxmlformats.org/officeDocument/2006/relationships" id="290" r:id="R3e0c98f8ccb54331"/>
    <p:sldId xmlns:r="http://schemas.openxmlformats.org/officeDocument/2006/relationships" id="291" r:id="R44f8a4968e704f48"/>
    <p:sldId xmlns:r="http://schemas.openxmlformats.org/officeDocument/2006/relationships" id="292" r:id="Rcecdeff93b4b45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5ee5a898e14edc" /><Relationship Type="http://schemas.openxmlformats.org/officeDocument/2006/relationships/slideMaster" Target="/ppt/slideMasters/slideMaster1.xml" Id="Ra53b141994db4f7a" /><Relationship Type="http://schemas.openxmlformats.org/officeDocument/2006/relationships/notesMaster" Target="/ppt/notesMasters/notesMaster1.xml" Id="R8b791c4617eb49e2" /><Relationship Type="http://schemas.openxmlformats.org/officeDocument/2006/relationships/presProps" Target="/ppt/presProps.xml" Id="Rf06e0b55af7a437c" /><Relationship Type="http://schemas.openxmlformats.org/officeDocument/2006/relationships/tableStyles" Target="/ppt/tableStyles.xml" Id="R7b995f748e4b45b6" /><Relationship Type="http://schemas.openxmlformats.org/officeDocument/2006/relationships/slide" Target="/ppt/slides/slide1.xml" Id="R1f6ea432729348cc" /><Relationship Type="http://schemas.openxmlformats.org/officeDocument/2006/relationships/slide" Target="/ppt/slides/slide2.xml" Id="R4fe7122aeffc4a8f" /><Relationship Type="http://schemas.openxmlformats.org/officeDocument/2006/relationships/slide" Target="/ppt/slides/slide3.xml" Id="R4ca0202c496b46af" /><Relationship Type="http://schemas.openxmlformats.org/officeDocument/2006/relationships/slide" Target="/ppt/slides/slide4.xml" Id="Ra3672d74fb4244ff" /><Relationship Type="http://schemas.openxmlformats.org/officeDocument/2006/relationships/slide" Target="/ppt/slides/slide5.xml" Id="Rcd15521c9ce1464b" /><Relationship Type="http://schemas.openxmlformats.org/officeDocument/2006/relationships/slide" Target="/ppt/slides/slide6.xml" Id="R9888fbb977ca4d76" /><Relationship Type="http://schemas.openxmlformats.org/officeDocument/2006/relationships/slide" Target="/ppt/slides/slide7.xml" Id="R0b41d2642eeb4da7" /><Relationship Type="http://schemas.openxmlformats.org/officeDocument/2006/relationships/slide" Target="/ppt/slides/slide8.xml" Id="R5174cb51a2594125" /><Relationship Type="http://schemas.openxmlformats.org/officeDocument/2006/relationships/slide" Target="/ppt/slides/slide9.xml" Id="Rbba2f121e68c4336" /><Relationship Type="http://schemas.openxmlformats.org/officeDocument/2006/relationships/slide" Target="/ppt/slides/slide10.xml" Id="R3adda983fdfa4f2b" /><Relationship Type="http://schemas.openxmlformats.org/officeDocument/2006/relationships/slide" Target="/ppt/slides/slide11.xml" Id="R429fb103403040c3" /><Relationship Type="http://schemas.openxmlformats.org/officeDocument/2006/relationships/slide" Target="/ppt/slides/slide12.xml" Id="R422e63fd8df54f43" /><Relationship Type="http://schemas.openxmlformats.org/officeDocument/2006/relationships/slide" Target="/ppt/slides/slide13.xml" Id="R9eafdf30c46d4cde" /><Relationship Type="http://schemas.openxmlformats.org/officeDocument/2006/relationships/slide" Target="/ppt/slides/slide14.xml" Id="Rd421215e24ad4470" /><Relationship Type="http://schemas.openxmlformats.org/officeDocument/2006/relationships/slide" Target="/ppt/slides/slide15.xml" Id="Ra4a86edfae884a2b" /><Relationship Type="http://schemas.openxmlformats.org/officeDocument/2006/relationships/slide" Target="/ppt/slides/slide16.xml" Id="Rd5be938c09a142c5" /><Relationship Type="http://schemas.openxmlformats.org/officeDocument/2006/relationships/slide" Target="/ppt/slides/slide17.xml" Id="Re4e844eb62094efc" /><Relationship Type="http://schemas.openxmlformats.org/officeDocument/2006/relationships/slide" Target="/ppt/slides/slide18.xml" Id="Rf7b95fb20df74402" /><Relationship Type="http://schemas.openxmlformats.org/officeDocument/2006/relationships/slide" Target="/ppt/slides/slide19.xml" Id="Refb8d617b6304d92" /><Relationship Type="http://schemas.openxmlformats.org/officeDocument/2006/relationships/slide" Target="/ppt/slides/slide20.xml" Id="Raee9e0590a2646be" /><Relationship Type="http://schemas.openxmlformats.org/officeDocument/2006/relationships/slide" Target="/ppt/slides/slide21.xml" Id="R916b9ccac2584827" /><Relationship Type="http://schemas.openxmlformats.org/officeDocument/2006/relationships/slide" Target="/ppt/slides/slide22.xml" Id="R71b13bd444494a79" /><Relationship Type="http://schemas.openxmlformats.org/officeDocument/2006/relationships/slide" Target="/ppt/slides/slide23.xml" Id="Rc2dde254647a4ccf" /><Relationship Type="http://schemas.openxmlformats.org/officeDocument/2006/relationships/slide" Target="/ppt/slides/slide24.xml" Id="R6b853f77a16546de" /><Relationship Type="http://schemas.openxmlformats.org/officeDocument/2006/relationships/slide" Target="/ppt/slides/slide25.xml" Id="R44378894bef5409e" /><Relationship Type="http://schemas.openxmlformats.org/officeDocument/2006/relationships/slide" Target="/ppt/slides/slide26.xml" Id="R06df1c7e59724780" /><Relationship Type="http://schemas.openxmlformats.org/officeDocument/2006/relationships/slide" Target="/ppt/slides/slide27.xml" Id="Rff56013b449e4e1d" /><Relationship Type="http://schemas.openxmlformats.org/officeDocument/2006/relationships/slide" Target="/ppt/slides/slide28.xml" Id="R449d3e7b0d1c4643" /><Relationship Type="http://schemas.openxmlformats.org/officeDocument/2006/relationships/slide" Target="/ppt/slides/slide29.xml" Id="R5a9282326edb45b4" /><Relationship Type="http://schemas.openxmlformats.org/officeDocument/2006/relationships/slide" Target="/ppt/slides/slide30.xml" Id="Re9b4c94b7cc74b32" /><Relationship Type="http://schemas.openxmlformats.org/officeDocument/2006/relationships/slide" Target="/ppt/slides/slide31.xml" Id="Rbf7052c63e1444bc" /><Relationship Type="http://schemas.openxmlformats.org/officeDocument/2006/relationships/slide" Target="/ppt/slides/slide32.xml" Id="R25cc9536cf124205" /><Relationship Type="http://schemas.openxmlformats.org/officeDocument/2006/relationships/slide" Target="/ppt/slides/slide33.xml" Id="Ra2ce333581e34c6f" /><Relationship Type="http://schemas.openxmlformats.org/officeDocument/2006/relationships/slide" Target="/ppt/slides/slide34.xml" Id="R8443e3d7e4074391" /><Relationship Type="http://schemas.openxmlformats.org/officeDocument/2006/relationships/slide" Target="/ppt/slides/slide35.xml" Id="R3e0c98f8ccb54331" /><Relationship Type="http://schemas.openxmlformats.org/officeDocument/2006/relationships/slide" Target="/ppt/slides/slide36.xml" Id="R44f8a4968e704f48" /><Relationship Type="http://schemas.openxmlformats.org/officeDocument/2006/relationships/slide" Target="/ppt/slides/slide37.xml" Id="Rcecdeff93b4b45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21a6b8f2334d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80340aec5a400f" /><Relationship Type="http://schemas.openxmlformats.org/officeDocument/2006/relationships/notesMaster" Target="/ppt/notesMasters/notesMaster1.xml" Id="R009f33f527b84a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cad3967c784639" /><Relationship Type="http://schemas.openxmlformats.org/officeDocument/2006/relationships/notesMaster" Target="/ppt/notesMasters/notesMaster1.xml" Id="R7da51bc0fa7d41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226cd25e6e4482" /><Relationship Type="http://schemas.openxmlformats.org/officeDocument/2006/relationships/notesMaster" Target="/ppt/notesMasters/notesMaster1.xml" Id="Rfaa54f4636ae40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e3b75de091458b" /><Relationship Type="http://schemas.openxmlformats.org/officeDocument/2006/relationships/notesMaster" Target="/ppt/notesMasters/notesMaster1.xml" Id="Rb36f8abbc8ca46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b4e3b3115b4c44" /><Relationship Type="http://schemas.openxmlformats.org/officeDocument/2006/relationships/notesMaster" Target="/ppt/notesMasters/notesMaster1.xml" Id="R996538bdfbea40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978c7f8f904a6c" /><Relationship Type="http://schemas.openxmlformats.org/officeDocument/2006/relationships/notesMaster" Target="/ppt/notesMasters/notesMaster1.xml" Id="Rc7a34d5eda004a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61146faf17485b" /><Relationship Type="http://schemas.openxmlformats.org/officeDocument/2006/relationships/notesMaster" Target="/ppt/notesMasters/notesMaster1.xml" Id="Rc5a9d0d04fe549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a26a54af4a494e" /><Relationship Type="http://schemas.openxmlformats.org/officeDocument/2006/relationships/notesMaster" Target="/ppt/notesMasters/notesMaster1.xml" Id="R1ac5c788caee4b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005b3507914554" /><Relationship Type="http://schemas.openxmlformats.org/officeDocument/2006/relationships/notesMaster" Target="/ppt/notesMasters/notesMaster1.xml" Id="R0054adb2d7754a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cf17f0e29746b9" /><Relationship Type="http://schemas.openxmlformats.org/officeDocument/2006/relationships/notesMaster" Target="/ppt/notesMasters/notesMaster1.xml" Id="R1a26657fbf5c40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09097fae574c22" /><Relationship Type="http://schemas.openxmlformats.org/officeDocument/2006/relationships/notesMaster" Target="/ppt/notesMasters/notesMaster1.xml" Id="Rc081242992e643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dae0bdf33c42fb" /><Relationship Type="http://schemas.openxmlformats.org/officeDocument/2006/relationships/notesMaster" Target="/ppt/notesMasters/notesMaster1.xml" Id="R509da5836b0341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29468a068c4142" /><Relationship Type="http://schemas.openxmlformats.org/officeDocument/2006/relationships/notesMaster" Target="/ppt/notesMasters/notesMaster1.xml" Id="R9723bc4e40b14d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40bf5d4d2a48cc" /><Relationship Type="http://schemas.openxmlformats.org/officeDocument/2006/relationships/notesMaster" Target="/ppt/notesMasters/notesMaster1.xml" Id="Rf835e649754747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fdb49029cf4815" /><Relationship Type="http://schemas.openxmlformats.org/officeDocument/2006/relationships/notesMaster" Target="/ppt/notesMasters/notesMaster1.xml" Id="R981d5b67879940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15ecd581a54c31" /><Relationship Type="http://schemas.openxmlformats.org/officeDocument/2006/relationships/notesMaster" Target="/ppt/notesMasters/notesMaster1.xml" Id="R405a24986b9b46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8b4e143368472c" /><Relationship Type="http://schemas.openxmlformats.org/officeDocument/2006/relationships/notesMaster" Target="/ppt/notesMasters/notesMaster1.xml" Id="R655dfe74fa7f4e4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472effab6d4d66" /><Relationship Type="http://schemas.openxmlformats.org/officeDocument/2006/relationships/notesMaster" Target="/ppt/notesMasters/notesMaster1.xml" Id="Rf1a2236b3e224a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2658f1e57c4877" /><Relationship Type="http://schemas.openxmlformats.org/officeDocument/2006/relationships/notesMaster" Target="/ppt/notesMasters/notesMaster1.xml" Id="R837ba73ae338484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0f218b864b4106" /><Relationship Type="http://schemas.openxmlformats.org/officeDocument/2006/relationships/notesMaster" Target="/ppt/notesMasters/notesMaster1.xml" Id="R0ff6276b2b0948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d8a11ec2e43475c" /><Relationship Type="http://schemas.openxmlformats.org/officeDocument/2006/relationships/notesMaster" Target="/ppt/notesMasters/notesMaster1.xml" Id="Re6f9872430ba42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87d90aeb4564b42" /><Relationship Type="http://schemas.openxmlformats.org/officeDocument/2006/relationships/notesMaster" Target="/ppt/notesMasters/notesMaster1.xml" Id="Re77a1736e31648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110740c24bd450b" /><Relationship Type="http://schemas.openxmlformats.org/officeDocument/2006/relationships/notesMaster" Target="/ppt/notesMasters/notesMaster1.xml" Id="Rcdb6f12b1344476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a650f9ddbf343f5" /><Relationship Type="http://schemas.openxmlformats.org/officeDocument/2006/relationships/notesMaster" Target="/ppt/notesMasters/notesMaster1.xml" Id="R5f9b9a2e962143f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7c10f6efc249a0" /><Relationship Type="http://schemas.openxmlformats.org/officeDocument/2006/relationships/notesMaster" Target="/ppt/notesMasters/notesMaster1.xml" Id="R6f25ced5f3d3405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5047bf2e45b4817" /><Relationship Type="http://schemas.openxmlformats.org/officeDocument/2006/relationships/notesMaster" Target="/ppt/notesMasters/notesMaster1.xml" Id="R0f544b66524446c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611aecd154d49e5" /><Relationship Type="http://schemas.openxmlformats.org/officeDocument/2006/relationships/notesMaster" Target="/ppt/notesMasters/notesMaster1.xml" Id="R4ba39a00a6da403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380120caecd4b52" /><Relationship Type="http://schemas.openxmlformats.org/officeDocument/2006/relationships/notesMaster" Target="/ppt/notesMasters/notesMaster1.xml" Id="Rcb0489a74297487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0a6bc1a85b74877" /><Relationship Type="http://schemas.openxmlformats.org/officeDocument/2006/relationships/notesMaster" Target="/ppt/notesMasters/notesMaster1.xml" Id="Rb6eaa8a3e31e4b1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9cf03bd1bf42a2" /><Relationship Type="http://schemas.openxmlformats.org/officeDocument/2006/relationships/notesMaster" Target="/ppt/notesMasters/notesMaster1.xml" Id="Racc7781ca09f440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ff991def0442b8" /><Relationship Type="http://schemas.openxmlformats.org/officeDocument/2006/relationships/notesMaster" Target="/ppt/notesMasters/notesMaster1.xml" Id="Rab748a03ec8b45a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8344c82c190408d" /><Relationship Type="http://schemas.openxmlformats.org/officeDocument/2006/relationships/notesMaster" Target="/ppt/notesMasters/notesMaster1.xml" Id="R23a90fbd7ddc436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87b90980b2e414f" /><Relationship Type="http://schemas.openxmlformats.org/officeDocument/2006/relationships/notesMaster" Target="/ppt/notesMasters/notesMaster1.xml" Id="R0d1d9224b4434e0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aa20fd7752546bc" /><Relationship Type="http://schemas.openxmlformats.org/officeDocument/2006/relationships/notesMaster" Target="/ppt/notesMasters/notesMaster1.xml" Id="R9658be4ad5164b1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885b5911fab46eb" /><Relationship Type="http://schemas.openxmlformats.org/officeDocument/2006/relationships/notesMaster" Target="/ppt/notesMasters/notesMaster1.xml" Id="R305e59398fa247b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32848f09964442c" /><Relationship Type="http://schemas.openxmlformats.org/officeDocument/2006/relationships/notesMaster" Target="/ppt/notesMasters/notesMaster1.xml" Id="R3c61c7b9042745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86fb07ecc2140c9" /><Relationship Type="http://schemas.openxmlformats.org/officeDocument/2006/relationships/notesMaster" Target="/ppt/notesMasters/notesMaster1.xml" Id="Rc545ebf01e8749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MedPAR QA framework, the stage journey and the evidence needed for acceptance. Cover illustration generated using OpenAI image generation; it is conceptual artwork. All text and evidence tables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35–45 minutes for the core presentation. Keep the rule reference slides open for questions. Explain that the repository provides QA validation, while the synthetic pipeline demonstrates small controlled processing examples.</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traceability rather than a green dashboard. The framework makes disagreements visible; it does not certify source data merely because it can read the files.</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Medpar functionality notes V3.pdf; MedPAR Modernization Requirements.docx; MedPAR Byte-by-Byte Fields &amp; Calculations by Stage.pdf; FA_Split_Intermediate_Clarifications.pdf; MedPAR_Question_Responses_Simple.pdf; MedPAR_V3_vs_Repo_Gap_Register.xlsx. Updated register: outputs/medpar_gap_submission_20261011/MedPAR_Gap_Register_Srikanth.xlsx.</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describe the QA framework as a replacement production MedPAR processing engine. demo_pipeline.py is the synthetic generator. Passing unit tests does not prove production acceptance.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top to bottom. Production archive supports four stages; Final MEDPAR production data is absent. Same-cycle source/output matching is necessary before a comparison can be accepted.</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Paths under src/medpar_qa unless stated otherwise. Follow one run from cli.py to pipeline.py, then the selected stage processor, RuleResult, and report_bundle.py. Keep configuration separate from rules and rendering.</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data can contain patient identifiers; use the approved transfer mechanism. Reports are generated locally and may not exist on a fresh clone until executed. The repository keeps one README for the complete guide.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ingestion/discovery.py, readers.py, normalization/fields.py, dates.py, decimal_values.py, orchestration/pipeline.py and reporting/report_bundle.py. Invalid or ambiguous inputs are surfaced rather than silently substituted.</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source file cannot be its own independent production expected output. Golden coverage depends on the supplied approved golden file. Exact physical layout checks need approved offsets and encoding.</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normalization/fields.py, dates.py, decimal_values.py and models.py. Ambiguous alias resolution fails closed. RuleResult includes provenance and validator context. KEEP/DROP is a business decision; PASS/FAIL/BLOCKED is a validation outcome.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abbreviations are used in the supplied requirements and code. This is a terminology guide, not patient evidence. Match identity definitions exactly for each stage.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MedPAR QA framework, the stage journey and the evidence needed for acceptance. Cover illustration generated using OpenAI image generation; it is conceptual artwork. All text and evidence tables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Admission is not part of the Final Action group. QC2 requires approved clarification. Limits are 900 continuation / 875 hold; oversized groups are quarantined rather than truncated. Rule router order matters. Implementation: stages/final_action/.</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Router first routes: all-QC0, 1, 2, 6, 5. Rule6 uses action code, not transaction code; missing action in the same-ICN case blocks. Rule5 blocks if no qualifying nonzero ICN can be selected. Source: final_action router and rule modules.</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routing order after Rule5: 3,10A,10B,7,8,9,default. 10A does not require newest QC0. Rule7: QC0 count &gt;= QC1+QC3. Rule8: more than three, newest QC0, QC0 count lower. Rule9: newest nonzero, QC0 count lower. Eligibility uses exactly one ICN occurrence across the full group. Rule4 is represented by support predicates, not a standalone rule module.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small synthetic group to show source order, decision route and actual retained output. Explain that a retained-record disagreement is separate from an invalid source query code. Both can appear in the report.</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2026, years are 2026/2025/2024/2023. Validate retained and dropped populations, exact identities and total balances. Canonical IP ties and some control/weekly tables remain acceptance dependencies. See stages/split/.</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Admission remains in stay identity. The clarified sort change does not merge different admissions. Zero can be a valid nonblank value. SUM requires every operand. Low-volume and complete legacy field policy conflicts need approved decisions. See stay/merge_rules.py and processor.py.</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Warning01 checks presence of QC0 plus two QC5 records. Warning05 is 0 for one bill, 2 for SNF undischarged, otherwise 1. Conditions04/69 and SQSTRN value73 have known support. Do not claim warning06/08 approved legacy cancellation tables are complete.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 DOB blocks age derivation; it is not age zero. A missing DOD/SSI feed differs from a loaded feed with no matching person/month. DOD fallback through date applies to death status20/B. Same-day death-days is1; otherwise signed difference. SSI monthly duplicates are not double-counted. See intermediate/calculations.py and reference_data.py.</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DRG price includes IP and blood deductibles. Value codes18,19,77,73,Q7,Q1,QB support their documented payment fields. FD maps a Y/N switch. Missing operands do not become zeros unless the rule permits it. Demonstrate 2.5 rounding and a negative credit using a synthetic example.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 families020 allow last digits012346789 and021 allow01234. Organ map0810–17 and0819; highest valid code wins,0818 excluded. NDC copying and format validity are separate checks. CAN positions8/9 support05,20,45,70,95 sample selection. Spans70/82/22/72 and warning04 are documented. See intermediate modules and v3_fields.py.</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registry coverage is not the same as independent derivation or physical-byte certification. Approved revenue mapping, legacy layouts and licensed DRG grouping evidence remain dependencies. Refer to the annotated workbook for each field’s exact completion and closure reason.</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byte length is checked, not the length of JSON serialization. ASCII is the configured default where applicable; approved encoding/layout is still needed. Covered/utilization &gt; LOS bypass requires known inputs. No identifiable production Final MEDPAR dataset was supplied. Synthetic checks do not establish this stage’s production acceptance.</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MedPAR QA framework, the stage journey and the evidence needed for acceptance. Cover illustration generated using OpenAI image generation; it is conceptual artwork. All text and evidence tables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rule can produce many field/record checks and summary checks. Metrics overlap in business meaning and should not be counted as independent defects. A production master report showing zero pytest runs does not mean the separate test suite was never run.</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filter narrows evidence cards. Shared or unattributed stage findings remain visible, and full-run totals/conclusions retain their meaning. Explain this behavior during the live demo. Users should be able to answer: what ran, what passed/failed, why, and what evidence is missing.</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modules are under src/medpar_qa/reporting except models.py. Relative report links support moving the entire generated report folder. Do not copy only index.html, which breaks related evidence links.</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baseline session20261011_020107, recorded in README.md and supplied report screenshot. Source/actual are file roles, not counts of distinct records. The file can be an output of one stage and input of the next. Final MEDPAR production not run. This slide is not evidence of a fresh rerun.</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genuine validation or acceptance findings, not cosmetic report colors. Do not suppress checks to improve the pass percentage. A distinct-payload Intermediate diagnostic is separate from the8,865-check baseline and must not be merged into its totals.</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verification on11October2026 from README.md and reports/20261011_032143/pytest/pytest_complete_suite/report.html. Reports may need regeneration on another laptop. Gap ledger states productionCertified:false. Explain the distinction clearly if someone asks why software tests pass while production checks fail.</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meeting: activate the environment, confirm dependencies and approved data access, run commands and note the newly generated session path. The historical020107 report is not present in every checkout. Do not hard-code it as the only live demo. Use localhost server on8765.</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from repository root. Inspect the example manifest before the meeting and generate its synthetic inputs if its configured files are absent; README documents demo_pipeline.py. For a fresh laptop install the package with its test extras and transfer approved input data. Windows activation differs. Open the session path actually generated by the run.</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workbook closure column for exact answers, rather than promising a date without available inputs. Do not describe missing external data as an implemented algorithm defect, and do not describe a real output mismatch as harmless.</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Owners should be assigned by the team: business/legacy SME for rule decisions; upstream data owner for cycles and duplicate files; reference-data owner for DOD/SSI and licensed mappings; QA for reruns; client for acceptance. A reliable completion date follows confirmation of these dependencies.</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showing the annotated workbook, then the overall report conclusion. Invite the team to choose a specific rule or file and trace it back to the implementation. Avoid saying all production issues are closed.</a:t>
            </a:r>
          </a:p>
          <a:p xmlns:a="http://schemas.openxmlformats.org/drawingml/2006/main">
            <a:r>
              <a:t/>
            </a:r>
          </a:p>
          <a:p xmlns:a="http://schemas.openxmlformats.org/drawingml/2006/main">
            <a:r>
              <a:t>Source: repository README.md and cited implementation modules at commit a90e9ce, reviewed 11 October 2026. Figures labeled historical are the recorded production baseline, not a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c72742f31049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7d529a5ff14e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c14ae211a747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83d82d0fd34b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2f95596c6d4a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ece6a3f7b74e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8E5925-20C4-4CD8-9AC9-DF4E5AF143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5069A8F-05A1-4DCF-9922-5DFDBCB2B4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102550-9187-49E8-8C11-B5D45C6963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CEE7A4-A839-451A-84BD-58994E772E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4C68ED-3F59-4ADB-8D8D-461D501214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11449B-87F9-4137-ADCB-F30F6EE7B3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57B352-6EB7-4FA3-B72A-E2DFE0F1C6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E76959-D4E4-43C6-B5CC-3C946D554B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2446CD-A57F-431F-9DD7-1F6EFBDBEB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5831B8-2A43-4D07-B029-C14BF44713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056e8e928d44ab" /><Relationship Type="http://schemas.openxmlformats.org/officeDocument/2006/relationships/slideLayout" Target="/ppt/slideLayouts/slideLayout1.xml" Id="Rdeed305194e944a8" /><Relationship Type="http://schemas.openxmlformats.org/officeDocument/2006/relationships/slideLayout" Target="/ppt/slideLayouts/slideLayout2.xml" Id="R811c09c3e5904ade" /><Relationship Type="http://schemas.openxmlformats.org/officeDocument/2006/relationships/slideLayout" Target="/ppt/slideLayouts/slideLayout3.xml" Id="R23ebca0fda6f44ee" /><Relationship Type="http://schemas.openxmlformats.org/officeDocument/2006/relationships/slideLayout" Target="/ppt/slideLayouts/slideLayout4.xml" Id="Rc64ee181a8a542e1" /><Relationship Type="http://schemas.openxmlformats.org/officeDocument/2006/relationships/slideLayout" Target="/ppt/slideLayouts/slideLayout5.xml" Id="R3640d4acc0e64106" /><Relationship Type="http://schemas.openxmlformats.org/officeDocument/2006/relationships/slideLayout" Target="/ppt/slideLayouts/slideLayout6.xml" Id="R72686e301a884b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ed305194e944a8"/>
    <p:sldLayoutId xmlns:r="http://schemas.openxmlformats.org/officeDocument/2006/relationships" id="2147483650" r:id="R811c09c3e5904ade"/>
    <p:sldLayoutId xmlns:r="http://schemas.openxmlformats.org/officeDocument/2006/relationships" id="2147483651" r:id="R23ebca0fda6f44ee"/>
    <p:sldLayoutId xmlns:r="http://schemas.openxmlformats.org/officeDocument/2006/relationships" id="2147483652" r:id="Rc64ee181a8a542e1"/>
    <p:sldLayoutId xmlns:r="http://schemas.openxmlformats.org/officeDocument/2006/relationships" id="2147483653" r:id="R3640d4acc0e64106"/>
    <p:sldLayoutId xmlns:r="http://schemas.openxmlformats.org/officeDocument/2006/relationships" id="2147483654" r:id="R72686e301a884b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5df83a02844de0" /><Relationship Type="http://schemas.openxmlformats.org/officeDocument/2006/relationships/image" Target="/ppt/media/image.png" Id="Rd4e5928fcae147e4" /><Relationship Type="http://schemas.openxmlformats.org/officeDocument/2006/relationships/notesSlide" Target="/ppt/notesSlides/notesSlide1.xml" Id="Rf280b19436c04d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d5acfeec584d2c" /><Relationship Type="http://schemas.openxmlformats.org/officeDocument/2006/relationships/notesSlide" Target="/ppt/notesSlides/notesSlide2.xml" Id="Rf3caed57173448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d6fc8c2c3b4b77" /><Relationship Type="http://schemas.openxmlformats.org/officeDocument/2006/relationships/notesSlide" Target="/ppt/notesSlides/notesSlide3.xml" Id="Rc2372c64cc4447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473d6d38654a9c" /><Relationship Type="http://schemas.openxmlformats.org/officeDocument/2006/relationships/notesSlide" Target="/ppt/notesSlides/notesSlide4.xml" Id="R08913e9e0a7e49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4078fd11854e57" /><Relationship Type="http://schemas.openxmlformats.org/officeDocument/2006/relationships/notesSlide" Target="/ppt/notesSlides/notesSlide5.xml" Id="R0046c0eae7d248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0e507a63264566" /><Relationship Type="http://schemas.openxmlformats.org/officeDocument/2006/relationships/notesSlide" Target="/ppt/notesSlides/notesSlide6.xml" Id="Rc60bc3dbf69e4e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432cb8e79344c8c" /><Relationship Type="http://schemas.openxmlformats.org/officeDocument/2006/relationships/notesSlide" Target="/ppt/notesSlides/notesSlide7.xml" Id="R1271a55732e143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96c009b2e84f4f" /><Relationship Type="http://schemas.openxmlformats.org/officeDocument/2006/relationships/notesSlide" Target="/ppt/notesSlides/notesSlide8.xml" Id="Rf8df30c86d7e41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f2a8de35ab4ce9" /><Relationship Type="http://schemas.openxmlformats.org/officeDocument/2006/relationships/notesSlide" Target="/ppt/notesSlides/notesSlide9.xml" Id="R898ecd6a9c474e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523fde8ada4400" /><Relationship Type="http://schemas.openxmlformats.org/officeDocument/2006/relationships/notesSlide" Target="/ppt/notesSlides/notesSlide10.xml" Id="R40e3eb41db564a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d175b59a5754dda" /><Relationship Type="http://schemas.openxmlformats.org/officeDocument/2006/relationships/notesSlide" Target="/ppt/notesSlides/notesSlide11.xml" Id="R8852240946564c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a1b593ce605483e" /><Relationship Type="http://schemas.openxmlformats.org/officeDocument/2006/relationships/notesSlide" Target="/ppt/notesSlides/notesSlide12.xml" Id="R13de75f890a247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895ba2debc4b14" /><Relationship Type="http://schemas.openxmlformats.org/officeDocument/2006/relationships/image" Target="/ppt/media/image2.png" Id="R14af341bcc4244bc" /><Relationship Type="http://schemas.openxmlformats.org/officeDocument/2006/relationships/notesSlide" Target="/ppt/notesSlides/notesSlide13.xml" Id="R0be5cc3283724f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00bf352679b45f0" /><Relationship Type="http://schemas.openxmlformats.org/officeDocument/2006/relationships/notesSlide" Target="/ppt/notesSlides/notesSlide14.xml" Id="Rc835667ca13347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b44f708a07e4229" /><Relationship Type="http://schemas.openxmlformats.org/officeDocument/2006/relationships/notesSlide" Target="/ppt/notesSlides/notesSlide15.xml" Id="Rf2d3072192c54a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7e7e49ca8ec49a9" /><Relationship Type="http://schemas.openxmlformats.org/officeDocument/2006/relationships/notesSlide" Target="/ppt/notesSlides/notesSlide16.xml" Id="R91bc490b36214f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41472183d04e6c" /><Relationship Type="http://schemas.openxmlformats.org/officeDocument/2006/relationships/notesSlide" Target="/ppt/notesSlides/notesSlide17.xml" Id="R93ad96f72b2341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37d9ca879884123" /><Relationship Type="http://schemas.openxmlformats.org/officeDocument/2006/relationships/notesSlide" Target="/ppt/notesSlides/notesSlide18.xml" Id="R9a6085dbae4c43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9b21fe547cd4a51" /><Relationship Type="http://schemas.openxmlformats.org/officeDocument/2006/relationships/notesSlide" Target="/ppt/notesSlides/notesSlide19.xml" Id="Rabe77590909f47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64a50e59ccf445f" /><Relationship Type="http://schemas.openxmlformats.org/officeDocument/2006/relationships/notesSlide" Target="/ppt/notesSlides/notesSlide20.xml" Id="R028f3896d29545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b1ccb49da34c9e" /><Relationship Type="http://schemas.openxmlformats.org/officeDocument/2006/relationships/notesSlide" Target="/ppt/notesSlides/notesSlide21.xml" Id="R4d181f3134a74f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60631b6d6fe47af" /><Relationship Type="http://schemas.openxmlformats.org/officeDocument/2006/relationships/notesSlide" Target="/ppt/notesSlides/notesSlide22.xml" Id="Ra3c11d790b944e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16804b12eeb4cf3" /><Relationship Type="http://schemas.openxmlformats.org/officeDocument/2006/relationships/notesSlide" Target="/ppt/notesSlides/notesSlide23.xml" Id="Rb305d4da6069438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5e8b5e5388c4afa" /><Relationship Type="http://schemas.openxmlformats.org/officeDocument/2006/relationships/notesSlide" Target="/ppt/notesSlides/notesSlide24.xml" Id="Rcc34c0e76f854f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f159e8dc1b3458a" /><Relationship Type="http://schemas.openxmlformats.org/officeDocument/2006/relationships/notesSlide" Target="/ppt/notesSlides/notesSlide25.xml" Id="Rcf23e3f1f3074e7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8560e32a2484f1c" /><Relationship Type="http://schemas.openxmlformats.org/officeDocument/2006/relationships/image" Target="/ppt/media/image3.png" Id="Ree4125aba8df41f5" /><Relationship Type="http://schemas.openxmlformats.org/officeDocument/2006/relationships/notesSlide" Target="/ppt/notesSlides/notesSlide26.xml" Id="R49070cfdb15b4f1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2d2d195d42e4526" /><Relationship Type="http://schemas.openxmlformats.org/officeDocument/2006/relationships/notesSlide" Target="/ppt/notesSlides/notesSlide27.xml" Id="R30c4d32829904a5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1c9504efae24a1f" /><Relationship Type="http://schemas.openxmlformats.org/officeDocument/2006/relationships/notesSlide" Target="/ppt/notesSlides/notesSlide28.xml" Id="Rf0ea2eefad8c44b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60fa37adc834daa" /><Relationship Type="http://schemas.openxmlformats.org/officeDocument/2006/relationships/notesSlide" Target="/ppt/notesSlides/notesSlide29.xml" Id="R34417c9366f147e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cd6f2841dc94979" /><Relationship Type="http://schemas.openxmlformats.org/officeDocument/2006/relationships/notesSlide" Target="/ppt/notesSlides/notesSlide30.xml" Id="Racb545f8bac04e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957e6ebdd824cc3" /><Relationship Type="http://schemas.openxmlformats.org/officeDocument/2006/relationships/notesSlide" Target="/ppt/notesSlides/notesSlide31.xml" Id="R2e3ef15699d5467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8086f3e4abf46b0" /><Relationship Type="http://schemas.openxmlformats.org/officeDocument/2006/relationships/notesSlide" Target="/ppt/notesSlides/notesSlide32.xml" Id="R208fefd408004aa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64df6d49e7049e9" /><Relationship Type="http://schemas.openxmlformats.org/officeDocument/2006/relationships/notesSlide" Target="/ppt/notesSlides/notesSlide33.xml" Id="R2314153490424da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5a458962aec4381" /><Relationship Type="http://schemas.openxmlformats.org/officeDocument/2006/relationships/notesSlide" Target="/ppt/notesSlides/notesSlide34.xml" Id="Rf6511f0ce3fb440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cc7d4498dd64e1f" /><Relationship Type="http://schemas.openxmlformats.org/officeDocument/2006/relationships/notesSlide" Target="/ppt/notesSlides/notesSlide35.xml" Id="R84551ca40a6743f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bc70204087e4594" /><Relationship Type="http://schemas.openxmlformats.org/officeDocument/2006/relationships/notesSlide" Target="/ppt/notesSlides/notesSlide36.xml" Id="R04d8473823674f0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d4066fac4f749ec" /><Relationship Type="http://schemas.openxmlformats.org/officeDocument/2006/relationships/notesSlide" Target="/ppt/notesSlides/notesSlide37.xml" Id="R002fad81f7784667" /></Relationships>
</file>

<file path=ppt/slides/slide1.xml><?xml version="1.0" encoding="utf-8"?>
<p:sld xmlns:p="http://schemas.openxmlformats.org/presentationml/2006/main">
  <p:cSld>
    <p:bg>
      <p:bgPr>
        <a:solidFill xmlns:a="http://schemas.openxmlformats.org/drawingml/2006/main">
          <a:srgbClr val="0B192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96A9176-2642-43EB-BB79-D5EF847C1437}"/>
              </a:ext>
            </a:extLst>
          </p:cNvPr>
          <p:cNvPicPr>
            <a:picLocks xmlns:a="http://schemas.openxmlformats.org/drawingml/2006/main" noChangeAspect="1"/>
          </p:cNvPicPr>
          <p:nvPr/>
        </p:nvPicPr>
        <p:blipFill>
          <a:blip xmlns:r="http://schemas.openxmlformats.org/officeDocument/2006/relationships" xmlns:a="http://schemas.openxmlformats.org/drawingml/2006/main" r:embed="Rd4e5928fcae147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8C846C-50A2-4244-8170-550CB611A895}"/>
              </a:ext>
            </a:extLst>
          </p:cNvPr>
          <p:cNvSpPr>
            <a:spLocks xmlns:a="http://schemas.openxmlformats.org/drawingml/2006/main" noGrp="1"/>
          </p:cNvSpPr>
          <p:nvPr/>
        </p:nvSpPr>
        <p:spPr>
          <a:xfrm xmlns:a="http://schemas.openxmlformats.org/drawingml/2006/main">
            <a:off x="666750" y="6191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9E0D2"/>
                </a:solidFill>
                <a:latin typeface="Arial"/>
                <a:ea typeface="Arial"/>
                <a:cs typeface="Arial"/>
              </a:defRPr>
            </a:defPPr>
          </a:lstStyle>
          <a:p xmlns:a="http://schemas.openxmlformats.org/drawingml/2006/main">
            <a:pPr>
              <a:defRPr sz="1425" b="1">
                <a:solidFill>
                  <a:srgbClr val="79E0D2"/>
                </a:solidFill>
                <a:latin typeface="Arial"/>
                <a:ea typeface="Arial"/>
                <a:cs typeface="Arial"/>
              </a:defRPr>
            </a:pPr>
            <a:r>
              <a:rPr sz="1425" b="1">
                <a:solidFill>
                  <a:srgbClr val="79E0D2"/>
                </a:solidFill>
                <a:latin typeface="Arial"/>
                <a:ea typeface="Arial"/>
                <a:cs typeface="Arial"/>
              </a:rPr>
              <a:t>MEDPAR AUTOMATION FRAMEWORK</a:t>
            </a:r>
          </a:p>
        </p:txBody>
      </p:sp>
      <p:sp>
        <p:nvSpPr>
          <p:cNvPr id="3" name="">
            <a:extLst xmlns:a="http://schemas.openxmlformats.org/drawingml/2006/main">
              <a:ext uri="{FF2B5EF4-FFF2-40B4-BE49-F238E27FC236}">
                <a16:creationId xmlns:a16="http://schemas.microsoft.com/office/drawing/2014/main" id="{155E5F5A-BD21-4229-BFF3-968534088C4F}"/>
              </a:ext>
            </a:extLst>
          </p:cNvPr>
          <p:cNvSpPr>
            <a:spLocks xmlns:a="http://schemas.openxmlformats.org/drawingml/2006/main" noGrp="1"/>
          </p:cNvSpPr>
          <p:nvPr/>
        </p:nvSpPr>
        <p:spPr>
          <a:xfrm xmlns:a="http://schemas.openxmlformats.org/drawingml/2006/main">
            <a:off x="666750" y="1952625"/>
            <a:ext cx="7524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MedPAR QA</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Team demonstration</a:t>
            </a:r>
          </a:p>
        </p:txBody>
      </p:sp>
      <p:sp>
        <p:nvSpPr>
          <p:cNvPr id="4" name="">
            <a:extLst xmlns:a="http://schemas.openxmlformats.org/drawingml/2006/main">
              <a:ext uri="{FF2B5EF4-FFF2-40B4-BE49-F238E27FC236}">
                <a16:creationId xmlns:a16="http://schemas.microsoft.com/office/drawing/2014/main" id="{9396690A-B092-477E-8A34-FA818AD0E2C7}"/>
              </a:ext>
            </a:extLst>
          </p:cNvPr>
          <p:cNvSpPr>
            <a:spLocks xmlns:a="http://schemas.openxmlformats.org/drawingml/2006/main" noGrp="1"/>
          </p:cNvSpPr>
          <p:nvPr/>
        </p:nvSpPr>
        <p:spPr>
          <a:xfrm xmlns:a="http://schemas.openxmlformats.org/drawingml/2006/main">
            <a:off x="704850" y="428625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9D9E5"/>
                </a:solidFill>
                <a:latin typeface="Arial"/>
                <a:ea typeface="Arial"/>
                <a:cs typeface="Arial"/>
              </a:defRPr>
            </a:defPPr>
          </a:lstStyle>
          <a:p xmlns:a="http://schemas.openxmlformats.org/drawingml/2006/main">
            <a:pPr>
              <a:defRPr sz="2025" b="0">
                <a:solidFill>
                  <a:srgbClr val="C9D9E5"/>
                </a:solidFill>
                <a:latin typeface="Arial"/>
                <a:ea typeface="Arial"/>
                <a:cs typeface="Arial"/>
              </a:defRPr>
            </a:pPr>
            <a:r>
              <a:rPr sz="2025" b="0">
                <a:solidFill>
                  <a:srgbClr val="C9D9E5"/>
                </a:solidFill>
                <a:latin typeface="Arial"/>
                <a:ea typeface="Arial"/>
                <a:cs typeface="Arial"/>
              </a:rPr>
              <a:t>From business requirements to file-level evidence</a:t>
            </a:r>
          </a:p>
          <a:p xmlns:a="http://schemas.openxmlformats.org/drawingml/2006/main">
            <a:pPr>
              <a:defRPr sz="2025" b="0">
                <a:solidFill>
                  <a:srgbClr val="C9D9E5"/>
                </a:solidFill>
                <a:latin typeface="Arial"/>
                <a:ea typeface="Arial"/>
                <a:cs typeface="Arial"/>
              </a:defRPr>
            </a:pPr>
            <a:r>
              <a:rPr sz="2025" b="0">
                <a:solidFill>
                  <a:srgbClr val="C9D9E5"/>
                </a:solidFill>
                <a:latin typeface="Arial"/>
                <a:ea typeface="Arial"/>
                <a:cs typeface="Arial"/>
              </a:rPr>
              <a:t>Architecture, rules, reports and acceptance</a:t>
            </a:r>
          </a:p>
        </p:txBody>
      </p:sp>
      <p:sp>
        <p:nvSpPr>
          <p:cNvPr id="5" name="">
            <a:extLst xmlns:a="http://schemas.openxmlformats.org/drawingml/2006/main">
              <a:ext uri="{FF2B5EF4-FFF2-40B4-BE49-F238E27FC236}">
                <a16:creationId xmlns:a16="http://schemas.microsoft.com/office/drawing/2014/main" id="{B4239E25-4775-4AB2-BE0B-DD9925E462DD}"/>
              </a:ext>
            </a:extLst>
          </p:cNvPr>
          <p:cNvSpPr>
            <a:spLocks xmlns:a="http://schemas.openxmlformats.org/drawingml/2006/main" noGrp="1"/>
          </p:cNvSpPr>
          <p:nvPr/>
        </p:nvSpPr>
        <p:spPr>
          <a:xfrm xmlns:a="http://schemas.openxmlformats.org/drawingml/2006/main">
            <a:off x="704850" y="618172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9D9E5"/>
                </a:solidFill>
                <a:latin typeface="Arial"/>
                <a:ea typeface="Arial"/>
                <a:cs typeface="Arial"/>
              </a:defRPr>
            </a:defPPr>
          </a:lstStyle>
          <a:p xmlns:a="http://schemas.openxmlformats.org/drawingml/2006/main">
            <a:pPr>
              <a:defRPr sz="1275" b="0">
                <a:solidFill>
                  <a:srgbClr val="C9D9E5"/>
                </a:solidFill>
                <a:latin typeface="Arial"/>
                <a:ea typeface="Arial"/>
                <a:cs typeface="Arial"/>
              </a:defRPr>
            </a:pPr>
            <a:r>
              <a:rPr sz="1275" b="0">
                <a:solidFill>
                  <a:srgbClr val="C9D9E5"/>
                </a:solidFill>
                <a:latin typeface="Arial"/>
                <a:ea typeface="Arial"/>
                <a:cs typeface="Arial"/>
              </a:rPr>
              <a:t>SRIKANTH  •  11 OCTOBER 2026</a:t>
            </a:r>
          </a:p>
        </p:txBody>
      </p:sp>
    </p:spTree>
    <p:extLst>
      <p:ext uri="{BB962C8B-B14F-4D97-AF65-F5344CB8AC3E}">
        <p14:creationId xmlns:p14="http://schemas.microsoft.com/office/powerpoint/2010/main" val="1113396474"/>
      </p:ext>
    </p:extLst>
  </p:cSld>
</p:sld>
</file>

<file path=ppt/slides/slide2.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450D2B-CD41-4275-BEAB-77070D9A94E2}"/>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OPENING</a:t>
            </a:r>
          </a:p>
        </p:txBody>
      </p:sp>
      <p:sp>
        <p:nvSpPr>
          <p:cNvPr id="2" name="">
            <a:extLst xmlns:a="http://schemas.openxmlformats.org/drawingml/2006/main">
              <a:ext uri="{FF2B5EF4-FFF2-40B4-BE49-F238E27FC236}">
                <a16:creationId xmlns:a16="http://schemas.microsoft.com/office/drawing/2014/main" id="{08E5A637-B98B-4489-BF96-4E2AA5AC8449}"/>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Demonstration agenda</a:t>
            </a:r>
          </a:p>
        </p:txBody>
      </p:sp>
      <p:sp>
        <p:nvSpPr>
          <p:cNvPr id="3" name="">
            <a:extLst xmlns:a="http://schemas.openxmlformats.org/drawingml/2006/main">
              <a:ext uri="{FF2B5EF4-FFF2-40B4-BE49-F238E27FC236}">
                <a16:creationId xmlns:a16="http://schemas.microsoft.com/office/drawing/2014/main" id="{40189ACB-269D-4FA4-A6D6-54C41BBDC30D}"/>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4F706875-5161-46CA-9667-6E93994009E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906D735-2A8B-4880-B899-2AE75A28F3F7}"/>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38E0F98-586F-4485-9937-3A4DC1822195}"/>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Business problem, requirements and the solution boundary</a:t>
            </a:r>
          </a:p>
        </p:txBody>
      </p:sp>
      <p:sp>
        <p:nvSpPr>
          <p:cNvPr id="7" name="">
            <a:extLst xmlns:a="http://schemas.openxmlformats.org/drawingml/2006/main">
              <a:ext uri="{FF2B5EF4-FFF2-40B4-BE49-F238E27FC236}">
                <a16:creationId xmlns:a16="http://schemas.microsoft.com/office/drawing/2014/main" id="{0BD267E0-57DB-4B55-A622-2FCEEEE6EFE2}"/>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C609C15-5574-49C6-86C3-03F592B166B1}"/>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Five stages: rules, calculations and matching</a:t>
            </a:r>
          </a:p>
        </p:txBody>
      </p:sp>
      <p:sp>
        <p:nvSpPr>
          <p:cNvPr id="9" name="">
            <a:extLst xmlns:a="http://schemas.openxmlformats.org/drawingml/2006/main">
              <a:ext uri="{FF2B5EF4-FFF2-40B4-BE49-F238E27FC236}">
                <a16:creationId xmlns:a16="http://schemas.microsoft.com/office/drawing/2014/main" id="{F14D2FFF-4A88-4941-A3F7-270070F5956A}"/>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AE3513F-7619-4D5E-9284-A4FBB9B217EC}"/>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Code architecture, execution and report generation</a:t>
            </a:r>
          </a:p>
        </p:txBody>
      </p:sp>
      <p:sp>
        <p:nvSpPr>
          <p:cNvPr id="11" name="">
            <a:extLst xmlns:a="http://schemas.openxmlformats.org/drawingml/2006/main">
              <a:ext uri="{FF2B5EF4-FFF2-40B4-BE49-F238E27FC236}">
                <a16:creationId xmlns:a16="http://schemas.microsoft.com/office/drawing/2014/main" id="{BF9596AD-2B11-46FF-8782-E17F37EB3C32}"/>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E257C037-F99B-4B67-8344-2A4D4BE83D1C}"/>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Live demonstration, results and closure plan</a:t>
            </a:r>
          </a:p>
        </p:txBody>
      </p:sp>
    </p:spTree>
    <p:extLst>
      <p:ext uri="{BB962C8B-B14F-4D97-AF65-F5344CB8AC3E}">
        <p14:creationId xmlns:p14="http://schemas.microsoft.com/office/powerpoint/2010/main" val="642133944"/>
      </p:ext>
    </p:extLst>
  </p:cSld>
</p:sld>
</file>

<file path=ppt/slides/slide3.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1A7B21-1A53-4C84-BDD8-938F1089D4AB}"/>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OPENING</a:t>
            </a:r>
          </a:p>
        </p:txBody>
      </p:sp>
      <p:sp>
        <p:nvSpPr>
          <p:cNvPr id="2" name="">
            <a:extLst xmlns:a="http://schemas.openxmlformats.org/drawingml/2006/main">
              <a:ext uri="{FF2B5EF4-FFF2-40B4-BE49-F238E27FC236}">
                <a16:creationId xmlns:a16="http://schemas.microsoft.com/office/drawing/2014/main" id="{EE6C7160-E7B7-40DF-ABB3-0EB274D1B1D6}"/>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Business problem and our solution</a:t>
            </a:r>
          </a:p>
        </p:txBody>
      </p:sp>
      <p:sp>
        <p:nvSpPr>
          <p:cNvPr id="3" name="">
            <a:extLst xmlns:a="http://schemas.openxmlformats.org/drawingml/2006/main">
              <a:ext uri="{FF2B5EF4-FFF2-40B4-BE49-F238E27FC236}">
                <a16:creationId xmlns:a16="http://schemas.microsoft.com/office/drawing/2014/main" id="{1A3A0073-C4EF-4604-8163-EFB02BE17A5B}"/>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2C241A36-6747-4328-912F-B6CF3441A0B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2955155-4735-4124-B5F9-468EB60459A7}"/>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13396B6-8A6C-4A22-9CB5-8553EC0632D5}"/>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MedPAR requirements span claim decisions, stay merges and 200 output fields.</a:t>
            </a:r>
          </a:p>
        </p:txBody>
      </p:sp>
      <p:sp>
        <p:nvSpPr>
          <p:cNvPr id="7" name="">
            <a:extLst xmlns:a="http://schemas.openxmlformats.org/drawingml/2006/main">
              <a:ext uri="{FF2B5EF4-FFF2-40B4-BE49-F238E27FC236}">
                <a16:creationId xmlns:a16="http://schemas.microsoft.com/office/drawing/2014/main" id="{229E6373-048C-4C2D-BB68-13461461C257}"/>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AC233EB-8FD1-4E04-81D1-2D2698D460CC}"/>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Manual checks make missing files, mismatched records and calculation errors hard to trace.</a:t>
            </a:r>
          </a:p>
        </p:txBody>
      </p:sp>
      <p:sp>
        <p:nvSpPr>
          <p:cNvPr id="9" name="">
            <a:extLst xmlns:a="http://schemas.openxmlformats.org/drawingml/2006/main">
              <a:ext uri="{FF2B5EF4-FFF2-40B4-BE49-F238E27FC236}">
                <a16:creationId xmlns:a16="http://schemas.microsoft.com/office/drawing/2014/main" id="{98816840-AC98-44A7-AE5C-348B608A68C8}"/>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41588FA-6B07-4827-8D95-D9852621EA2A}"/>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The framework evaluates documented rules and links each result to its input evidence.</a:t>
            </a:r>
          </a:p>
        </p:txBody>
      </p:sp>
      <p:sp>
        <p:nvSpPr>
          <p:cNvPr id="11" name="">
            <a:extLst xmlns:a="http://schemas.openxmlformats.org/drawingml/2006/main">
              <a:ext uri="{FF2B5EF4-FFF2-40B4-BE49-F238E27FC236}">
                <a16:creationId xmlns:a16="http://schemas.microsoft.com/office/drawing/2014/main" id="{92B60D69-EE6A-4262-9BC8-958D45CAA80E}"/>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602A49F5-F6FA-43D8-9452-FDA9CE694C27}"/>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The team receives file, stage and overall conclusions with clear reasons.</a:t>
            </a:r>
          </a:p>
        </p:txBody>
      </p:sp>
    </p:spTree>
    <p:extLst>
      <p:ext uri="{BB962C8B-B14F-4D97-AF65-F5344CB8AC3E}">
        <p14:creationId xmlns:p14="http://schemas.microsoft.com/office/powerpoint/2010/main" val="774906003"/>
      </p:ext>
    </p:extLst>
  </p:cSld>
</p:sld>
</file>

<file path=ppt/slides/slide4.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DD7111-BADA-458F-BE75-D49123742616}"/>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OPENING</a:t>
            </a:r>
          </a:p>
        </p:txBody>
      </p:sp>
      <p:sp>
        <p:nvSpPr>
          <p:cNvPr id="2" name="">
            <a:extLst xmlns:a="http://schemas.openxmlformats.org/drawingml/2006/main">
              <a:ext uri="{FF2B5EF4-FFF2-40B4-BE49-F238E27FC236}">
                <a16:creationId xmlns:a16="http://schemas.microsoft.com/office/drawing/2014/main" id="{4C39C610-7D71-4DCE-805B-5106A0D3F4F4}"/>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Requirements and traceability</a:t>
            </a:r>
          </a:p>
        </p:txBody>
      </p:sp>
      <p:sp>
        <p:nvSpPr>
          <p:cNvPr id="3" name="">
            <a:extLst xmlns:a="http://schemas.openxmlformats.org/drawingml/2006/main">
              <a:ext uri="{FF2B5EF4-FFF2-40B4-BE49-F238E27FC236}">
                <a16:creationId xmlns:a16="http://schemas.microsoft.com/office/drawing/2014/main" id="{B50EE1D2-D7C3-44B4-ADD6-10A627F368EE}"/>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74C46D50-FBCB-4F55-B387-16B1C91E62D0}"/>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850A57FA-71A4-4346-92C0-5F8BDF395E62}"/>
              </a:ext>
            </a:extLst>
          </p:cNvPr>
          <p:cNvGraphicFramePr/>
          <p:nvPr/>
        </p:nvGraphicFramePr>
        <p:xfrm>
          <a:off xmlns:a="http://schemas.openxmlformats.org/drawingml/2006/main" x="609600" y="1857375"/>
          <a:ext xmlns:a="http://schemas.openxmlformats.org/drawingml/2006/main" cx="10972800" cy="3095625"/>
        </p:xfrm>
        <a:graphic xmlns:a="http://schemas.openxmlformats.org/drawingml/2006/main">
          <a:graphicData uri="http://schemas.openxmlformats.org/drawingml/2006/table">
            <a:tbl>
              <a:tblPr/>
              <a:tblGrid>
                <a:gridCol w="3619500"/>
                <a:gridCol w="7353300"/>
              </a:tblGrid>
              <a:tr h="619125">
                <a:tc>
                  <a:txBody>
                    <a:bodyPr/>
                    <a:lstStyle/>
                    <a:p>
                      <a:r>
                        <a:rPr sz="1575" b="1">
                          <a:solidFill>
                            <a:srgbClr val="FFFFFF"/>
                          </a:solidFill>
                          <a:latin typeface="Arial"/>
                          <a:ea typeface="Arial"/>
                          <a:cs typeface="Arial"/>
                        </a:rPr>
                        <a:t>Source</a:t>
                      </a:r>
                    </a:p>
                  </a:txBody>
                  <a:tcPr marL="91440" marR="91440" marT="45720" marB="45720">
                    <a:solidFill>
                      <a:srgbClr val="0B192B"/>
                    </a:solidFill>
                  </a:tcPr>
                </a:tc>
                <a:tc>
                  <a:txBody>
                    <a:bodyPr/>
                    <a:lstStyle/>
                    <a:p>
                      <a:r>
                        <a:rPr sz="1575" b="1">
                          <a:solidFill>
                            <a:srgbClr val="FFFFFF"/>
                          </a:solidFill>
                          <a:latin typeface="Arial"/>
                          <a:ea typeface="Arial"/>
                          <a:cs typeface="Arial"/>
                        </a:rPr>
                        <a:t>How it is used</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V3 functionality + modernization</a:t>
                      </a:r>
                    </a:p>
                  </a:txBody>
                  <a:tcPr marL="91440" marR="91440" marT="45720" marB="45720">
                    <a:solidFill>
                      <a:srgbClr val="FFFFFF"/>
                    </a:solidFill>
                  </a:tcPr>
                </a:tc>
                <a:tc>
                  <a:txBody>
                    <a:bodyPr/>
                    <a:lstStyle/>
                    <a:p>
                      <a:r>
                        <a:rPr sz="1650" b="0">
                          <a:solidFill>
                            <a:srgbClr val="172C42"/>
                          </a:solidFill>
                          <a:latin typeface="Arial"/>
                          <a:ea typeface="Arial"/>
                          <a:cs typeface="Arial"/>
                        </a:rPr>
                        <a:t>Stage behavior, scope and acceptance requirements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Byte-by-byte document</a:t>
                      </a:r>
                    </a:p>
                  </a:txBody>
                  <a:tcPr marL="91440" marR="91440" marT="45720" marB="45720">
                    <a:solidFill>
                      <a:srgbClr val="EAF0F1"/>
                    </a:solidFill>
                  </a:tcPr>
                </a:tc>
                <a:tc>
                  <a:txBody>
                    <a:bodyPr/>
                    <a:lstStyle/>
                    <a:p>
                      <a:r>
                        <a:rPr sz="1650" b="0">
                          <a:solidFill>
                            <a:srgbClr val="172C42"/>
                          </a:solidFill>
                          <a:latin typeface="Arial"/>
                          <a:ea typeface="Arial"/>
                          <a:cs typeface="Arial"/>
                        </a:rPr>
                        <a:t>Field mappings, calculations and physical output checks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Clarifications + question responses</a:t>
                      </a:r>
                    </a:p>
                  </a:txBody>
                  <a:tcPr marL="91440" marR="91440" marT="45720" marB="45720">
                    <a:solidFill>
                      <a:srgbClr val="FFFFFF"/>
                    </a:solidFill>
                  </a:tcPr>
                </a:tc>
                <a:tc>
                  <a:txBody>
                    <a:bodyPr/>
                    <a:lstStyle/>
                    <a:p>
                      <a:r>
                        <a:rPr sz="1650" b="0">
                          <a:solidFill>
                            <a:srgbClr val="172C42"/>
                          </a:solidFill>
                          <a:latin typeface="Arial"/>
                          <a:ea typeface="Arial"/>
                          <a:cs typeface="Arial"/>
                        </a:rPr>
                        <a:t>Rule interpretation and unresolved dependencies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Lead’s gap register</a:t>
                      </a:r>
                    </a:p>
                  </a:txBody>
                  <a:tcPr marL="91440" marR="91440" marT="45720" marB="45720">
                    <a:solidFill>
                      <a:srgbClr val="EAF0F1"/>
                    </a:solidFill>
                  </a:tcPr>
                </a:tc>
                <a:tc>
                  <a:txBody>
                    <a:bodyPr/>
                    <a:lstStyle/>
                    <a:p>
                      <a:r>
                        <a:rPr sz="1650" b="0">
                          <a:solidFill>
                            <a:srgbClr val="172C42"/>
                          </a:solidFill>
                          <a:latin typeface="Arial"/>
                          <a:ea typeface="Arial"/>
                          <a:cs typeface="Arial"/>
                        </a:rPr>
                        <a:t>298 rows with Srikanth notes, remarks and closure reasons</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901120241"/>
      </p:ext>
    </p:extLst>
  </p:cSld>
</p:sld>
</file>

<file path=ppt/slides/slide5.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56D1AA-ED52-418D-847F-9CDB8097F103}"/>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OPENING</a:t>
            </a:r>
          </a:p>
        </p:txBody>
      </p:sp>
      <p:sp>
        <p:nvSpPr>
          <p:cNvPr id="2" name="">
            <a:extLst xmlns:a="http://schemas.openxmlformats.org/drawingml/2006/main">
              <a:ext uri="{FF2B5EF4-FFF2-40B4-BE49-F238E27FC236}">
                <a16:creationId xmlns:a16="http://schemas.microsoft.com/office/drawing/2014/main" id="{B4CA3BCD-72B2-48F1-B939-C1690662CE3D}"/>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Solution boundary</a:t>
            </a:r>
          </a:p>
        </p:txBody>
      </p:sp>
      <p:sp>
        <p:nvSpPr>
          <p:cNvPr id="3" name="">
            <a:extLst xmlns:a="http://schemas.openxmlformats.org/drawingml/2006/main">
              <a:ext uri="{FF2B5EF4-FFF2-40B4-BE49-F238E27FC236}">
                <a16:creationId xmlns:a16="http://schemas.microsoft.com/office/drawing/2014/main" id="{070FE875-F9BC-4488-9E44-2643043A4C15}"/>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24FFD097-1CAC-47D4-88D3-729E0AEA04D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E844FDDF-7C24-4552-88EE-83890A14755B}"/>
              </a:ext>
            </a:extLst>
          </p:cNvPr>
          <p:cNvGraphicFramePr/>
          <p:nvPr/>
        </p:nvGraphicFramePr>
        <p:xfrm>
          <a:off xmlns:a="http://schemas.openxmlformats.org/drawingml/2006/main" x="609600" y="1857375"/>
          <a:ext xmlns:a="http://schemas.openxmlformats.org/drawingml/2006/main" cx="10972800" cy="3095625"/>
        </p:xfrm>
        <a:graphic xmlns:a="http://schemas.openxmlformats.org/drawingml/2006/main">
          <a:graphicData uri="http://schemas.openxmlformats.org/drawingml/2006/table">
            <a:tbl>
              <a:tblPr/>
              <a:tblGrid>
                <a:gridCol w="3333750"/>
                <a:gridCol w="7639050"/>
              </a:tblGrid>
              <a:tr h="619125">
                <a:tc>
                  <a:txBody>
                    <a:bodyPr/>
                    <a:lstStyle/>
                    <a:p>
                      <a:r>
                        <a:rPr sz="1575" b="1">
                          <a:solidFill>
                            <a:srgbClr val="FFFFFF"/>
                          </a:solidFill>
                          <a:latin typeface="Arial"/>
                          <a:ea typeface="Arial"/>
                          <a:cs typeface="Arial"/>
                        </a:rPr>
                        <a:t>Capability</a:t>
                      </a:r>
                    </a:p>
                  </a:txBody>
                  <a:tcPr marL="91440" marR="91440" marT="45720" marB="45720">
                    <a:solidFill>
                      <a:srgbClr val="0B192B"/>
                    </a:solidFill>
                  </a:tcPr>
                </a:tc>
                <a:tc>
                  <a:txBody>
                    <a:bodyPr/>
                    <a:lstStyle/>
                    <a:p>
                      <a:r>
                        <a:rPr sz="1575" b="1">
                          <a:solidFill>
                            <a:srgbClr val="FFFFFF"/>
                          </a:solidFill>
                          <a:latin typeface="Arial"/>
                          <a:ea typeface="Arial"/>
                          <a:cs typeface="Arial"/>
                        </a:rPr>
                        <a:t>Meaning</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Production QA</a:t>
                      </a:r>
                    </a:p>
                  </a:txBody>
                  <a:tcPr marL="91440" marR="91440" marT="45720" marB="45720">
                    <a:solidFill>
                      <a:srgbClr val="FFFFFF"/>
                    </a:solidFill>
                  </a:tcPr>
                </a:tc>
                <a:tc>
                  <a:txBody>
                    <a:bodyPr/>
                    <a:lstStyle/>
                    <a:p>
                      <a:r>
                        <a:rPr sz="1650" b="0">
                          <a:solidFill>
                            <a:srgbClr val="172C42"/>
                          </a:solidFill>
                          <a:latin typeface="Arial"/>
                          <a:ea typeface="Arial"/>
                          <a:cs typeface="Arial"/>
                        </a:rPr>
                        <a:t>Read supplied stage files; validate and reconcile outputs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Synthetic demonstration</a:t>
                      </a:r>
                    </a:p>
                  </a:txBody>
                  <a:tcPr marL="91440" marR="91440" marT="45720" marB="45720">
                    <a:solidFill>
                      <a:srgbClr val="EAF0F1"/>
                    </a:solidFill>
                  </a:tcPr>
                </a:tc>
                <a:tc>
                  <a:txBody>
                    <a:bodyPr/>
                    <a:lstStyle/>
                    <a:p>
                      <a:r>
                        <a:rPr sz="1650" b="0">
                          <a:solidFill>
                            <a:srgbClr val="172C42"/>
                          </a:solidFill>
                          <a:latin typeface="Arial"/>
                          <a:ea typeface="Arial"/>
                          <a:cs typeface="Arial"/>
                        </a:rPr>
                        <a:t>Generate small controlled examples across five stages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Golden comparison</a:t>
                      </a:r>
                    </a:p>
                  </a:txBody>
                  <a:tcPr marL="91440" marR="91440" marT="45720" marB="45720">
                    <a:solidFill>
                      <a:srgbClr val="FFFFFF"/>
                    </a:solidFill>
                  </a:tcPr>
                </a:tc>
                <a:tc>
                  <a:txBody>
                    <a:bodyPr/>
                    <a:lstStyle/>
                    <a:p>
                      <a:r>
                        <a:rPr sz="1650" b="0">
                          <a:solidFill>
                            <a:srgbClr val="172C42"/>
                          </a:solidFill>
                          <a:latin typeface="Arial"/>
                          <a:ea typeface="Arial"/>
                          <a:cs typeface="Arial"/>
                        </a:rPr>
                        <a:t>Compare actual output with an approved expected output</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Production acceptance</a:t>
                      </a:r>
                    </a:p>
                  </a:txBody>
                  <a:tcPr marL="91440" marR="91440" marT="45720" marB="45720">
                    <a:solidFill>
                      <a:srgbClr val="EAF0F1"/>
                    </a:solidFill>
                  </a:tcPr>
                </a:tc>
                <a:tc>
                  <a:txBody>
                    <a:bodyPr/>
                    <a:lstStyle/>
                    <a:p>
                      <a:r>
                        <a:rPr sz="1650" b="0">
                          <a:solidFill>
                            <a:srgbClr val="172C42"/>
                          </a:solidFill>
                          <a:latin typeface="Arial"/>
                          <a:ea typeface="Arial"/>
                          <a:cs typeface="Arial"/>
                        </a:rPr>
                        <a:t>Requires compatible files, approved rules and external evidence</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324647970"/>
      </p:ext>
    </p:extLst>
  </p:cSld>
</p:sld>
</file>

<file path=ppt/slides/slide6.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295D66-8780-4693-AC11-58DA531DEBFD}"/>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WORKFLOW</a:t>
            </a:r>
          </a:p>
        </p:txBody>
      </p:sp>
      <p:sp>
        <p:nvSpPr>
          <p:cNvPr id="2" name="">
            <a:extLst xmlns:a="http://schemas.openxmlformats.org/drawingml/2006/main">
              <a:ext uri="{FF2B5EF4-FFF2-40B4-BE49-F238E27FC236}">
                <a16:creationId xmlns:a16="http://schemas.microsoft.com/office/drawing/2014/main" id="{3BF9D11B-8797-44E2-B7E5-8A16E6FFD8FE}"/>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Five-stage business workflow</a:t>
            </a:r>
          </a:p>
        </p:txBody>
      </p:sp>
      <p:sp>
        <p:nvSpPr>
          <p:cNvPr id="3" name="">
            <a:extLst xmlns:a="http://schemas.openxmlformats.org/drawingml/2006/main">
              <a:ext uri="{FF2B5EF4-FFF2-40B4-BE49-F238E27FC236}">
                <a16:creationId xmlns:a16="http://schemas.microsoft.com/office/drawing/2014/main" id="{0F6952F1-AECF-4A40-902F-A0407F6B9B97}"/>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2C0BB6E3-6750-45F8-A93E-5787F9692CB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9EB2196B-62E2-4195-BC84-67F6EFF8D00A}"/>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2047875"/>
                <a:gridCol w="4333875"/>
                <a:gridCol w="4591050"/>
              </a:tblGrid>
              <a:tr h="619125">
                <a:tc>
                  <a:txBody>
                    <a:bodyPr/>
                    <a:lstStyle/>
                    <a:p>
                      <a:r>
                        <a:rPr sz="1575" b="1">
                          <a:solidFill>
                            <a:srgbClr val="FFFFFF"/>
                          </a:solidFill>
                          <a:latin typeface="Arial"/>
                          <a:ea typeface="Arial"/>
                          <a:cs typeface="Arial"/>
                        </a:rPr>
                        <a:t>Stage</a:t>
                      </a:r>
                    </a:p>
                  </a:txBody>
                  <a:tcPr marL="91440" marR="91440" marT="45720" marB="45720">
                    <a:solidFill>
                      <a:srgbClr val="0B192B"/>
                    </a:solidFill>
                  </a:tcPr>
                </a:tc>
                <a:tc>
                  <a:txBody>
                    <a:bodyPr/>
                    <a:lstStyle/>
                    <a:p>
                      <a:r>
                        <a:rPr sz="1575" b="1">
                          <a:solidFill>
                            <a:srgbClr val="FFFFFF"/>
                          </a:solidFill>
                          <a:latin typeface="Arial"/>
                          <a:ea typeface="Arial"/>
                          <a:cs typeface="Arial"/>
                        </a:rPr>
                        <a:t>Business purpose</a:t>
                      </a:r>
                    </a:p>
                  </a:txBody>
                  <a:tcPr marL="91440" marR="91440" marT="45720" marB="45720">
                    <a:solidFill>
                      <a:srgbClr val="0B192B"/>
                    </a:solidFill>
                  </a:tcPr>
                </a:tc>
                <a:tc>
                  <a:txBody>
                    <a:bodyPr/>
                    <a:lstStyle/>
                    <a:p>
                      <a:r>
                        <a:rPr sz="1575" b="1">
                          <a:solidFill>
                            <a:srgbClr val="FFFFFF"/>
                          </a:solidFill>
                          <a:latin typeface="Arial"/>
                          <a:ea typeface="Arial"/>
                          <a:cs typeface="Arial"/>
                        </a:rPr>
                        <a:t>QA evidence</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Final Action</a:t>
                      </a:r>
                    </a:p>
                  </a:txBody>
                  <a:tcPr marL="91440" marR="91440" marT="45720" marB="45720">
                    <a:solidFill>
                      <a:srgbClr val="FFFFFF"/>
                    </a:solidFill>
                  </a:tcPr>
                </a:tc>
                <a:tc>
                  <a:txBody>
                    <a:bodyPr/>
                    <a:lstStyle/>
                    <a:p>
                      <a:r>
                        <a:rPr sz="1650" b="0">
                          <a:solidFill>
                            <a:srgbClr val="172C42"/>
                          </a:solidFill>
                          <a:latin typeface="Arial"/>
                          <a:ea typeface="Arial"/>
                          <a:cs typeface="Arial"/>
                        </a:rPr>
                        <a:t>Select retained claims</a:t>
                      </a:r>
                    </a:p>
                  </a:txBody>
                  <a:tcPr marL="91440" marR="91440" marT="45720" marB="45720">
                    <a:solidFill>
                      <a:srgbClr val="FFFFFF"/>
                    </a:solidFill>
                  </a:tcPr>
                </a:tc>
                <a:tc>
                  <a:txBody>
                    <a:bodyPr/>
                    <a:lstStyle/>
                    <a:p>
                      <a:r>
                        <a:rPr sz="1650" b="0">
                          <a:solidFill>
                            <a:srgbClr val="172C42"/>
                          </a:solidFill>
                          <a:latin typeface="Arial"/>
                          <a:ea typeface="Arial"/>
                          <a:cs typeface="Arial"/>
                        </a:rPr>
                        <a:t>KEEP/DROP decisions and reconciliation</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Split</a:t>
                      </a:r>
                    </a:p>
                  </a:txBody>
                  <a:tcPr marL="91440" marR="91440" marT="45720" marB="45720">
                    <a:solidFill>
                      <a:srgbClr val="EAF0F1"/>
                    </a:solidFill>
                  </a:tcPr>
                </a:tc>
                <a:tc>
                  <a:txBody>
                    <a:bodyPr/>
                    <a:lstStyle/>
                    <a:p>
                      <a:r>
                        <a:rPr sz="1650" b="0">
                          <a:solidFill>
                            <a:srgbClr val="172C42"/>
                          </a:solidFill>
                          <a:latin typeface="Arial"/>
                          <a:ea typeface="Arial"/>
                          <a:cs typeface="Arial"/>
                        </a:rPr>
                        <a:t>Apply the four-year window</a:t>
                      </a:r>
                    </a:p>
                  </a:txBody>
                  <a:tcPr marL="91440" marR="91440" marT="45720" marB="45720">
                    <a:solidFill>
                      <a:srgbClr val="EAF0F1"/>
                    </a:solidFill>
                  </a:tcPr>
                </a:tc>
                <a:tc>
                  <a:txBody>
                    <a:bodyPr/>
                    <a:lstStyle/>
                    <a:p>
                      <a:r>
                        <a:rPr sz="1650" b="0">
                          <a:solidFill>
                            <a:srgbClr val="172C42"/>
                          </a:solidFill>
                          <a:latin typeface="Arial"/>
                          <a:ea typeface="Arial"/>
                          <a:cs typeface="Arial"/>
                        </a:rPr>
                        <a:t>Year indicators and retained/dropped balance</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Stay</a:t>
                      </a:r>
                    </a:p>
                  </a:txBody>
                  <a:tcPr marL="91440" marR="91440" marT="45720" marB="45720">
                    <a:solidFill>
                      <a:srgbClr val="FFFFFF"/>
                    </a:solidFill>
                  </a:tcPr>
                </a:tc>
                <a:tc>
                  <a:txBody>
                    <a:bodyPr/>
                    <a:lstStyle/>
                    <a:p>
                      <a:r>
                        <a:rPr sz="1650" b="0">
                          <a:solidFill>
                            <a:srgbClr val="172C42"/>
                          </a:solidFill>
                          <a:latin typeface="Arial"/>
                          <a:ea typeface="Arial"/>
                          <a:cs typeface="Arial"/>
                        </a:rPr>
                        <a:t>Combine bills into stays</a:t>
                      </a:r>
                    </a:p>
                  </a:txBody>
                  <a:tcPr marL="91440" marR="91440" marT="45720" marB="45720">
                    <a:solidFill>
                      <a:srgbClr val="FFFFFF"/>
                    </a:solidFill>
                  </a:tcPr>
                </a:tc>
                <a:tc>
                  <a:txBody>
                    <a:bodyPr/>
                    <a:lstStyle/>
                    <a:p>
                      <a:r>
                        <a:rPr sz="1650" b="0">
                          <a:solidFill>
                            <a:srgbClr val="172C42"/>
                          </a:solidFill>
                          <a:latin typeface="Arial"/>
                          <a:ea typeface="Arial"/>
                          <a:cs typeface="Arial"/>
                        </a:rPr>
                        <a:t>Identity, merge policies and warnings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Intermediate</a:t>
                      </a:r>
                    </a:p>
                  </a:txBody>
                  <a:tcPr marL="91440" marR="91440" marT="45720" marB="45720">
                    <a:solidFill>
                      <a:srgbClr val="EAF0F1"/>
                    </a:solidFill>
                  </a:tcPr>
                </a:tc>
                <a:tc>
                  <a:txBody>
                    <a:bodyPr/>
                    <a:lstStyle/>
                    <a:p>
                      <a:r>
                        <a:rPr sz="1650" b="0">
                          <a:solidFill>
                            <a:srgbClr val="172C42"/>
                          </a:solidFill>
                          <a:latin typeface="Arial"/>
                          <a:ea typeface="Arial"/>
                          <a:cs typeface="Arial"/>
                        </a:rPr>
                        <a:t>Derive MedPAR fields</a:t>
                      </a:r>
                    </a:p>
                  </a:txBody>
                  <a:tcPr marL="91440" marR="91440" marT="45720" marB="45720">
                    <a:solidFill>
                      <a:srgbClr val="EAF0F1"/>
                    </a:solidFill>
                  </a:tcPr>
                </a:tc>
                <a:tc>
                  <a:txBody>
                    <a:bodyPr/>
                    <a:lstStyle/>
                    <a:p>
                      <a:r>
                        <a:rPr sz="1650" b="0">
                          <a:solidFill>
                            <a:srgbClr val="172C42"/>
                          </a:solidFill>
                          <a:latin typeface="Arial"/>
                          <a:ea typeface="Arial"/>
                          <a:cs typeface="Arial"/>
                        </a:rPr>
                        <a:t>Source-based calculations and field comparison</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Final MEDPAR</a:t>
                      </a:r>
                    </a:p>
                  </a:txBody>
                  <a:tcPr marL="91440" marR="91440" marT="45720" marB="45720">
                    <a:solidFill>
                      <a:srgbClr val="FFFFFF"/>
                    </a:solidFill>
                  </a:tcPr>
                </a:tc>
                <a:tc>
                  <a:txBody>
                    <a:bodyPr/>
                    <a:lstStyle/>
                    <a:p>
                      <a:r>
                        <a:rPr sz="1650" b="0">
                          <a:solidFill>
                            <a:srgbClr val="172C42"/>
                          </a:solidFill>
                          <a:latin typeface="Arial"/>
                          <a:ea typeface="Arial"/>
                          <a:cs typeface="Arial"/>
                        </a:rPr>
                        <a:t>Validate final records</a:t>
                      </a:r>
                    </a:p>
                  </a:txBody>
                  <a:tcPr marL="91440" marR="91440" marT="45720" marB="45720">
                    <a:solidFill>
                      <a:srgbClr val="FFFFFF"/>
                    </a:solidFill>
                  </a:tcPr>
                </a:tc>
                <a:tc>
                  <a:txBody>
                    <a:bodyPr/>
                    <a:lstStyle/>
                    <a:p>
                      <a:r>
                        <a:rPr sz="1650" b="0">
                          <a:solidFill>
                            <a:srgbClr val="172C42"/>
                          </a:solidFill>
                          <a:latin typeface="Arial"/>
                          <a:ea typeface="Arial"/>
                          <a:cs typeface="Arial"/>
                        </a:rPr>
                        <a:t>Record size, bytes, classification and golden data</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16693741"/>
      </p:ext>
    </p:extLst>
  </p:cSld>
</p:sld>
</file>

<file path=ppt/slides/slide7.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8F91B7-F5CC-4B04-9F8D-CD209F7FD861}"/>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DE40DF7B-517F-4988-BD56-830C0B21E252}"/>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Code architecture</a:t>
            </a:r>
          </a:p>
        </p:txBody>
      </p:sp>
      <p:sp>
        <p:nvSpPr>
          <p:cNvPr id="3" name="">
            <a:extLst xmlns:a="http://schemas.openxmlformats.org/drawingml/2006/main">
              <a:ext uri="{FF2B5EF4-FFF2-40B4-BE49-F238E27FC236}">
                <a16:creationId xmlns:a16="http://schemas.microsoft.com/office/drawing/2014/main" id="{82B2FF3C-8F35-4310-A5BE-E37F9FA0F03B}"/>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CDFF2991-FD56-4083-8296-8D3C1A8D8C1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5666CD82-FC58-4FBE-A728-7113C2F7964F}"/>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2571750"/>
                <a:gridCol w="4667250"/>
                <a:gridCol w="3733800"/>
              </a:tblGrid>
              <a:tr h="619125">
                <a:tc>
                  <a:txBody>
                    <a:bodyPr/>
                    <a:lstStyle/>
                    <a:p>
                      <a:r>
                        <a:rPr sz="1575" b="1">
                          <a:solidFill>
                            <a:srgbClr val="FFFFFF"/>
                          </a:solidFill>
                          <a:latin typeface="Arial"/>
                          <a:ea typeface="Arial"/>
                          <a:cs typeface="Arial"/>
                        </a:rPr>
                        <a:t>Layer</a:t>
                      </a:r>
                    </a:p>
                  </a:txBody>
                  <a:tcPr marL="91440" marR="91440" marT="45720" marB="45720">
                    <a:solidFill>
                      <a:srgbClr val="0B192B"/>
                    </a:solidFill>
                  </a:tcPr>
                </a:tc>
                <a:tc>
                  <a:txBody>
                    <a:bodyPr/>
                    <a:lstStyle/>
                    <a:p>
                      <a:r>
                        <a:rPr sz="1575" b="1">
                          <a:solidFill>
                            <a:srgbClr val="FFFFFF"/>
                          </a:solidFill>
                          <a:latin typeface="Arial"/>
                          <a:ea typeface="Arial"/>
                          <a:cs typeface="Arial"/>
                        </a:rPr>
                        <a:t>Main files</a:t>
                      </a:r>
                    </a:p>
                  </a:txBody>
                  <a:tcPr marL="91440" marR="91440" marT="45720" marB="45720">
                    <a:solidFill>
                      <a:srgbClr val="0B192B"/>
                    </a:solidFill>
                  </a:tcPr>
                </a:tc>
                <a:tc>
                  <a:txBody>
                    <a:bodyPr/>
                    <a:lstStyle/>
                    <a:p>
                      <a:r>
                        <a:rPr sz="1575" b="1">
                          <a:solidFill>
                            <a:srgbClr val="FFFFFF"/>
                          </a:solidFill>
                          <a:latin typeface="Arial"/>
                          <a:ea typeface="Arial"/>
                          <a:cs typeface="Arial"/>
                        </a:rPr>
                        <a:t>Responsibility</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Entry + configuration</a:t>
                      </a:r>
                    </a:p>
                  </a:txBody>
                  <a:tcPr marL="91440" marR="91440" marT="45720" marB="45720">
                    <a:solidFill>
                      <a:srgbClr val="FFFFFF"/>
                    </a:solidFill>
                  </a:tcPr>
                </a:tc>
                <a:tc>
                  <a:txBody>
                    <a:bodyPr/>
                    <a:lstStyle/>
                    <a:p>
                      <a:r>
                        <a:rPr sz="1650" b="0">
                          <a:solidFill>
                            <a:srgbClr val="172C42"/>
                          </a:solidFill>
                          <a:latin typeface="Arial"/>
                          <a:ea typeface="Arial"/>
                          <a:cs typeface="Arial"/>
                        </a:rPr>
                        <a:t>run_commands.py; cli.py; manifest.py</a:t>
                      </a:r>
                    </a:p>
                  </a:txBody>
                  <a:tcPr marL="91440" marR="91440" marT="45720" marB="45720">
                    <a:solidFill>
                      <a:srgbClr val="FFFFFF"/>
                    </a:solidFill>
                  </a:tcPr>
                </a:tc>
                <a:tc>
                  <a:txBody>
                    <a:bodyPr/>
                    <a:lstStyle/>
                    <a:p>
                      <a:r>
                        <a:rPr sz="1650" b="0">
                          <a:solidFill>
                            <a:srgbClr val="172C42"/>
                          </a:solidFill>
                          <a:latin typeface="Arial"/>
                          <a:ea typeface="Arial"/>
                          <a:cs typeface="Arial"/>
                        </a:rPr>
                        <a:t>Select stage, files, run date and mode</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Ingestion + normalization</a:t>
                      </a:r>
                    </a:p>
                  </a:txBody>
                  <a:tcPr marL="91440" marR="91440" marT="45720" marB="45720">
                    <a:solidFill>
                      <a:srgbClr val="EAF0F1"/>
                    </a:solidFill>
                  </a:tcPr>
                </a:tc>
                <a:tc>
                  <a:txBody>
                    <a:bodyPr/>
                    <a:lstStyle/>
                    <a:p>
                      <a:r>
                        <a:rPr sz="1650" b="0">
                          <a:solidFill>
                            <a:srgbClr val="172C42"/>
                          </a:solidFill>
                          <a:latin typeface="Arial"/>
                          <a:ea typeface="Arial"/>
                          <a:cs typeface="Arial"/>
                        </a:rPr>
                        <a:t>ingestion/; normalization/</a:t>
                      </a:r>
                    </a:p>
                  </a:txBody>
                  <a:tcPr marL="91440" marR="91440" marT="45720" marB="45720">
                    <a:solidFill>
                      <a:srgbClr val="EAF0F1"/>
                    </a:solidFill>
                  </a:tcPr>
                </a:tc>
                <a:tc>
                  <a:txBody>
                    <a:bodyPr/>
                    <a:lstStyle/>
                    <a:p>
                      <a:r>
                        <a:rPr sz="1650" b="0">
                          <a:solidFill>
                            <a:srgbClr val="172C42"/>
                          </a:solidFill>
                          <a:latin typeface="Arial"/>
                          <a:ea typeface="Arial"/>
                          <a:cs typeface="Arial"/>
                        </a:rPr>
                        <a:t>Read files; resolve aliases, dates and money</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Orchestration + rules</a:t>
                      </a:r>
                    </a:p>
                  </a:txBody>
                  <a:tcPr marL="91440" marR="91440" marT="45720" marB="45720">
                    <a:solidFill>
                      <a:srgbClr val="FFFFFF"/>
                    </a:solidFill>
                  </a:tcPr>
                </a:tc>
                <a:tc>
                  <a:txBody>
                    <a:bodyPr/>
                    <a:lstStyle/>
                    <a:p>
                      <a:r>
                        <a:rPr sz="1650" b="0">
                          <a:solidFill>
                            <a:srgbClr val="172C42"/>
                          </a:solidFill>
                          <a:latin typeface="Arial"/>
                          <a:ea typeface="Arial"/>
                          <a:cs typeface="Arial"/>
                        </a:rPr>
                        <a:t>orchestration/pipeline.py; stages/</a:t>
                      </a:r>
                    </a:p>
                  </a:txBody>
                  <a:tcPr marL="91440" marR="91440" marT="45720" marB="45720">
                    <a:solidFill>
                      <a:srgbClr val="FFFFFF"/>
                    </a:solidFill>
                  </a:tcPr>
                </a:tc>
                <a:tc>
                  <a:txBody>
                    <a:bodyPr/>
                    <a:lstStyle/>
                    <a:p>
                      <a:r>
                        <a:rPr sz="1650" b="0">
                          <a:solidFill>
                            <a:srgbClr val="172C42"/>
                          </a:solidFill>
                          <a:latin typeface="Arial"/>
                          <a:ea typeface="Arial"/>
                          <a:cs typeface="Arial"/>
                        </a:rPr>
                        <a:t>Run contracts, matching and business validators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Evidence + reports</a:t>
                      </a:r>
                    </a:p>
                  </a:txBody>
                  <a:tcPr marL="91440" marR="91440" marT="45720" marB="45720">
                    <a:solidFill>
                      <a:srgbClr val="EAF0F1"/>
                    </a:solidFill>
                  </a:tcPr>
                </a:tc>
                <a:tc>
                  <a:txBody>
                    <a:bodyPr/>
                    <a:lstStyle/>
                    <a:p>
                      <a:r>
                        <a:rPr sz="1650" b="0">
                          <a:solidFill>
                            <a:srgbClr val="172C42"/>
                          </a:solidFill>
                          <a:latin typeface="Arial"/>
                          <a:ea typeface="Arial"/>
                          <a:cs typeface="Arial"/>
                        </a:rPr>
                        <a:t>models.py; reporting/</a:t>
                      </a:r>
                    </a:p>
                  </a:txBody>
                  <a:tcPr marL="91440" marR="91440" marT="45720" marB="45720">
                    <a:solidFill>
                      <a:srgbClr val="EAF0F1"/>
                    </a:solidFill>
                  </a:tcPr>
                </a:tc>
                <a:tc>
                  <a:txBody>
                    <a:bodyPr/>
                    <a:lstStyle/>
                    <a:p>
                      <a:r>
                        <a:rPr sz="1650" b="0">
                          <a:solidFill>
                            <a:srgbClr val="172C42"/>
                          </a:solidFill>
                          <a:latin typeface="Arial"/>
                          <a:ea typeface="Arial"/>
                          <a:cs typeface="Arial"/>
                        </a:rPr>
                        <a:t>Record reasons and produce linked reports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Verification</a:t>
                      </a:r>
                    </a:p>
                  </a:txBody>
                  <a:tcPr marL="91440" marR="91440" marT="45720" marB="45720">
                    <a:solidFill>
                      <a:srgbClr val="FFFFFF"/>
                    </a:solidFill>
                  </a:tcPr>
                </a:tc>
                <a:tc>
                  <a:txBody>
                    <a:bodyPr/>
                    <a:lstStyle/>
                    <a:p>
                      <a:r>
                        <a:rPr sz="1650" b="0">
                          <a:solidFill>
                            <a:srgbClr val="172C42"/>
                          </a:solidFill>
                          <a:latin typeface="Arial"/>
                          <a:ea typeface="Arial"/>
                          <a:cs typeface="Arial"/>
                        </a:rPr>
                        <a:t>tests/; demo_pipeline.py</a:t>
                      </a:r>
                    </a:p>
                  </a:txBody>
                  <a:tcPr marL="91440" marR="91440" marT="45720" marB="45720">
                    <a:solidFill>
                      <a:srgbClr val="FFFFFF"/>
                    </a:solidFill>
                  </a:tcPr>
                </a:tc>
                <a:tc>
                  <a:txBody>
                    <a:bodyPr/>
                    <a:lstStyle/>
                    <a:p>
                      <a:r>
                        <a:rPr sz="1650" b="0">
                          <a:solidFill>
                            <a:srgbClr val="172C42"/>
                          </a:solidFill>
                          <a:latin typeface="Arial"/>
                          <a:ea typeface="Arial"/>
                          <a:cs typeface="Arial"/>
                        </a:rPr>
                        <a:t>Check software and demonstrate controlled examples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41408166"/>
      </p:ext>
    </p:extLst>
  </p:cSld>
</p:sld>
</file>

<file path=ppt/slides/slide8.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1B818C-7526-4167-9E84-29BB80D1E9B8}"/>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B5FE7156-4CDA-4C5D-A2F1-4801C3C783CE}"/>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Repository folders</a:t>
            </a:r>
          </a:p>
        </p:txBody>
      </p:sp>
      <p:sp>
        <p:nvSpPr>
          <p:cNvPr id="3" name="">
            <a:extLst xmlns:a="http://schemas.openxmlformats.org/drawingml/2006/main">
              <a:ext uri="{FF2B5EF4-FFF2-40B4-BE49-F238E27FC236}">
                <a16:creationId xmlns:a16="http://schemas.microsoft.com/office/drawing/2014/main" id="{E1003511-2E33-46D0-9F8C-9A180085887A}"/>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2462A304-CDBB-4204-A916-5D1F66D5581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E8C78071-B1F4-45F4-B88D-93E2E4473900}"/>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476625"/>
                <a:gridCol w="7496175"/>
              </a:tblGrid>
              <a:tr h="619125">
                <a:tc>
                  <a:txBody>
                    <a:bodyPr/>
                    <a:lstStyle/>
                    <a:p>
                      <a:r>
                        <a:rPr sz="1575" b="1">
                          <a:solidFill>
                            <a:srgbClr val="FFFFFF"/>
                          </a:solidFill>
                          <a:latin typeface="Arial"/>
                          <a:ea typeface="Arial"/>
                          <a:cs typeface="Arial"/>
                        </a:rPr>
                        <a:t>Folder</a:t>
                      </a:r>
                    </a:p>
                  </a:txBody>
                  <a:tcPr marL="91440" marR="91440" marT="45720" marB="45720">
                    <a:solidFill>
                      <a:srgbClr val="0B192B"/>
                    </a:solidFill>
                  </a:tcPr>
                </a:tc>
                <a:tc>
                  <a:txBody>
                    <a:bodyPr/>
                    <a:lstStyle/>
                    <a:p>
                      <a:r>
                        <a:rPr sz="1575" b="1">
                          <a:solidFill>
                            <a:srgbClr val="FFFFFF"/>
                          </a:solidFill>
                          <a:latin typeface="Arial"/>
                          <a:ea typeface="Arial"/>
                          <a:cs typeface="Arial"/>
                        </a:rPr>
                        <a:t>Team use</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src/medpar_qa/</a:t>
                      </a:r>
                    </a:p>
                  </a:txBody>
                  <a:tcPr marL="91440" marR="91440" marT="45720" marB="45720">
                    <a:solidFill>
                      <a:srgbClr val="FFFFFF"/>
                    </a:solidFill>
                  </a:tcPr>
                </a:tc>
                <a:tc>
                  <a:txBody>
                    <a:bodyPr/>
                    <a:lstStyle/>
                    <a:p>
                      <a:r>
                        <a:rPr sz="1650" b="0">
                          <a:solidFill>
                            <a:srgbClr val="172C42"/>
                          </a:solidFill>
                          <a:latin typeface="Arial"/>
                          <a:ea typeface="Arial"/>
                          <a:cs typeface="Arial"/>
                        </a:rPr>
                        <a:t>Core validators, models, readers and report generators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config/ + scripts/</a:t>
                      </a:r>
                    </a:p>
                  </a:txBody>
                  <a:tcPr marL="91440" marR="91440" marT="45720" marB="45720">
                    <a:solidFill>
                      <a:srgbClr val="EAF0F1"/>
                    </a:solidFill>
                  </a:tcPr>
                </a:tc>
                <a:tc>
                  <a:txBody>
                    <a:bodyPr/>
                    <a:lstStyle/>
                    <a:p>
                      <a:r>
                        <a:rPr sz="1650" b="0">
                          <a:solidFill>
                            <a:srgbClr val="172C42"/>
                          </a:solidFill>
                          <a:latin typeface="Arial"/>
                          <a:ea typeface="Arial"/>
                          <a:cs typeface="Arial"/>
                        </a:rPr>
                        <a:t>Stage configuration and repeatable execution entry points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tests/ + data/</a:t>
                      </a:r>
                    </a:p>
                  </a:txBody>
                  <a:tcPr marL="91440" marR="91440" marT="45720" marB="45720">
                    <a:solidFill>
                      <a:srgbClr val="FFFFFF"/>
                    </a:solidFill>
                  </a:tcPr>
                </a:tc>
                <a:tc>
                  <a:txBody>
                    <a:bodyPr/>
                    <a:lstStyle/>
                    <a:p>
                      <a:r>
                        <a:rPr sz="1650" b="0">
                          <a:solidFill>
                            <a:srgbClr val="172C42"/>
                          </a:solidFill>
                          <a:latin typeface="Arial"/>
                          <a:ea typeface="Arial"/>
                          <a:cs typeface="Arial"/>
                        </a:rPr>
                        <a:t>Automated scenarios and local input datasets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reports/ + outputs/</a:t>
                      </a:r>
                    </a:p>
                  </a:txBody>
                  <a:tcPr marL="91440" marR="91440" marT="45720" marB="45720">
                    <a:solidFill>
                      <a:srgbClr val="EAF0F1"/>
                    </a:solidFill>
                  </a:tcPr>
                </a:tc>
                <a:tc>
                  <a:txBody>
                    <a:bodyPr/>
                    <a:lstStyle/>
                    <a:p>
                      <a:r>
                        <a:rPr sz="1650" b="0">
                          <a:solidFill>
                            <a:srgbClr val="172C42"/>
                          </a:solidFill>
                          <a:latin typeface="Arial"/>
                          <a:ea typeface="Arial"/>
                          <a:cs typeface="Arial"/>
                        </a:rPr>
                        <a:t>Locally generated reports and annotated gap workbook</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README.md + presentations/</a:t>
                      </a:r>
                    </a:p>
                  </a:txBody>
                  <a:tcPr marL="91440" marR="91440" marT="45720" marB="45720">
                    <a:solidFill>
                      <a:srgbClr val="FFFFFF"/>
                    </a:solidFill>
                  </a:tcPr>
                </a:tc>
                <a:tc>
                  <a:txBody>
                    <a:bodyPr/>
                    <a:lstStyle/>
                    <a:p>
                      <a:r>
                        <a:rPr sz="1650" b="0">
                          <a:solidFill>
                            <a:srgbClr val="172C42"/>
                          </a:solidFill>
                          <a:latin typeface="Arial"/>
                          <a:ea typeface="Arial"/>
                          <a:cs typeface="Arial"/>
                        </a:rPr>
                        <a:t>Complete code guide and this team demonstration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0650799"/>
      </p:ext>
    </p:extLst>
  </p:cSld>
</p:sld>
</file>

<file path=ppt/slides/slide9.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6E6F61-AE0A-46BD-9945-ACA85F9E2475}"/>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C19FB312-B25A-4303-AF10-5A1364621853}"/>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Run lifecycle</a:t>
            </a:r>
          </a:p>
        </p:txBody>
      </p:sp>
      <p:sp>
        <p:nvSpPr>
          <p:cNvPr id="3" name="">
            <a:extLst xmlns:a="http://schemas.openxmlformats.org/drawingml/2006/main">
              <a:ext uri="{FF2B5EF4-FFF2-40B4-BE49-F238E27FC236}">
                <a16:creationId xmlns:a16="http://schemas.microsoft.com/office/drawing/2014/main" id="{7FB9AD42-A3B1-4A23-A65B-B4A3843E075D}"/>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462EA724-6205-4AE0-A4E9-2BC5625F128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A0F810DB-DACA-45BA-9E31-F68779631E10}"/>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DA71742-BD56-40A7-9399-2DBF321904C0}"/>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Discover configured source, actual and expected files.</a:t>
            </a:r>
          </a:p>
        </p:txBody>
      </p:sp>
      <p:sp>
        <p:nvSpPr>
          <p:cNvPr id="7" name="">
            <a:extLst xmlns:a="http://schemas.openxmlformats.org/drawingml/2006/main">
              <a:ext uri="{FF2B5EF4-FFF2-40B4-BE49-F238E27FC236}">
                <a16:creationId xmlns:a16="http://schemas.microsoft.com/office/drawing/2014/main" id="{2B0CEE6D-1F81-4663-95B1-04CD2C3154AF}"/>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FE8ACD4-3022-4EE3-AC88-5DC0EE2917FC}"/>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Read JSON or Parquet and preserve file/row provenance.</a:t>
            </a:r>
          </a:p>
        </p:txBody>
      </p:sp>
      <p:sp>
        <p:nvSpPr>
          <p:cNvPr id="9" name="">
            <a:extLst xmlns:a="http://schemas.openxmlformats.org/drawingml/2006/main">
              <a:ext uri="{FF2B5EF4-FFF2-40B4-BE49-F238E27FC236}">
                <a16:creationId xmlns:a16="http://schemas.microsoft.com/office/drawing/2014/main" id="{6A2D7968-C93B-41E9-8D2D-4DD0D764E0FA}"/>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D1EE3FE-3346-4FCB-BE26-ED0BE3C2F4CA}"/>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Normalize fields, enforce contracts and match record identities.</a:t>
            </a:r>
          </a:p>
        </p:txBody>
      </p:sp>
      <p:sp>
        <p:nvSpPr>
          <p:cNvPr id="11" name="">
            <a:extLst xmlns:a="http://schemas.openxmlformats.org/drawingml/2006/main">
              <a:ext uri="{FF2B5EF4-FFF2-40B4-BE49-F238E27FC236}">
                <a16:creationId xmlns:a16="http://schemas.microsoft.com/office/drawing/2014/main" id="{68905368-2ED5-4823-928C-65858218E5CF}"/>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BA0E2E73-5984-44CA-89BC-B3A92236E147}"/>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Evaluate rules, aggregate outcomes and generate linked evidence reports.</a:t>
            </a:r>
          </a:p>
        </p:txBody>
      </p:sp>
    </p:spTree>
    <p:extLst>
      <p:ext uri="{BB962C8B-B14F-4D97-AF65-F5344CB8AC3E}">
        <p14:creationId xmlns:p14="http://schemas.microsoft.com/office/powerpoint/2010/main" val="328144793"/>
      </p:ext>
    </p:extLst>
  </p:cSld>
</p:sld>
</file>

<file path=ppt/slides/slide10.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6F50D2-409C-4073-A20B-B874447C3C97}"/>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7A011C30-3C16-4367-B130-77B581CBC3B9}"/>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Validation modes and file roles</a:t>
            </a:r>
          </a:p>
        </p:txBody>
      </p:sp>
      <p:sp>
        <p:nvSpPr>
          <p:cNvPr id="3" name="">
            <a:extLst xmlns:a="http://schemas.openxmlformats.org/drawingml/2006/main">
              <a:ext uri="{FF2B5EF4-FFF2-40B4-BE49-F238E27FC236}">
                <a16:creationId xmlns:a16="http://schemas.microsoft.com/office/drawing/2014/main" id="{911A9BCF-E81C-479F-846A-3854B511BEDF}"/>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CCDB9BED-A663-4212-8ABC-A3AFF5383BB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E9042C3C-0114-4236-84E2-18A3F2EBBA5B}"/>
              </a:ext>
            </a:extLst>
          </p:cNvPr>
          <p:cNvGraphicFramePr/>
          <p:nvPr/>
        </p:nvGraphicFramePr>
        <p:xfrm>
          <a:off xmlns:a="http://schemas.openxmlformats.org/drawingml/2006/main" x="609600" y="1857375"/>
          <a:ext xmlns:a="http://schemas.openxmlformats.org/drawingml/2006/main" cx="10972800" cy="3095625"/>
        </p:xfrm>
        <a:graphic xmlns:a="http://schemas.openxmlformats.org/drawingml/2006/main">
          <a:graphicData uri="http://schemas.openxmlformats.org/drawingml/2006/table">
            <a:tbl>
              <a:tblPr/>
              <a:tblGrid>
                <a:gridCol w="3429000"/>
                <a:gridCol w="7543800"/>
              </a:tblGrid>
              <a:tr h="619125">
                <a:tc>
                  <a:txBody>
                    <a:bodyPr/>
                    <a:lstStyle/>
                    <a:p>
                      <a:r>
                        <a:rPr sz="1575" b="1">
                          <a:solidFill>
                            <a:srgbClr val="FFFFFF"/>
                          </a:solidFill>
                          <a:latin typeface="Arial"/>
                          <a:ea typeface="Arial"/>
                          <a:cs typeface="Arial"/>
                        </a:rPr>
                        <a:t>Mode / role</a:t>
                      </a:r>
                    </a:p>
                  </a:txBody>
                  <a:tcPr marL="91440" marR="91440" marT="45720" marB="45720">
                    <a:solidFill>
                      <a:srgbClr val="0B192B"/>
                    </a:solidFill>
                  </a:tcPr>
                </a:tc>
                <a:tc>
                  <a:txBody>
                    <a:bodyPr/>
                    <a:lstStyle/>
                    <a:p>
                      <a:r>
                        <a:rPr sz="1575" b="1">
                          <a:solidFill>
                            <a:srgbClr val="FFFFFF"/>
                          </a:solidFill>
                          <a:latin typeface="Arial"/>
                          <a:ea typeface="Arial"/>
                          <a:cs typeface="Arial"/>
                        </a:rPr>
                        <a:t>Purpose</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Calculate</a:t>
                      </a:r>
                    </a:p>
                  </a:txBody>
                  <a:tcPr marL="91440" marR="91440" marT="45720" marB="45720">
                    <a:solidFill>
                      <a:srgbClr val="FFFFFF"/>
                    </a:solidFill>
                  </a:tcPr>
                </a:tc>
                <a:tc>
                  <a:txBody>
                    <a:bodyPr/>
                    <a:lstStyle/>
                    <a:p>
                      <a:r>
                        <a:rPr sz="1650" b="0">
                          <a:solidFill>
                            <a:srgbClr val="172C42"/>
                          </a:solidFill>
                          <a:latin typeface="Arial"/>
                          <a:ea typeface="Arial"/>
                          <a:cs typeface="Arial"/>
                        </a:rPr>
                        <a:t>Check supported calculations using available operands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Reconcile</a:t>
                      </a:r>
                    </a:p>
                  </a:txBody>
                  <a:tcPr marL="91440" marR="91440" marT="45720" marB="45720">
                    <a:solidFill>
                      <a:srgbClr val="EAF0F1"/>
                    </a:solidFill>
                  </a:tcPr>
                </a:tc>
                <a:tc>
                  <a:txBody>
                    <a:bodyPr/>
                    <a:lstStyle/>
                    <a:p>
                      <a:r>
                        <a:rPr sz="1650" b="0">
                          <a:solidFill>
                            <a:srgbClr val="172C42"/>
                          </a:solidFill>
                          <a:latin typeface="Arial"/>
                          <a:ea typeface="Arial"/>
                          <a:cs typeface="Arial"/>
                        </a:rPr>
                        <a:t>Compare source-derived decisions with actual stage output</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Golden</a:t>
                      </a:r>
                    </a:p>
                  </a:txBody>
                  <a:tcPr marL="91440" marR="91440" marT="45720" marB="45720">
                    <a:solidFill>
                      <a:srgbClr val="FFFFFF"/>
                    </a:solidFill>
                  </a:tcPr>
                </a:tc>
                <a:tc>
                  <a:txBody>
                    <a:bodyPr/>
                    <a:lstStyle/>
                    <a:p>
                      <a:r>
                        <a:rPr sz="1650" b="0">
                          <a:solidFill>
                            <a:srgbClr val="172C42"/>
                          </a:solidFill>
                          <a:latin typeface="Arial"/>
                          <a:ea typeface="Arial"/>
                          <a:cs typeface="Arial"/>
                        </a:rPr>
                        <a:t>Compare actual values/bytes with an approved expected file</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Source / actual / expected</a:t>
                      </a:r>
                    </a:p>
                  </a:txBody>
                  <a:tcPr marL="91440" marR="91440" marT="45720" marB="45720">
                    <a:solidFill>
                      <a:srgbClr val="EAF0F1"/>
                    </a:solidFill>
                  </a:tcPr>
                </a:tc>
                <a:tc>
                  <a:txBody>
                    <a:bodyPr/>
                    <a:lstStyle/>
                    <a:p>
                      <a:r>
                        <a:rPr sz="1650" b="0">
                          <a:solidFill>
                            <a:srgbClr val="172C42"/>
                          </a:solidFill>
                          <a:latin typeface="Arial"/>
                          <a:ea typeface="Arial"/>
                          <a:cs typeface="Arial"/>
                        </a:rPr>
                        <a:t>Separate the input, delivered output and trusted reference</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742100074"/>
      </p:ext>
    </p:extLst>
  </p:cSld>
</p:sld>
</file>

<file path=ppt/slides/slide11.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66232C-9475-44B1-837B-07F9D4011D3A}"/>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708BEC6B-5BA7-40F8-AB8D-740FFD81C94D}"/>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Normalization and evidence model</a:t>
            </a:r>
          </a:p>
        </p:txBody>
      </p:sp>
      <p:sp>
        <p:nvSpPr>
          <p:cNvPr id="3" name="">
            <a:extLst xmlns:a="http://schemas.openxmlformats.org/drawingml/2006/main">
              <a:ext uri="{FF2B5EF4-FFF2-40B4-BE49-F238E27FC236}">
                <a16:creationId xmlns:a16="http://schemas.microsoft.com/office/drawing/2014/main" id="{CA63F38D-1CF7-4C98-BF7D-77FA3A183088}"/>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934C2F0E-3F5F-4EEB-8007-7E1783C5ED4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3C32A80-DD7F-4E1C-A29C-6E50530A1DA0}"/>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DBA3824-E950-4878-884D-4FD6B3155F8E}"/>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Field aliases support COBOL, camelCase and nested representations.</a:t>
            </a:r>
          </a:p>
        </p:txBody>
      </p:sp>
      <p:sp>
        <p:nvSpPr>
          <p:cNvPr id="7" name="">
            <a:extLst xmlns:a="http://schemas.openxmlformats.org/drawingml/2006/main">
              <a:ext uri="{FF2B5EF4-FFF2-40B4-BE49-F238E27FC236}">
                <a16:creationId xmlns:a16="http://schemas.microsoft.com/office/drawing/2014/main" id="{41B1EDF7-CCB4-4C83-9A44-422EAB32F2FA}"/>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FB1BF4A-E309-4825-B276-417F95106269}"/>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Dates support Gregorian and valid Julian formats; zero dates stay missing.</a:t>
            </a:r>
          </a:p>
        </p:txBody>
      </p:sp>
      <p:sp>
        <p:nvSpPr>
          <p:cNvPr id="9" name="">
            <a:extLst xmlns:a="http://schemas.openxmlformats.org/drawingml/2006/main">
              <a:ext uri="{FF2B5EF4-FFF2-40B4-BE49-F238E27FC236}">
                <a16:creationId xmlns:a16="http://schemas.microsoft.com/office/drawing/2014/main" id="{5AC009AF-1438-4576-B0C3-AC44149B8A68}"/>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23FD521-90A2-4BBD-A3EE-F67E13815608}"/>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Money uses finite Decimal values and explicit rounding policies.</a:t>
            </a:r>
          </a:p>
        </p:txBody>
      </p:sp>
      <p:sp>
        <p:nvSpPr>
          <p:cNvPr id="11" name="">
            <a:extLst xmlns:a="http://schemas.openxmlformats.org/drawingml/2006/main">
              <a:ext uri="{FF2B5EF4-FFF2-40B4-BE49-F238E27FC236}">
                <a16:creationId xmlns:a16="http://schemas.microsoft.com/office/drawing/2014/main" id="{D20DF5D2-EB9C-4354-8E1A-197F69962A8A}"/>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E9A5A474-1762-498D-98FD-3D43BE920BF9}"/>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Every rule stores expected/observed values, explanation and source location.</a:t>
            </a:r>
          </a:p>
        </p:txBody>
      </p:sp>
    </p:spTree>
    <p:extLst>
      <p:ext uri="{BB962C8B-B14F-4D97-AF65-F5344CB8AC3E}">
        <p14:creationId xmlns:p14="http://schemas.microsoft.com/office/powerpoint/2010/main" val="1226266348"/>
      </p:ext>
    </p:extLst>
  </p:cSld>
</p:sld>
</file>

<file path=ppt/slides/slide12.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C67349-9695-4DDC-9BF0-120A57DAEB0E}"/>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BUSINESS CONTEXT</a:t>
            </a:r>
          </a:p>
        </p:txBody>
      </p:sp>
      <p:sp>
        <p:nvSpPr>
          <p:cNvPr id="2" name="">
            <a:extLst xmlns:a="http://schemas.openxmlformats.org/drawingml/2006/main">
              <a:ext uri="{FF2B5EF4-FFF2-40B4-BE49-F238E27FC236}">
                <a16:creationId xmlns:a16="http://schemas.microsoft.com/office/drawing/2014/main" id="{357541CD-B92A-4DB2-B54A-E6D882D57401}"/>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MedPAR terms used in this demonstration</a:t>
            </a:r>
          </a:p>
        </p:txBody>
      </p:sp>
      <p:sp>
        <p:nvSpPr>
          <p:cNvPr id="3" name="">
            <a:extLst xmlns:a="http://schemas.openxmlformats.org/drawingml/2006/main">
              <a:ext uri="{FF2B5EF4-FFF2-40B4-BE49-F238E27FC236}">
                <a16:creationId xmlns:a16="http://schemas.microsoft.com/office/drawing/2014/main" id="{4FCB4F7E-9584-4DFE-BEE3-632F66B63FE4}"/>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FA4A211E-C932-4877-85F5-B48D188C93D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6815DD4A-836C-4115-8E0E-A324C9A1A8CE}"/>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429000"/>
                <a:gridCol w="7543800"/>
              </a:tblGrid>
              <a:tr h="619125">
                <a:tc>
                  <a:txBody>
                    <a:bodyPr/>
                    <a:lstStyle/>
                    <a:p>
                      <a:r>
                        <a:rPr sz="1575" b="1">
                          <a:solidFill>
                            <a:srgbClr val="FFFFFF"/>
                          </a:solidFill>
                          <a:latin typeface="Arial"/>
                          <a:ea typeface="Arial"/>
                          <a:cs typeface="Arial"/>
                        </a:rPr>
                        <a:t>Term</a:t>
                      </a:r>
                    </a:p>
                  </a:txBody>
                  <a:tcPr marL="91440" marR="91440" marT="45720" marB="45720">
                    <a:solidFill>
                      <a:srgbClr val="0B192B"/>
                    </a:solidFill>
                  </a:tcPr>
                </a:tc>
                <a:tc>
                  <a:txBody>
                    <a:bodyPr/>
                    <a:lstStyle/>
                    <a:p>
                      <a:r>
                        <a:rPr sz="1575" b="1">
                          <a:solidFill>
                            <a:srgbClr val="FFFFFF"/>
                          </a:solidFill>
                          <a:latin typeface="Arial"/>
                          <a:ea typeface="Arial"/>
                          <a:cs typeface="Arial"/>
                        </a:rPr>
                        <a:t>Meaning</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IP / SNF</a:t>
                      </a:r>
                    </a:p>
                  </a:txBody>
                  <a:tcPr marL="91440" marR="91440" marT="45720" marB="45720">
                    <a:solidFill>
                      <a:srgbClr val="FFFFFF"/>
                    </a:solidFill>
                  </a:tcPr>
                </a:tc>
                <a:tc>
                  <a:txBody>
                    <a:bodyPr/>
                    <a:lstStyle/>
                    <a:p>
                      <a:r>
                        <a:rPr sz="1650" b="0">
                          <a:solidFill>
                            <a:srgbClr val="172C42"/>
                          </a:solidFill>
                          <a:latin typeface="Arial"/>
                          <a:ea typeface="Arial"/>
                          <a:cs typeface="Arial"/>
                        </a:rPr>
                        <a:t>Inpatient hospital / skilled nursing facility</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QC / ICN</a:t>
                      </a:r>
                    </a:p>
                  </a:txBody>
                  <a:tcPr marL="91440" marR="91440" marT="45720" marB="45720">
                    <a:solidFill>
                      <a:srgbClr val="EAF0F1"/>
                    </a:solidFill>
                  </a:tcPr>
                </a:tc>
                <a:tc>
                  <a:txBody>
                    <a:bodyPr/>
                    <a:lstStyle/>
                    <a:p>
                      <a:r>
                        <a:rPr sz="1650" b="0">
                          <a:solidFill>
                            <a:srgbClr val="172C42"/>
                          </a:solidFill>
                          <a:latin typeface="Arial"/>
                          <a:ea typeface="Arial"/>
                          <a:cs typeface="Arial"/>
                        </a:rPr>
                        <a:t>Query code / internal claim number</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HICN / CAN</a:t>
                      </a:r>
                    </a:p>
                  </a:txBody>
                  <a:tcPr marL="91440" marR="91440" marT="45720" marB="45720">
                    <a:solidFill>
                      <a:srgbClr val="FFFFFF"/>
                    </a:solidFill>
                  </a:tcPr>
                </a:tc>
                <a:tc>
                  <a:txBody>
                    <a:bodyPr/>
                    <a:lstStyle/>
                    <a:p>
                      <a:r>
                        <a:rPr sz="1650" b="0">
                          <a:solidFill>
                            <a:srgbClr val="172C42"/>
                          </a:solidFill>
                          <a:latin typeface="Arial"/>
                          <a:ea typeface="Arial"/>
                          <a:cs typeface="Arial"/>
                        </a:rPr>
                        <a:t>Beneficiary and claim identifiers used for matching</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LOS / DRG / NDC</a:t>
                      </a:r>
                    </a:p>
                  </a:txBody>
                  <a:tcPr marL="91440" marR="91440" marT="45720" marB="45720">
                    <a:solidFill>
                      <a:srgbClr val="EAF0F1"/>
                    </a:solidFill>
                  </a:tcPr>
                </a:tc>
                <a:tc>
                  <a:txBody>
                    <a:bodyPr/>
                    <a:lstStyle/>
                    <a:p>
                      <a:r>
                        <a:rPr sz="1650" b="0">
                          <a:solidFill>
                            <a:srgbClr val="172C42"/>
                          </a:solidFill>
                          <a:latin typeface="Arial"/>
                          <a:ea typeface="Arial"/>
                          <a:cs typeface="Arial"/>
                        </a:rPr>
                        <a:t>Length of stay / diagnosis-related group / national drug code</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DOD / SSI / golden</a:t>
                      </a:r>
                    </a:p>
                  </a:txBody>
                  <a:tcPr marL="91440" marR="91440" marT="45720" marB="45720">
                    <a:solidFill>
                      <a:srgbClr val="FFFFFF"/>
                    </a:solidFill>
                  </a:tcPr>
                </a:tc>
                <a:tc>
                  <a:txBody>
                    <a:bodyPr/>
                    <a:lstStyle/>
                    <a:p>
                      <a:r>
                        <a:rPr sz="1650" b="0">
                          <a:solidFill>
                            <a:srgbClr val="172C42"/>
                          </a:solidFill>
                          <a:latin typeface="Arial"/>
                          <a:ea typeface="Arial"/>
                          <a:cs typeface="Arial"/>
                        </a:rPr>
                        <a:t>Date of death / supplemental security income / approved expected data</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66305929"/>
      </p:ext>
    </p:extLst>
  </p:cSld>
</p:sld>
</file>

<file path=ppt/slides/slide13.xml><?xml version="1.0" encoding="utf-8"?>
<p:sld xmlns:p="http://schemas.openxmlformats.org/presentationml/2006/main">
  <p:cSld>
    <p:bg>
      <p:bgPr>
        <a:solidFill xmlns:a="http://schemas.openxmlformats.org/drawingml/2006/main">
          <a:srgbClr val="0B192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BEF6F410-76F5-4CCF-9A5F-8F30605CC254}"/>
              </a:ext>
            </a:extLst>
          </p:cNvPr>
          <p:cNvPicPr>
            <a:picLocks xmlns:a="http://schemas.openxmlformats.org/drawingml/2006/main" noChangeAspect="1"/>
          </p:cNvPicPr>
          <p:nvPr/>
        </p:nvPicPr>
        <p:blipFill>
          <a:blip xmlns:r="http://schemas.openxmlformats.org/officeDocument/2006/relationships" xmlns:a="http://schemas.openxmlformats.org/drawingml/2006/main" r:embed="R14af341bcc4244b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AE312A-66A9-467B-971A-08B5B0DED31E}"/>
              </a:ext>
            </a:extLst>
          </p:cNvPr>
          <p:cNvSpPr>
            <a:spLocks xmlns:a="http://schemas.openxmlformats.org/drawingml/2006/main" noGrp="1"/>
          </p:cNvSpPr>
          <p:nvPr/>
        </p:nvSpPr>
        <p:spPr>
          <a:xfrm xmlns:a="http://schemas.openxmlformats.org/drawingml/2006/main">
            <a:off x="666750" y="6191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9E0D2"/>
                </a:solidFill>
                <a:latin typeface="Arial"/>
                <a:ea typeface="Arial"/>
                <a:cs typeface="Arial"/>
              </a:defRPr>
            </a:defPPr>
          </a:lstStyle>
          <a:p xmlns:a="http://schemas.openxmlformats.org/drawingml/2006/main">
            <a:pPr>
              <a:defRPr sz="1425" b="1">
                <a:solidFill>
                  <a:srgbClr val="79E0D2"/>
                </a:solidFill>
                <a:latin typeface="Arial"/>
                <a:ea typeface="Arial"/>
                <a:cs typeface="Arial"/>
              </a:defRPr>
            </a:pPr>
            <a:r>
              <a:rPr sz="1425" b="1">
                <a:solidFill>
                  <a:srgbClr val="79E0D2"/>
                </a:solidFill>
                <a:latin typeface="Arial"/>
                <a:ea typeface="Arial"/>
                <a:cs typeface="Arial"/>
              </a:rPr>
              <a:t>BUSINESS LOGIC</a:t>
            </a:r>
          </a:p>
        </p:txBody>
      </p:sp>
      <p:sp>
        <p:nvSpPr>
          <p:cNvPr id="3" name="">
            <a:extLst xmlns:a="http://schemas.openxmlformats.org/drawingml/2006/main">
              <a:ext uri="{FF2B5EF4-FFF2-40B4-BE49-F238E27FC236}">
                <a16:creationId xmlns:a16="http://schemas.microsoft.com/office/drawing/2014/main" id="{1D1C7389-B8F6-4D46-99B4-E411136B9940}"/>
              </a:ext>
            </a:extLst>
          </p:cNvPr>
          <p:cNvSpPr>
            <a:spLocks xmlns:a="http://schemas.openxmlformats.org/drawingml/2006/main" noGrp="1"/>
          </p:cNvSpPr>
          <p:nvPr/>
        </p:nvSpPr>
        <p:spPr>
          <a:xfrm xmlns:a="http://schemas.openxmlformats.org/drawingml/2006/main">
            <a:off x="666750" y="1952625"/>
            <a:ext cx="7524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Stage rules</a:t>
            </a:r>
          </a:p>
        </p:txBody>
      </p:sp>
      <p:sp>
        <p:nvSpPr>
          <p:cNvPr id="4" name="">
            <a:extLst xmlns:a="http://schemas.openxmlformats.org/drawingml/2006/main">
              <a:ext uri="{FF2B5EF4-FFF2-40B4-BE49-F238E27FC236}">
                <a16:creationId xmlns:a16="http://schemas.microsoft.com/office/drawing/2014/main" id="{5DB6E1AC-7CD1-4E80-94E3-28684BCD3593}"/>
              </a:ext>
            </a:extLst>
          </p:cNvPr>
          <p:cNvSpPr>
            <a:spLocks xmlns:a="http://schemas.openxmlformats.org/drawingml/2006/main" noGrp="1"/>
          </p:cNvSpPr>
          <p:nvPr/>
        </p:nvSpPr>
        <p:spPr>
          <a:xfrm xmlns:a="http://schemas.openxmlformats.org/drawingml/2006/main">
            <a:off x="704850" y="428625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9D9E5"/>
                </a:solidFill>
                <a:latin typeface="Arial"/>
                <a:ea typeface="Arial"/>
                <a:cs typeface="Arial"/>
              </a:defRPr>
            </a:defPPr>
          </a:lstStyle>
          <a:p xmlns:a="http://schemas.openxmlformats.org/drawingml/2006/main">
            <a:pPr>
              <a:defRPr sz="2025" b="0">
                <a:solidFill>
                  <a:srgbClr val="C9D9E5"/>
                </a:solidFill>
                <a:latin typeface="Arial"/>
                <a:ea typeface="Arial"/>
                <a:cs typeface="Arial"/>
              </a:defRPr>
            </a:pPr>
            <a:r>
              <a:rPr sz="2025" b="0">
                <a:solidFill>
                  <a:srgbClr val="C9D9E5"/>
                </a:solidFill>
                <a:latin typeface="Arial"/>
                <a:ea typeface="Arial"/>
                <a:cs typeface="Arial"/>
              </a:rPr>
              <a:t>How each stage is evaluated</a:t>
            </a:r>
          </a:p>
          <a:p xmlns:a="http://schemas.openxmlformats.org/drawingml/2006/main">
            <a:pPr>
              <a:defRPr sz="2025" b="0">
                <a:solidFill>
                  <a:srgbClr val="C9D9E5"/>
                </a:solidFill>
                <a:latin typeface="Arial"/>
                <a:ea typeface="Arial"/>
                <a:cs typeface="Arial"/>
              </a:defRPr>
            </a:pPr>
            <a:r>
              <a:rPr sz="2025" b="0">
                <a:solidFill>
                  <a:srgbClr val="C9D9E5"/>
                </a:solidFill>
                <a:latin typeface="Arial"/>
                <a:ea typeface="Arial"/>
                <a:cs typeface="Arial"/>
              </a:rPr>
              <a:t>The implementation and its acceptance limits</a:t>
            </a:r>
          </a:p>
        </p:txBody>
      </p:sp>
      <p:sp>
        <p:nvSpPr>
          <p:cNvPr id="5" name="">
            <a:extLst xmlns:a="http://schemas.openxmlformats.org/drawingml/2006/main">
              <a:ext uri="{FF2B5EF4-FFF2-40B4-BE49-F238E27FC236}">
                <a16:creationId xmlns:a16="http://schemas.microsoft.com/office/drawing/2014/main" id="{0FE96C2B-872A-4290-8A49-B223445A4D88}"/>
              </a:ext>
            </a:extLst>
          </p:cNvPr>
          <p:cNvSpPr>
            <a:spLocks xmlns:a="http://schemas.openxmlformats.org/drawingml/2006/main" noGrp="1"/>
          </p:cNvSpPr>
          <p:nvPr/>
        </p:nvSpPr>
        <p:spPr>
          <a:xfrm xmlns:a="http://schemas.openxmlformats.org/drawingml/2006/main">
            <a:off x="704850" y="618172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9D9E5"/>
                </a:solidFill>
                <a:latin typeface="Arial"/>
                <a:ea typeface="Arial"/>
                <a:cs typeface="Arial"/>
              </a:defRPr>
            </a:defPPr>
          </a:lstStyle>
          <a:p xmlns:a="http://schemas.openxmlformats.org/drawingml/2006/main">
            <a:pPr>
              <a:defRPr sz="1275" b="0">
                <a:solidFill>
                  <a:srgbClr val="C9D9E5"/>
                </a:solidFill>
                <a:latin typeface="Arial"/>
                <a:ea typeface="Arial"/>
                <a:cs typeface="Arial"/>
              </a:defRPr>
            </a:pPr>
            <a:r>
              <a:rPr sz="1275" b="0">
                <a:solidFill>
                  <a:srgbClr val="C9D9E5"/>
                </a:solidFill>
                <a:latin typeface="Arial"/>
                <a:ea typeface="Arial"/>
                <a:cs typeface="Arial"/>
              </a:rPr>
              <a:t>SRIKANTH  •  11 OCTOBER 2026</a:t>
            </a:r>
          </a:p>
        </p:txBody>
      </p:sp>
    </p:spTree>
    <p:extLst>
      <p:ext uri="{BB962C8B-B14F-4D97-AF65-F5344CB8AC3E}">
        <p14:creationId xmlns:p14="http://schemas.microsoft.com/office/powerpoint/2010/main" val="2024824095"/>
      </p:ext>
    </p:extLst>
  </p:cSld>
</p:sld>
</file>

<file path=ppt/slides/slide14.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C44DE4-2EBE-484F-B648-84D5478E6886}"/>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FINAL ACTION</a:t>
            </a:r>
          </a:p>
        </p:txBody>
      </p:sp>
      <p:sp>
        <p:nvSpPr>
          <p:cNvPr id="2" name="">
            <a:extLst xmlns:a="http://schemas.openxmlformats.org/drawingml/2006/main">
              <a:ext uri="{FF2B5EF4-FFF2-40B4-BE49-F238E27FC236}">
                <a16:creationId xmlns:a16="http://schemas.microsoft.com/office/drawing/2014/main" id="{81D86C13-4847-46B8-B72A-C06FC357F4BA}"/>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Final Action: grouping and ordering</a:t>
            </a:r>
          </a:p>
        </p:txBody>
      </p:sp>
      <p:sp>
        <p:nvSpPr>
          <p:cNvPr id="3" name="">
            <a:extLst xmlns:a="http://schemas.openxmlformats.org/drawingml/2006/main">
              <a:ext uri="{FF2B5EF4-FFF2-40B4-BE49-F238E27FC236}">
                <a16:creationId xmlns:a16="http://schemas.microsoft.com/office/drawing/2014/main" id="{FCC72C4D-749C-4459-A8D1-1C418B2AFE53}"/>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873EA43C-C6CC-40B4-B17B-485C54B328C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E3F49BEC-1FB0-40AE-BF08-D4CD041266A3}"/>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C940FAB-65B8-4D2A-A2DE-DD69C27D357F}"/>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Group by IP/SNF record type, HICN, provider, from date and through date.</a:t>
            </a:r>
          </a:p>
        </p:txBody>
      </p:sp>
      <p:sp>
        <p:nvSpPr>
          <p:cNvPr id="7" name="">
            <a:extLst xmlns:a="http://schemas.openxmlformats.org/drawingml/2006/main">
              <a:ext uri="{FF2B5EF4-FFF2-40B4-BE49-F238E27FC236}">
                <a16:creationId xmlns:a16="http://schemas.microsoft.com/office/drawing/2014/main" id="{DF1EA5E5-4A9F-4C38-8547-479A1A24B0A7}"/>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BBA32F2-3D38-428D-9601-425E5C367904}"/>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Order by processing date, accretion date, query code and source sequence descending.</a:t>
            </a:r>
          </a:p>
        </p:txBody>
      </p:sp>
      <p:sp>
        <p:nvSpPr>
          <p:cNvPr id="9" name="">
            <a:extLst xmlns:a="http://schemas.openxmlformats.org/drawingml/2006/main">
              <a:ext uri="{FF2B5EF4-FFF2-40B4-BE49-F238E27FC236}">
                <a16:creationId xmlns:a16="http://schemas.microsoft.com/office/drawing/2014/main" id="{69B0EF87-878F-4F90-B7D4-D476B905C7BE}"/>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607CCC3-8145-4788-8871-9FFA2F91991F}"/>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Validate query codes 0/1/3/5 and transaction codes 0–4.</a:t>
            </a:r>
          </a:p>
        </p:txBody>
      </p:sp>
      <p:sp>
        <p:nvSpPr>
          <p:cNvPr id="11" name="">
            <a:extLst xmlns:a="http://schemas.openxmlformats.org/drawingml/2006/main">
              <a:ext uri="{FF2B5EF4-FFF2-40B4-BE49-F238E27FC236}">
                <a16:creationId xmlns:a16="http://schemas.microsoft.com/office/drawing/2014/main" id="{7F6A236A-8FAF-4D06-A192-E0D7919315D2}"/>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B9692481-EA4B-4B97-8D9C-D96079E98F40}"/>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Complete ordering ties, unmatched patterns and capacity exceptions are explicit.</a:t>
            </a:r>
          </a:p>
        </p:txBody>
      </p:sp>
    </p:spTree>
    <p:extLst>
      <p:ext uri="{BB962C8B-B14F-4D97-AF65-F5344CB8AC3E}">
        <p14:creationId xmlns:p14="http://schemas.microsoft.com/office/powerpoint/2010/main" val="674605794"/>
      </p:ext>
    </p:extLst>
  </p:cSld>
</p:sld>
</file>

<file path=ppt/slides/slide15.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DA166C-1891-43A0-8C55-1EDA6FABF2BA}"/>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FINAL ACTION</a:t>
            </a:r>
          </a:p>
        </p:txBody>
      </p:sp>
      <p:sp>
        <p:nvSpPr>
          <p:cNvPr id="2" name="">
            <a:extLst xmlns:a="http://schemas.openxmlformats.org/drawingml/2006/main">
              <a:ext uri="{FF2B5EF4-FFF2-40B4-BE49-F238E27FC236}">
                <a16:creationId xmlns:a16="http://schemas.microsoft.com/office/drawing/2014/main" id="{4FBEE937-0D58-43D6-8F70-89FA987108CC}"/>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Final Action decision rules: first routes</a:t>
            </a:r>
          </a:p>
        </p:txBody>
      </p:sp>
      <p:sp>
        <p:nvSpPr>
          <p:cNvPr id="3" name="">
            <a:extLst xmlns:a="http://schemas.openxmlformats.org/drawingml/2006/main">
              <a:ext uri="{FF2B5EF4-FFF2-40B4-BE49-F238E27FC236}">
                <a16:creationId xmlns:a16="http://schemas.microsoft.com/office/drawing/2014/main" id="{2893C56C-4FED-4756-97EC-DDC19CA897D8}"/>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AFDA24D0-EB1F-4B3C-A645-E621E195D623}"/>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2BE666D9-F0D4-4B24-B46C-F21F025D5D5B}"/>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1714500"/>
                <a:gridCol w="4667250"/>
                <a:gridCol w="4591050"/>
              </a:tblGrid>
              <a:tr h="619125">
                <a:tc>
                  <a:txBody>
                    <a:bodyPr/>
                    <a:lstStyle/>
                    <a:p>
                      <a:r>
                        <a:rPr sz="1575" b="1">
                          <a:solidFill>
                            <a:srgbClr val="FFFFFF"/>
                          </a:solidFill>
                          <a:latin typeface="Arial"/>
                          <a:ea typeface="Arial"/>
                          <a:cs typeface="Arial"/>
                        </a:rPr>
                        <a:t>Route</a:t>
                      </a:r>
                    </a:p>
                  </a:txBody>
                  <a:tcPr marL="91440" marR="91440" marT="45720" marB="45720">
                    <a:solidFill>
                      <a:srgbClr val="0B192B"/>
                    </a:solidFill>
                  </a:tcPr>
                </a:tc>
                <a:tc>
                  <a:txBody>
                    <a:bodyPr/>
                    <a:lstStyle/>
                    <a:p>
                      <a:r>
                        <a:rPr sz="1575" b="1">
                          <a:solidFill>
                            <a:srgbClr val="FFFFFF"/>
                          </a:solidFill>
                          <a:latin typeface="Arial"/>
                          <a:ea typeface="Arial"/>
                          <a:cs typeface="Arial"/>
                        </a:rPr>
                        <a:t>Trigger</a:t>
                      </a:r>
                    </a:p>
                  </a:txBody>
                  <a:tcPr marL="91440" marR="91440" marT="45720" marB="45720">
                    <a:solidFill>
                      <a:srgbClr val="0B192B"/>
                    </a:solidFill>
                  </a:tcPr>
                </a:tc>
                <a:tc>
                  <a:txBody>
                    <a:bodyPr/>
                    <a:lstStyle/>
                    <a:p>
                      <a:r>
                        <a:rPr sz="1575" b="1">
                          <a:solidFill>
                            <a:srgbClr val="FFFFFF"/>
                          </a:solidFill>
                          <a:latin typeface="Arial"/>
                          <a:ea typeface="Arial"/>
                          <a:cs typeface="Arial"/>
                        </a:rPr>
                        <a:t>Decision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All QC0</a:t>
                      </a:r>
                    </a:p>
                  </a:txBody>
                  <a:tcPr marL="91440" marR="91440" marT="45720" marB="45720">
                    <a:solidFill>
                      <a:srgbClr val="FFFFFF"/>
                    </a:solidFill>
                  </a:tcPr>
                </a:tc>
                <a:tc>
                  <a:txBody>
                    <a:bodyPr/>
                    <a:lstStyle/>
                    <a:p>
                      <a:r>
                        <a:rPr sz="1650" b="0">
                          <a:solidFill>
                            <a:srgbClr val="172C42"/>
                          </a:solidFill>
                          <a:latin typeface="Arial"/>
                          <a:ea typeface="Arial"/>
                          <a:cs typeface="Arial"/>
                        </a:rPr>
                        <a:t>Multiple records; all QC0</a:t>
                      </a:r>
                    </a:p>
                  </a:txBody>
                  <a:tcPr marL="91440" marR="91440" marT="45720" marB="45720">
                    <a:solidFill>
                      <a:srgbClr val="FFFFFF"/>
                    </a:solidFill>
                  </a:tcPr>
                </a:tc>
                <a:tc>
                  <a:txBody>
                    <a:bodyPr/>
                    <a:lstStyle/>
                    <a:p>
                      <a:r>
                        <a:rPr sz="1650" b="0">
                          <a:solidFill>
                            <a:srgbClr val="172C42"/>
                          </a:solidFill>
                          <a:latin typeface="Arial"/>
                          <a:ea typeface="Arial"/>
                          <a:cs typeface="Arial"/>
                        </a:rPr>
                        <a:t>DROP every record</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Rule 1</a:t>
                      </a:r>
                    </a:p>
                  </a:txBody>
                  <a:tcPr marL="91440" marR="91440" marT="45720" marB="45720">
                    <a:solidFill>
                      <a:srgbClr val="EAF0F1"/>
                    </a:solidFill>
                  </a:tcPr>
                </a:tc>
                <a:tc>
                  <a:txBody>
                    <a:bodyPr/>
                    <a:lstStyle/>
                    <a:p>
                      <a:r>
                        <a:rPr sz="1650" b="0">
                          <a:solidFill>
                            <a:srgbClr val="172C42"/>
                          </a:solidFill>
                          <a:latin typeface="Arial"/>
                          <a:ea typeface="Arial"/>
                          <a:cs typeface="Arial"/>
                        </a:rPr>
                        <a:t>Single record</a:t>
                      </a:r>
                    </a:p>
                  </a:txBody>
                  <a:tcPr marL="91440" marR="91440" marT="45720" marB="45720">
                    <a:solidFill>
                      <a:srgbClr val="EAF0F1"/>
                    </a:solidFill>
                  </a:tcPr>
                </a:tc>
                <a:tc>
                  <a:txBody>
                    <a:bodyPr/>
                    <a:lstStyle/>
                    <a:p>
                      <a:r>
                        <a:rPr sz="1650" b="0">
                          <a:solidFill>
                            <a:srgbClr val="172C42"/>
                          </a:solidFill>
                          <a:latin typeface="Arial"/>
                          <a:ea typeface="Arial"/>
                          <a:cs typeface="Arial"/>
                        </a:rPr>
                        <a:t>KEEP QC1/3/5; DROP QC0</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Rule 2</a:t>
                      </a:r>
                    </a:p>
                  </a:txBody>
                  <a:tcPr marL="91440" marR="91440" marT="45720" marB="45720">
                    <a:solidFill>
                      <a:srgbClr val="FFFFFF"/>
                    </a:solidFill>
                  </a:tcPr>
                </a:tc>
                <a:tc>
                  <a:txBody>
                    <a:bodyPr/>
                    <a:lstStyle/>
                    <a:p>
                      <a:r>
                        <a:rPr sz="1650" b="0">
                          <a:solidFill>
                            <a:srgbClr val="172C42"/>
                          </a:solidFill>
                          <a:latin typeface="Arial"/>
                          <a:ea typeface="Arial"/>
                          <a:cs typeface="Arial"/>
                        </a:rPr>
                        <a:t>5–0–3 or 5–0–1; QC5 latest accretion</a:t>
                      </a:r>
                    </a:p>
                  </a:txBody>
                  <a:tcPr marL="91440" marR="91440" marT="45720" marB="45720">
                    <a:solidFill>
                      <a:srgbClr val="FFFFFF"/>
                    </a:solidFill>
                  </a:tcPr>
                </a:tc>
                <a:tc>
                  <a:txBody>
                    <a:bodyPr/>
                    <a:lstStyle/>
                    <a:p>
                      <a:r>
                        <a:rPr sz="1650" b="0">
                          <a:solidFill>
                            <a:srgbClr val="172C42"/>
                          </a:solidFill>
                          <a:latin typeface="Arial"/>
                          <a:ea typeface="Arial"/>
                          <a:cs typeface="Arial"/>
                        </a:rPr>
                        <a:t>KEEP QC5; missing chronology BLOCKED</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Rule 6</a:t>
                      </a:r>
                    </a:p>
                  </a:txBody>
                  <a:tcPr marL="91440" marR="91440" marT="45720" marB="45720">
                    <a:solidFill>
                      <a:srgbClr val="EAF0F1"/>
                    </a:solidFill>
                  </a:tcPr>
                </a:tc>
                <a:tc>
                  <a:txBody>
                    <a:bodyPr/>
                    <a:lstStyle/>
                    <a:p>
                      <a:r>
                        <a:rPr sz="1650" b="0">
                          <a:solidFill>
                            <a:srgbClr val="172C42"/>
                          </a:solidFill>
                          <a:latin typeface="Arial"/>
                          <a:ea typeface="Arial"/>
                          <a:cs typeface="Arial"/>
                        </a:rPr>
                        <a:t>Pair QC0/QC5</a:t>
                      </a:r>
                    </a:p>
                  </a:txBody>
                  <a:tcPr marL="91440" marR="91440" marT="45720" marB="45720">
                    <a:solidFill>
                      <a:srgbClr val="EAF0F1"/>
                    </a:solidFill>
                  </a:tcPr>
                </a:tc>
                <a:tc>
                  <a:txBody>
                    <a:bodyPr/>
                    <a:lstStyle/>
                    <a:p>
                      <a:r>
                        <a:rPr sz="1650" b="0">
                          <a:solidFill>
                            <a:srgbClr val="172C42"/>
                          </a:solidFill>
                          <a:latin typeface="Arial"/>
                          <a:ea typeface="Arial"/>
                          <a:cs typeface="Arial"/>
                        </a:rPr>
                        <a:t>Same ICN + QC0 action 4/6: DROP both; else KEEP 5</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Rule 5</a:t>
                      </a:r>
                    </a:p>
                  </a:txBody>
                  <a:tcPr marL="91440" marR="91440" marT="45720" marB="45720">
                    <a:solidFill>
                      <a:srgbClr val="FFFFFF"/>
                    </a:solidFill>
                  </a:tcPr>
                </a:tc>
                <a:tc>
                  <a:txBody>
                    <a:bodyPr/>
                    <a:lstStyle/>
                    <a:p>
                      <a:r>
                        <a:rPr sz="1650" b="0">
                          <a:solidFill>
                            <a:srgbClr val="172C42"/>
                          </a:solidFill>
                          <a:latin typeface="Arial"/>
                          <a:ea typeface="Arial"/>
                          <a:cs typeface="Arial"/>
                        </a:rPr>
                        <a:t>Three records, no 5, one 0</a:t>
                      </a:r>
                    </a:p>
                  </a:txBody>
                  <a:tcPr marL="91440" marR="91440" marT="45720" marB="45720">
                    <a:solidFill>
                      <a:srgbClr val="FFFFFF"/>
                    </a:solidFill>
                  </a:tcPr>
                </a:tc>
                <a:tc>
                  <a:txBody>
                    <a:bodyPr/>
                    <a:lstStyle/>
                    <a:p>
                      <a:r>
                        <a:rPr sz="1650" b="0">
                          <a:solidFill>
                            <a:srgbClr val="172C42"/>
                          </a:solidFill>
                          <a:latin typeface="Arial"/>
                          <a:ea typeface="Arial"/>
                          <a:cs typeface="Arial"/>
                        </a:rPr>
                        <a:t>Same ICN: DROP all; else select qualifying newest nonzero</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9864373"/>
      </p:ext>
    </p:extLst>
  </p:cSld>
</p:sld>
</file>

<file path=ppt/slides/slide16.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5D4261-2ECE-47E8-9742-8744EB46A05D}"/>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FINAL ACTION</a:t>
            </a:r>
          </a:p>
        </p:txBody>
      </p:sp>
      <p:sp>
        <p:nvSpPr>
          <p:cNvPr id="2" name="">
            <a:extLst xmlns:a="http://schemas.openxmlformats.org/drawingml/2006/main">
              <a:ext uri="{FF2B5EF4-FFF2-40B4-BE49-F238E27FC236}">
                <a16:creationId xmlns:a16="http://schemas.microsoft.com/office/drawing/2014/main" id="{12EF17CD-03E4-4502-BD71-00327D64D4B9}"/>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Final Action decision rules: remaining routes</a:t>
            </a:r>
          </a:p>
        </p:txBody>
      </p:sp>
      <p:sp>
        <p:nvSpPr>
          <p:cNvPr id="3" name="">
            <a:extLst xmlns:a="http://schemas.openxmlformats.org/drawingml/2006/main">
              <a:ext uri="{FF2B5EF4-FFF2-40B4-BE49-F238E27FC236}">
                <a16:creationId xmlns:a16="http://schemas.microsoft.com/office/drawing/2014/main" id="{35FECAEA-B1BD-4FCA-95D6-23D115A32AD5}"/>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03323763-FA2B-48F2-8FBC-654802E40B9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CAB7C112-F4EF-4637-8684-C78F57F9B657}"/>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1714500"/>
                <a:gridCol w="5143500"/>
                <a:gridCol w="4114800"/>
              </a:tblGrid>
              <a:tr h="619125">
                <a:tc>
                  <a:txBody>
                    <a:bodyPr/>
                    <a:lstStyle/>
                    <a:p>
                      <a:r>
                        <a:rPr sz="1575" b="1">
                          <a:solidFill>
                            <a:srgbClr val="FFFFFF"/>
                          </a:solidFill>
                          <a:latin typeface="Arial"/>
                          <a:ea typeface="Arial"/>
                          <a:cs typeface="Arial"/>
                        </a:rPr>
                        <a:t>Route</a:t>
                      </a:r>
                    </a:p>
                  </a:txBody>
                  <a:tcPr marL="91440" marR="91440" marT="45720" marB="45720">
                    <a:solidFill>
                      <a:srgbClr val="0B192B"/>
                    </a:solidFill>
                  </a:tcPr>
                </a:tc>
                <a:tc>
                  <a:txBody>
                    <a:bodyPr/>
                    <a:lstStyle/>
                    <a:p>
                      <a:r>
                        <a:rPr sz="1575" b="1">
                          <a:solidFill>
                            <a:srgbClr val="FFFFFF"/>
                          </a:solidFill>
                          <a:latin typeface="Arial"/>
                          <a:ea typeface="Arial"/>
                          <a:cs typeface="Arial"/>
                        </a:rPr>
                        <a:t>Trigger / evaluation</a:t>
                      </a:r>
                    </a:p>
                  </a:txBody>
                  <a:tcPr marL="91440" marR="91440" marT="45720" marB="45720">
                    <a:solidFill>
                      <a:srgbClr val="0B192B"/>
                    </a:solidFill>
                  </a:tcPr>
                </a:tc>
                <a:tc>
                  <a:txBody>
                    <a:bodyPr/>
                    <a:lstStyle/>
                    <a:p>
                      <a:r>
                        <a:rPr sz="1575" b="1">
                          <a:solidFill>
                            <a:srgbClr val="FFFFFF"/>
                          </a:solidFill>
                          <a:latin typeface="Arial"/>
                          <a:ea typeface="Arial"/>
                          <a:cs typeface="Arial"/>
                        </a:rPr>
                        <a:t>Decision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Rule 3</a:t>
                      </a:r>
                    </a:p>
                  </a:txBody>
                  <a:tcPr marL="91440" marR="91440" marT="45720" marB="45720">
                    <a:solidFill>
                      <a:srgbClr val="FFFFFF"/>
                    </a:solidFill>
                  </a:tcPr>
                </a:tc>
                <a:tc>
                  <a:txBody>
                    <a:bodyPr/>
                    <a:lstStyle/>
                    <a:p>
                      <a:r>
                        <a:rPr sz="1650" b="0">
                          <a:solidFill>
                            <a:srgbClr val="172C42"/>
                          </a:solidFill>
                          <a:latin typeface="Arial"/>
                          <a:ea typeface="Arial"/>
                          <a:cs typeface="Arial"/>
                        </a:rPr>
                        <a:t>Multiple records with the same QC</a:t>
                      </a:r>
                    </a:p>
                  </a:txBody>
                  <a:tcPr marL="91440" marR="91440" marT="45720" marB="45720">
                    <a:solidFill>
                      <a:srgbClr val="FFFFFF"/>
                    </a:solidFill>
                  </a:tcPr>
                </a:tc>
                <a:tc>
                  <a:txBody>
                    <a:bodyPr/>
                    <a:lstStyle/>
                    <a:p>
                      <a:r>
                        <a:rPr sz="1650" b="0">
                          <a:solidFill>
                            <a:srgbClr val="172C42"/>
                          </a:solidFill>
                          <a:latin typeface="Arial"/>
                          <a:ea typeface="Arial"/>
                          <a:cs typeface="Arial"/>
                        </a:rPr>
                        <a:t>Newest per unique ICN retained</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10A</a:t>
                      </a:r>
                    </a:p>
                  </a:txBody>
                  <a:tcPr marL="91440" marR="91440" marT="45720" marB="45720">
                    <a:solidFill>
                      <a:srgbClr val="EAF0F1"/>
                    </a:solidFill>
                  </a:tcPr>
                </a:tc>
                <a:tc>
                  <a:txBody>
                    <a:bodyPr/>
                    <a:lstStyle/>
                    <a:p>
                      <a:r>
                        <a:rPr sz="1650" b="0">
                          <a:solidFill>
                            <a:srgbClr val="172C42"/>
                          </a:solidFill>
                          <a:latin typeface="Arial"/>
                          <a:ea typeface="Arial"/>
                          <a:cs typeface="Arial"/>
                        </a:rPr>
                        <a:t>Has 5; count QC0 &gt; count QC5</a:t>
                      </a:r>
                    </a:p>
                  </a:txBody>
                  <a:tcPr marL="91440" marR="91440" marT="45720" marB="45720">
                    <a:solidFill>
                      <a:srgbClr val="EAF0F1"/>
                    </a:solidFill>
                  </a:tcPr>
                </a:tc>
                <a:tc>
                  <a:txBody>
                    <a:bodyPr/>
                    <a:lstStyle/>
                    <a:p>
                      <a:r>
                        <a:rPr sz="1650" b="0">
                          <a:solidFill>
                            <a:srgbClr val="172C42"/>
                          </a:solidFill>
                          <a:latin typeface="Arial"/>
                          <a:ea typeface="Arial"/>
                          <a:cs typeface="Arial"/>
                        </a:rPr>
                        <a:t>Retain eligible nonzero ICNs occurring exactly once</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10B</a:t>
                      </a:r>
                    </a:p>
                  </a:txBody>
                  <a:tcPr marL="91440" marR="91440" marT="45720" marB="45720">
                    <a:solidFill>
                      <a:srgbClr val="FFFFFF"/>
                    </a:solidFill>
                  </a:tcPr>
                </a:tc>
                <a:tc>
                  <a:txBody>
                    <a:bodyPr/>
                    <a:lstStyle/>
                    <a:p>
                      <a:r>
                        <a:rPr sz="1650" b="0">
                          <a:solidFill>
                            <a:srgbClr val="172C42"/>
                          </a:solidFill>
                          <a:latin typeface="Arial"/>
                          <a:ea typeface="Arial"/>
                          <a:cs typeface="Arial"/>
                        </a:rPr>
                        <a:t>Has 5; not earlier 6/10A route</a:t>
                      </a:r>
                    </a:p>
                  </a:txBody>
                  <a:tcPr marL="91440" marR="91440" marT="45720" marB="45720">
                    <a:solidFill>
                      <a:srgbClr val="FFFFFF"/>
                    </a:solidFill>
                  </a:tcPr>
                </a:tc>
                <a:tc>
                  <a:txBody>
                    <a:bodyPr/>
                    <a:lstStyle/>
                    <a:p>
                      <a:r>
                        <a:rPr sz="1650" b="0">
                          <a:solidFill>
                            <a:srgbClr val="172C42"/>
                          </a:solidFill>
                          <a:latin typeface="Arial"/>
                          <a:ea typeface="Arial"/>
                          <a:cs typeface="Arial"/>
                        </a:rPr>
                        <a:t>KEEP newest nonzero only</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7 / 8 / 9</a:t>
                      </a:r>
                    </a:p>
                  </a:txBody>
                  <a:tcPr marL="91440" marR="91440" marT="45720" marB="45720">
                    <a:solidFill>
                      <a:srgbClr val="EAF0F1"/>
                    </a:solidFill>
                  </a:tcPr>
                </a:tc>
                <a:tc>
                  <a:txBody>
                    <a:bodyPr/>
                    <a:lstStyle/>
                    <a:p>
                      <a:r>
                        <a:rPr sz="1650" b="0">
                          <a:solidFill>
                            <a:srgbClr val="172C42"/>
                          </a:solidFill>
                          <a:latin typeface="Arial"/>
                          <a:ea typeface="Arial"/>
                          <a:cs typeface="Arial"/>
                        </a:rPr>
                        <a:t>No 5; count/newest-QC patterns</a:t>
                      </a:r>
                    </a:p>
                  </a:txBody>
                  <a:tcPr marL="91440" marR="91440" marT="45720" marB="45720">
                    <a:solidFill>
                      <a:srgbClr val="EAF0F1"/>
                    </a:solidFill>
                  </a:tcPr>
                </a:tc>
                <a:tc>
                  <a:txBody>
                    <a:bodyPr/>
                    <a:lstStyle/>
                    <a:p>
                      <a:r>
                        <a:rPr sz="1650" b="0">
                          <a:solidFill>
                            <a:srgbClr val="172C42"/>
                          </a:solidFill>
                          <a:latin typeface="Arial"/>
                          <a:ea typeface="Arial"/>
                          <a:cs typeface="Arial"/>
                        </a:rPr>
                        <a:t>Retain eligible unique nonzero ICNs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Default</a:t>
                      </a:r>
                    </a:p>
                  </a:txBody>
                  <a:tcPr marL="91440" marR="91440" marT="45720" marB="45720">
                    <a:solidFill>
                      <a:srgbClr val="FFFFFF"/>
                    </a:solidFill>
                  </a:tcPr>
                </a:tc>
                <a:tc>
                  <a:txBody>
                    <a:bodyPr/>
                    <a:lstStyle/>
                    <a:p>
                      <a:r>
                        <a:rPr sz="1650" b="0">
                          <a:solidFill>
                            <a:srgbClr val="172C42"/>
                          </a:solidFill>
                          <a:latin typeface="Arial"/>
                          <a:ea typeface="Arial"/>
                          <a:cs typeface="Arial"/>
                        </a:rPr>
                        <a:t>No approved route or ambiguous operands</a:t>
                      </a:r>
                    </a:p>
                  </a:txBody>
                  <a:tcPr marL="91440" marR="91440" marT="45720" marB="45720">
                    <a:solidFill>
                      <a:srgbClr val="FFFFFF"/>
                    </a:solidFill>
                  </a:tcPr>
                </a:tc>
                <a:tc>
                  <a:txBody>
                    <a:bodyPr/>
                    <a:lstStyle/>
                    <a:p>
                      <a:r>
                        <a:rPr sz="1650" b="0">
                          <a:solidFill>
                            <a:srgbClr val="172C42"/>
                          </a:solidFill>
                          <a:latin typeface="Arial"/>
                          <a:ea typeface="Arial"/>
                          <a:cs typeface="Arial"/>
                        </a:rPr>
                        <a:t>BLOCKED; no guessed KEEP/DROP</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09355490"/>
      </p:ext>
    </p:extLst>
  </p:cSld>
</p:sld>
</file>

<file path=ppt/slides/slide17.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DE8AD6-467B-4C6E-9410-BF1198F451BA}"/>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FINAL ACTION</a:t>
            </a:r>
          </a:p>
        </p:txBody>
      </p:sp>
      <p:sp>
        <p:nvSpPr>
          <p:cNvPr id="2" name="">
            <a:extLst xmlns:a="http://schemas.openxmlformats.org/drawingml/2006/main">
              <a:ext uri="{FF2B5EF4-FFF2-40B4-BE49-F238E27FC236}">
                <a16:creationId xmlns:a16="http://schemas.microsoft.com/office/drawing/2014/main" id="{12F45580-CD8E-4190-A53B-35D78E5D64FF}"/>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Final Action: output reconciliation</a:t>
            </a:r>
          </a:p>
        </p:txBody>
      </p:sp>
      <p:sp>
        <p:nvSpPr>
          <p:cNvPr id="3" name="">
            <a:extLst xmlns:a="http://schemas.openxmlformats.org/drawingml/2006/main">
              <a:ext uri="{FF2B5EF4-FFF2-40B4-BE49-F238E27FC236}">
                <a16:creationId xmlns:a16="http://schemas.microsoft.com/office/drawing/2014/main" id="{404399A9-EBF3-4BAB-8005-77EC4C4A4DE3}"/>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DCABC284-0BA3-4FF4-8DDD-C8087755EA9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E871FEFB-448B-4DBC-B041-E9CE2AB1BA47}"/>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98104DD-8ED2-4C96-B0B6-329F12BE069C}"/>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Each valid claim must receive one decision or an explicit blocked/error result.</a:t>
            </a:r>
          </a:p>
        </p:txBody>
      </p:sp>
      <p:sp>
        <p:nvSpPr>
          <p:cNvPr id="7" name="">
            <a:extLst xmlns:a="http://schemas.openxmlformats.org/drawingml/2006/main">
              <a:ext uri="{FF2B5EF4-FFF2-40B4-BE49-F238E27FC236}">
                <a16:creationId xmlns:a16="http://schemas.microsoft.com/office/drawing/2014/main" id="{AF8463F2-A4D8-444F-9E9A-4D9E930617D6}"/>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B05CDC0-5271-42FA-8584-1B56B3F57187}"/>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Actual retained identities must match predicted KEEP identities.</a:t>
            </a:r>
          </a:p>
        </p:txBody>
      </p:sp>
      <p:sp>
        <p:nvSpPr>
          <p:cNvPr id="9" name="">
            <a:extLst xmlns:a="http://schemas.openxmlformats.org/drawingml/2006/main">
              <a:ext uri="{FF2B5EF4-FFF2-40B4-BE49-F238E27FC236}">
                <a16:creationId xmlns:a16="http://schemas.microsoft.com/office/drawing/2014/main" id="{A1B9BC89-CD57-4C83-A137-E763B4CB605D}"/>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3E8E445-BBB2-4AAB-A77F-4D857A372D12}"/>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Missing, unexpected and duplicate output claims are reported separately.</a:t>
            </a:r>
          </a:p>
        </p:txBody>
      </p:sp>
      <p:sp>
        <p:nvSpPr>
          <p:cNvPr id="11" name="">
            <a:extLst xmlns:a="http://schemas.openxmlformats.org/drawingml/2006/main">
              <a:ext uri="{FF2B5EF4-FFF2-40B4-BE49-F238E27FC236}">
                <a16:creationId xmlns:a16="http://schemas.microsoft.com/office/drawing/2014/main" id="{E48F057C-4267-499D-9806-5CFEA4421243}"/>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D8D2B089-3D23-4697-AD0D-F1CF96BB04AA}"/>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Ordering evidence explains why the retained record was selected.</a:t>
            </a:r>
          </a:p>
        </p:txBody>
      </p:sp>
    </p:spTree>
    <p:extLst>
      <p:ext uri="{BB962C8B-B14F-4D97-AF65-F5344CB8AC3E}">
        <p14:creationId xmlns:p14="http://schemas.microsoft.com/office/powerpoint/2010/main" val="1413730709"/>
      </p:ext>
    </p:extLst>
  </p:cSld>
</p:sld>
</file>

<file path=ppt/slides/slide18.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F82179-88F2-49F1-ABE0-FF55C66A6656}"/>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SPLIT</a:t>
            </a:r>
          </a:p>
        </p:txBody>
      </p:sp>
      <p:sp>
        <p:nvSpPr>
          <p:cNvPr id="2" name="">
            <a:extLst xmlns:a="http://schemas.openxmlformats.org/drawingml/2006/main">
              <a:ext uri="{FF2B5EF4-FFF2-40B4-BE49-F238E27FC236}">
                <a16:creationId xmlns:a16="http://schemas.microsoft.com/office/drawing/2014/main" id="{C5F475BA-5DF1-4CF7-B457-FCB15BF227ED}"/>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Split: window and accounting rules</a:t>
            </a:r>
          </a:p>
        </p:txBody>
      </p:sp>
      <p:sp>
        <p:nvSpPr>
          <p:cNvPr id="3" name="">
            <a:extLst xmlns:a="http://schemas.openxmlformats.org/drawingml/2006/main">
              <a:ext uri="{FF2B5EF4-FFF2-40B4-BE49-F238E27FC236}">
                <a16:creationId xmlns:a16="http://schemas.microsoft.com/office/drawing/2014/main" id="{AC4B41C6-D1D4-486E-9175-8F2470B0B699}"/>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67575D97-5AE2-4544-AE30-56B99D62096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89C87F68-8706-4FCC-BA41-13128545450A}"/>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095625"/>
                <a:gridCol w="7877175"/>
              </a:tblGrid>
              <a:tr h="619125">
                <a:tc>
                  <a:txBody>
                    <a:bodyPr/>
                    <a:lstStyle/>
                    <a:p>
                      <a:r>
                        <a:rPr sz="1575" b="1">
                          <a:solidFill>
                            <a:srgbClr val="FFFFFF"/>
                          </a:solidFill>
                          <a:latin typeface="Arial"/>
                          <a:ea typeface="Arial"/>
                          <a:cs typeface="Arial"/>
                        </a:rPr>
                        <a:t>Rule family</a:t>
                      </a:r>
                    </a:p>
                  </a:txBody>
                  <a:tcPr marL="91440" marR="91440" marT="45720" marB="45720">
                    <a:solidFill>
                      <a:srgbClr val="0B192B"/>
                    </a:solidFill>
                  </a:tcPr>
                </a:tc>
                <a:tc>
                  <a:txBody>
                    <a:bodyPr/>
                    <a:lstStyle/>
                    <a:p>
                      <a:r>
                        <a:rPr sz="1575" b="1">
                          <a:solidFill>
                            <a:srgbClr val="FFFFFF"/>
                          </a:solidFill>
                          <a:latin typeface="Arial"/>
                          <a:ea typeface="Arial"/>
                          <a:cs typeface="Arial"/>
                        </a:rPr>
                        <a:t>Implementation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Four-year eligibility</a:t>
                      </a:r>
                    </a:p>
                  </a:txBody>
                  <a:tcPr marL="91440" marR="91440" marT="45720" marB="45720">
                    <a:solidFill>
                      <a:srgbClr val="FFFFFF"/>
                    </a:solidFill>
                  </a:tcPr>
                </a:tc>
                <a:tc>
                  <a:txBody>
                    <a:bodyPr/>
                    <a:lstStyle/>
                    <a:p>
                      <a:r>
                        <a:rPr sz="1650" b="0">
                          <a:solidFill>
                            <a:srgbClr val="172C42"/>
                          </a:solidFill>
                          <a:latin typeface="Arial"/>
                          <a:ea typeface="Arial"/>
                          <a:cs typeface="Arial"/>
                        </a:rPr>
                        <a:t>Run year and preceding three calendar years; not a rolling date window</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Reference date</a:t>
                      </a:r>
                    </a:p>
                  </a:txBody>
                  <a:tcPr marL="91440" marR="91440" marT="45720" marB="45720">
                    <a:solidFill>
                      <a:srgbClr val="EAF0F1"/>
                    </a:solidFill>
                  </a:tcPr>
                </a:tc>
                <a:tc>
                  <a:txBody>
                    <a:bodyPr/>
                    <a:lstStyle/>
                    <a:p>
                      <a:r>
                        <a:rPr sz="1650" b="0">
                          <a:solidFill>
                            <a:srgbClr val="172C42"/>
                          </a:solidFill>
                          <a:latin typeface="Arial"/>
                          <a:ea typeface="Arial"/>
                          <a:cs typeface="Arial"/>
                        </a:rPr>
                        <a:t>SNF admission with from-date fallback; IP group through date</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Indicators</a:t>
                      </a:r>
                    </a:p>
                  </a:txBody>
                  <a:tcPr marL="91440" marR="91440" marT="45720" marB="45720">
                    <a:solidFill>
                      <a:srgbClr val="FFFFFF"/>
                    </a:solidFill>
                  </a:tcPr>
                </a:tc>
                <a:tc>
                  <a:txBody>
                    <a:bodyPr/>
                    <a:lstStyle/>
                    <a:p>
                      <a:r>
                        <a:rPr sz="1650" b="0">
                          <a:solidFill>
                            <a:srgbClr val="172C42"/>
                          </a:solidFill>
                          <a:latin typeface="Arial"/>
                          <a:ea typeface="Arial"/>
                          <a:cs typeface="Arial"/>
                        </a:rPr>
                        <a:t>Y0–Y3; Jan–Sep 0109, Oct–Dec 1012; invalid/outside fallback</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Input policy</a:t>
                      </a:r>
                    </a:p>
                  </a:txBody>
                  <a:tcPr marL="91440" marR="91440" marT="45720" marB="45720">
                    <a:solidFill>
                      <a:srgbClr val="EAF0F1"/>
                    </a:solidFill>
                  </a:tcPr>
                </a:tc>
                <a:tc>
                  <a:txBody>
                    <a:bodyPr/>
                    <a:lstStyle/>
                    <a:p>
                      <a:r>
                        <a:rPr sz="1650" b="0">
                          <a:solidFill>
                            <a:srgbClr val="172C42"/>
                          </a:solidFill>
                          <a:latin typeface="Arial"/>
                          <a:ea typeface="Arial"/>
                          <a:cs typeface="Arial"/>
                        </a:rPr>
                        <a:t>Transaction codes 0–4; no default SNF 0/4 bypass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Accounting + capacity</a:t>
                      </a:r>
                    </a:p>
                  </a:txBody>
                  <a:tcPr marL="91440" marR="91440" marT="45720" marB="45720">
                    <a:solidFill>
                      <a:srgbClr val="FFFFFF"/>
                    </a:solidFill>
                  </a:tcPr>
                </a:tc>
                <a:tc>
                  <a:txBody>
                    <a:bodyPr/>
                    <a:lstStyle/>
                    <a:p>
                      <a:r>
                        <a:rPr sz="1650" b="0">
                          <a:solidFill>
                            <a:srgbClr val="172C42"/>
                          </a:solidFill>
                          <a:latin typeface="Arial"/>
                          <a:ea typeface="Arial"/>
                          <a:cs typeface="Arial"/>
                        </a:rPr>
                        <a:t>Signed charges balance; &gt;75 bills audited without silent truncation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83288153"/>
      </p:ext>
    </p:extLst>
  </p:cSld>
</p:sld>
</file>

<file path=ppt/slides/slide19.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D33F42-1CB4-40C5-ACD7-A6AF6895BA18}"/>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STAY</a:t>
            </a:r>
          </a:p>
        </p:txBody>
      </p:sp>
      <p:sp>
        <p:nvSpPr>
          <p:cNvPr id="2" name="">
            <a:extLst xmlns:a="http://schemas.openxmlformats.org/drawingml/2006/main">
              <a:ext uri="{FF2B5EF4-FFF2-40B4-BE49-F238E27FC236}">
                <a16:creationId xmlns:a16="http://schemas.microsoft.com/office/drawing/2014/main" id="{D286DF9E-4B52-42D4-9CF4-37873B91AB47}"/>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Stay: identity and merge policies</a:t>
            </a:r>
          </a:p>
        </p:txBody>
      </p:sp>
      <p:sp>
        <p:nvSpPr>
          <p:cNvPr id="3" name="">
            <a:extLst xmlns:a="http://schemas.openxmlformats.org/drawingml/2006/main">
              <a:ext uri="{FF2B5EF4-FFF2-40B4-BE49-F238E27FC236}">
                <a16:creationId xmlns:a16="http://schemas.microsoft.com/office/drawing/2014/main" id="{55D63E44-0ADD-409C-8DEA-730FB1A12CF9}"/>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8E980914-806B-438B-8045-E1C08FF4CE9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5CD5439C-30F4-4218-B373-392DE7D5FF85}"/>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095625"/>
                <a:gridCol w="7877175"/>
              </a:tblGrid>
              <a:tr h="619125">
                <a:tc>
                  <a:txBody>
                    <a:bodyPr/>
                    <a:lstStyle/>
                    <a:p>
                      <a:r>
                        <a:rPr sz="1575" b="1">
                          <a:solidFill>
                            <a:srgbClr val="FFFFFF"/>
                          </a:solidFill>
                          <a:latin typeface="Arial"/>
                          <a:ea typeface="Arial"/>
                          <a:cs typeface="Arial"/>
                        </a:rPr>
                        <a:t>Rule family</a:t>
                      </a:r>
                    </a:p>
                  </a:txBody>
                  <a:tcPr marL="91440" marR="91440" marT="45720" marB="45720">
                    <a:solidFill>
                      <a:srgbClr val="0B192B"/>
                    </a:solidFill>
                  </a:tcPr>
                </a:tc>
                <a:tc>
                  <a:txBody>
                    <a:bodyPr/>
                    <a:lstStyle/>
                    <a:p>
                      <a:r>
                        <a:rPr sz="1575" b="1">
                          <a:solidFill>
                            <a:srgbClr val="FFFFFF"/>
                          </a:solidFill>
                          <a:latin typeface="Arial"/>
                          <a:ea typeface="Arial"/>
                          <a:cs typeface="Arial"/>
                        </a:rPr>
                        <a:t>Implementation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Stay identity</a:t>
                      </a:r>
                    </a:p>
                  </a:txBody>
                  <a:tcPr marL="91440" marR="91440" marT="45720" marB="45720">
                    <a:solidFill>
                      <a:srgbClr val="FFFFFF"/>
                    </a:solidFill>
                  </a:tcPr>
                </a:tc>
                <a:tc>
                  <a:txBody>
                    <a:bodyPr/>
                    <a:lstStyle/>
                    <a:p>
                      <a:r>
                        <a:rPr sz="1650" b="0">
                          <a:solidFill>
                            <a:srgbClr val="172C42"/>
                          </a:solidFill>
                          <a:latin typeface="Arial"/>
                          <a:ea typeface="Arial"/>
                          <a:cs typeface="Arial"/>
                        </a:rPr>
                        <a:t>HICN + provider + admission + split indicator</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Sort order</a:t>
                      </a:r>
                    </a:p>
                  </a:txBody>
                  <a:tcPr marL="91440" marR="91440" marT="45720" marB="45720">
                    <a:solidFill>
                      <a:srgbClr val="EAF0F1"/>
                    </a:solidFill>
                  </a:tcPr>
                </a:tc>
                <a:tc>
                  <a:txBody>
                    <a:bodyPr/>
                    <a:lstStyle/>
                    <a:p>
                      <a:r>
                        <a:rPr sz="1650" b="0">
                          <a:solidFill>
                            <a:srgbClr val="172C42"/>
                          </a:solidFill>
                          <a:latin typeface="Arial"/>
                          <a:ea typeface="Arial"/>
                          <a:cs typeface="Arial"/>
                        </a:rPr>
                        <a:t>Source dates then processing/accretion/QC/ICN ordering</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Field policies</a:t>
                      </a:r>
                    </a:p>
                  </a:txBody>
                  <a:tcPr marL="91440" marR="91440" marT="45720" marB="45720">
                    <a:solidFill>
                      <a:srgbClr val="FFFFFF"/>
                    </a:solidFill>
                  </a:tcPr>
                </a:tc>
                <a:tc>
                  <a:txBody>
                    <a:bodyPr/>
                    <a:lstStyle/>
                    <a:p>
                      <a:r>
                        <a:rPr sz="1650" b="0">
                          <a:solidFill>
                            <a:srgbClr val="172C42"/>
                          </a:solidFill>
                          <a:latin typeface="Arial"/>
                          <a:ea typeface="Arial"/>
                          <a:cs typeface="Arial"/>
                        </a:rPr>
                        <a:t>First, last, first nonblank, high/low date and Decimal SUM</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Arrays</a:t>
                      </a:r>
                    </a:p>
                  </a:txBody>
                  <a:tcPr marL="91440" marR="91440" marT="45720" marB="45720">
                    <a:solidFill>
                      <a:srgbClr val="EAF0F1"/>
                    </a:solidFill>
                  </a:tcPr>
                </a:tc>
                <a:tc>
                  <a:txBody>
                    <a:bodyPr/>
                    <a:lstStyle/>
                    <a:p>
                      <a:r>
                        <a:rPr sz="1650" b="0">
                          <a:solidFill>
                            <a:srgbClr val="172C42"/>
                          </a:solidFill>
                          <a:latin typeface="Arial"/>
                          <a:ea typeface="Arial"/>
                          <a:cs typeface="Arial"/>
                        </a:rPr>
                        <a:t>All revenues; latest-claim condition/occurrence/value/span objects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Safety checks</a:t>
                      </a:r>
                    </a:p>
                  </a:txBody>
                  <a:tcPr marL="91440" marR="91440" marT="45720" marB="45720">
                    <a:solidFill>
                      <a:srgbClr val="FFFFFF"/>
                    </a:solidFill>
                  </a:tcPr>
                </a:tc>
                <a:tc>
                  <a:txBody>
                    <a:bodyPr/>
                    <a:lstStyle/>
                    <a:p>
                      <a:r>
                        <a:rPr sz="1650" b="0">
                          <a:solidFill>
                            <a:srgbClr val="172C42"/>
                          </a:solidFill>
                          <a:latin typeface="Arial"/>
                          <a:ea typeface="Arial"/>
                          <a:cs typeface="Arial"/>
                        </a:rPr>
                        <a:t>Dates, required operands, known codes and merge reconciliation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49213"/>
      </p:ext>
    </p:extLst>
  </p:cSld>
</p:sld>
</file>

<file path=ppt/slides/slide20.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F51B5A-3027-4651-B4A8-937921ED3359}"/>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STAY</a:t>
            </a:r>
          </a:p>
        </p:txBody>
      </p:sp>
      <p:sp>
        <p:nvSpPr>
          <p:cNvPr id="2" name="">
            <a:extLst xmlns:a="http://schemas.openxmlformats.org/drawingml/2006/main">
              <a:ext uri="{FF2B5EF4-FFF2-40B4-BE49-F238E27FC236}">
                <a16:creationId xmlns:a16="http://schemas.microsoft.com/office/drawing/2014/main" id="{F740149D-4D74-4F12-A797-C0BC35955645}"/>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Stay: warnings and repeated codes</a:t>
            </a:r>
          </a:p>
        </p:txBody>
      </p:sp>
      <p:sp>
        <p:nvSpPr>
          <p:cNvPr id="3" name="">
            <a:extLst xmlns:a="http://schemas.openxmlformats.org/drawingml/2006/main">
              <a:ext uri="{FF2B5EF4-FFF2-40B4-BE49-F238E27FC236}">
                <a16:creationId xmlns:a16="http://schemas.microsoft.com/office/drawing/2014/main" id="{B61D2E16-A63E-40F6-BB00-54C66FEB8B5B}"/>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63001769-BD0E-4F0F-B8C0-E3FA25A9A27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29DD2316-D2B4-4A0E-9791-0ED408F66B4E}"/>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D4303E6-31D0-48E2-AA21-D05D2FB1C5C1}"/>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Occurrence spans with the same code but different dates remain distinct; cap 10.</a:t>
            </a:r>
          </a:p>
        </p:txBody>
      </p:sp>
      <p:sp>
        <p:nvSpPr>
          <p:cNvPr id="7" name="">
            <a:extLst xmlns:a="http://schemas.openxmlformats.org/drawingml/2006/main">
              <a:ext uri="{FF2B5EF4-FFF2-40B4-BE49-F238E27FC236}">
                <a16:creationId xmlns:a16="http://schemas.microsoft.com/office/drawing/2014/main" id="{1E64712D-98BE-4715-8B12-BAC0A55D2A2C}"/>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886FB1B-AD28-4C0C-A3A5-3782636C5CD1}"/>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Warning 01 evaluates the documented query-code combination.</a:t>
            </a:r>
          </a:p>
        </p:txBody>
      </p:sp>
      <p:sp>
        <p:nvSpPr>
          <p:cNvPr id="9" name="">
            <a:extLst xmlns:a="http://schemas.openxmlformats.org/drawingml/2006/main">
              <a:ext uri="{FF2B5EF4-FFF2-40B4-BE49-F238E27FC236}">
                <a16:creationId xmlns:a16="http://schemas.microsoft.com/office/drawing/2014/main" id="{7A49B2D0-CFDA-42E0-A3CE-066FC7EB6530}"/>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74362B8-965C-4C3A-80FF-7C9B85DA772E}"/>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Warning 05 distinguishes a single bill, SNF undischarged and other merged stays.</a:t>
            </a:r>
          </a:p>
        </p:txBody>
      </p:sp>
      <p:sp>
        <p:nvSpPr>
          <p:cNvPr id="11" name="">
            <a:extLst xmlns:a="http://schemas.openxmlformats.org/drawingml/2006/main">
              <a:ext uri="{FF2B5EF4-FFF2-40B4-BE49-F238E27FC236}">
                <a16:creationId xmlns:a16="http://schemas.microsoft.com/office/drawing/2014/main" id="{A5E61417-ACC0-42E5-B6B7-98251A5B1AE8}"/>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2A7AEA4-8F65-4BD6-A3A5-53A591585349}"/>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Unapproved cancel/duplicate warning tables remain acceptance dependencies.</a:t>
            </a:r>
          </a:p>
        </p:txBody>
      </p:sp>
    </p:spTree>
    <p:extLst>
      <p:ext uri="{BB962C8B-B14F-4D97-AF65-F5344CB8AC3E}">
        <p14:creationId xmlns:p14="http://schemas.microsoft.com/office/powerpoint/2010/main" val="1906713749"/>
      </p:ext>
    </p:extLst>
  </p:cSld>
</p:sld>
</file>

<file path=ppt/slides/slide21.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00992A-4D29-4040-8FDC-F312439F17B0}"/>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INTERMEDIATE</a:t>
            </a:r>
          </a:p>
        </p:txBody>
      </p:sp>
      <p:sp>
        <p:nvSpPr>
          <p:cNvPr id="2" name="">
            <a:extLst xmlns:a="http://schemas.openxmlformats.org/drawingml/2006/main">
              <a:ext uri="{FF2B5EF4-FFF2-40B4-BE49-F238E27FC236}">
                <a16:creationId xmlns:a16="http://schemas.microsoft.com/office/drawing/2014/main" id="{B44B3650-EC58-4A28-8C65-FD02824F9B20}"/>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Intermediate: dates, age and references</a:t>
            </a:r>
          </a:p>
        </p:txBody>
      </p:sp>
      <p:sp>
        <p:nvSpPr>
          <p:cNvPr id="3" name="">
            <a:extLst xmlns:a="http://schemas.openxmlformats.org/drawingml/2006/main">
              <a:ext uri="{FF2B5EF4-FFF2-40B4-BE49-F238E27FC236}">
                <a16:creationId xmlns:a16="http://schemas.microsoft.com/office/drawing/2014/main" id="{91035516-4EDA-4445-9D65-BB8F4DEE0D33}"/>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212E18C0-8B48-4D0E-85B1-B63BEAF96D2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21</a:t>
            </a:r>
          </a:p>
        </p:txBody>
      </p:sp>
      <p:graphicFrame>
        <p:nvGraphicFramePr>
          <p:cNvPr id="5" name="">
            <a:extLst xmlns:a="http://schemas.openxmlformats.org/drawingml/2006/main">
              <a:ext uri="{FF2B5EF4-FFF2-40B4-BE49-F238E27FC236}">
                <a16:creationId xmlns:a16="http://schemas.microsoft.com/office/drawing/2014/main" id="{EFDB2E27-1105-4671-93FD-C57F47CD8C56}"/>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095625"/>
                <a:gridCol w="7877175"/>
              </a:tblGrid>
              <a:tr h="619125">
                <a:tc>
                  <a:txBody>
                    <a:bodyPr/>
                    <a:lstStyle/>
                    <a:p>
                      <a:r>
                        <a:rPr sz="1575" b="1">
                          <a:solidFill>
                            <a:srgbClr val="FFFFFF"/>
                          </a:solidFill>
                          <a:latin typeface="Arial"/>
                          <a:ea typeface="Arial"/>
                          <a:cs typeface="Arial"/>
                        </a:rPr>
                        <a:t>Rule family</a:t>
                      </a:r>
                    </a:p>
                  </a:txBody>
                  <a:tcPr marL="91440" marR="91440" marT="45720" marB="45720">
                    <a:solidFill>
                      <a:srgbClr val="0B192B"/>
                    </a:solidFill>
                  </a:tcPr>
                </a:tc>
                <a:tc>
                  <a:txBody>
                    <a:bodyPr/>
                    <a:lstStyle/>
                    <a:p>
                      <a:r>
                        <a:rPr sz="1575" b="1">
                          <a:solidFill>
                            <a:srgbClr val="FFFFFF"/>
                          </a:solidFill>
                          <a:latin typeface="Arial"/>
                          <a:ea typeface="Arial"/>
                          <a:cs typeface="Arial"/>
                        </a:rPr>
                        <a:t>Calculation / decision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Matching</a:t>
                      </a:r>
                    </a:p>
                  </a:txBody>
                  <a:tcPr marL="91440" marR="91440" marT="45720" marB="45720">
                    <a:solidFill>
                      <a:srgbClr val="FFFFFF"/>
                    </a:solidFill>
                  </a:tcPr>
                </a:tc>
                <a:tc>
                  <a:txBody>
                    <a:bodyPr/>
                    <a:lstStyle/>
                    <a:p>
                      <a:r>
                        <a:rPr sz="1650" b="0">
                          <a:solidFill>
                            <a:srgbClr val="172C42"/>
                          </a:solidFill>
                          <a:latin typeface="Arial"/>
                          <a:ea typeface="Arial"/>
                          <a:cs typeface="Arial"/>
                        </a:rPr>
                        <a:t>Complete identity; duplicate actual identities prevent unique comparison</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Date window + LOS</a:t>
                      </a:r>
                    </a:p>
                  </a:txBody>
                  <a:tcPr marL="91440" marR="91440" marT="45720" marB="45720">
                    <a:solidFill>
                      <a:srgbClr val="EAF0F1"/>
                    </a:solidFill>
                  </a:tcPr>
                </a:tc>
                <a:tc>
                  <a:txBody>
                    <a:bodyPr/>
                    <a:lstStyle/>
                    <a:p>
                      <a:r>
                        <a:rPr sz="1650" b="0">
                          <a:solidFill>
                            <a:srgbClr val="172C42"/>
                          </a:solidFill>
                          <a:latin typeface="Arial"/>
                          <a:ea typeface="Arial"/>
                          <a:cs typeface="Arial"/>
                        </a:rPr>
                        <a:t>Five-year Jan-1 window; LOS at least 1; undischarged day adjustment</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Age</a:t>
                      </a:r>
                    </a:p>
                  </a:txBody>
                  <a:tcPr marL="91440" marR="91440" marT="45720" marB="45720">
                    <a:solidFill>
                      <a:srgbClr val="FFFFFF"/>
                    </a:solidFill>
                  </a:tcPr>
                </a:tc>
                <a:tc>
                  <a:txBody>
                    <a:bodyPr/>
                    <a:lstStyle/>
                    <a:p>
                      <a:r>
                        <a:rPr sz="1650" b="0">
                          <a:solidFill>
                            <a:srgbClr val="172C42"/>
                          </a:solidFill>
                          <a:latin typeface="Arial"/>
                          <a:ea typeface="Arial"/>
                          <a:cs typeface="Arial"/>
                        </a:rPr>
                        <a:t>Birthday-aware age; documented age-64 exception to 65</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Death data</a:t>
                      </a:r>
                    </a:p>
                  </a:txBody>
                  <a:tcPr marL="91440" marR="91440" marT="45720" marB="45720">
                    <a:solidFill>
                      <a:srgbClr val="EAF0F1"/>
                    </a:solidFill>
                  </a:tcPr>
                </a:tc>
                <a:tc>
                  <a:txBody>
                    <a:bodyPr/>
                    <a:lstStyle/>
                    <a:p>
                      <a:r>
                        <a:rPr sz="1650" b="0">
                          <a:solidFill>
                            <a:srgbClr val="172C42"/>
                          </a:solidFill>
                          <a:latin typeface="Arial"/>
                          <a:ea typeface="Arial"/>
                          <a:cs typeface="Arial"/>
                        </a:rPr>
                        <a:t>Verified reference/source date or documented death-status fallback</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SSI</a:t>
                      </a:r>
                    </a:p>
                  </a:txBody>
                  <a:tcPr marL="91440" marR="91440" marT="45720" marB="45720">
                    <a:solidFill>
                      <a:srgbClr val="FFFFFF"/>
                    </a:solidFill>
                  </a:tcPr>
                </a:tc>
                <a:tc>
                  <a:txBody>
                    <a:bodyPr/>
                    <a:lstStyle/>
                    <a:p>
                      <a:r>
                        <a:rPr sz="1650" b="0">
                          <a:solidFill>
                            <a:srgbClr val="172C42"/>
                          </a:solidFill>
                          <a:latin typeface="Arial"/>
                          <a:ea typeface="Arial"/>
                          <a:cs typeface="Arial"/>
                        </a:rPr>
                        <a:t>Monthly reference flags, IP admission-inclusive/discharge-exclusive counting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03106627"/>
      </p:ext>
    </p:extLst>
  </p:cSld>
</p:sld>
</file>

<file path=ppt/slides/slide22.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733106-457C-422A-AFCA-203396104D01}"/>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INTERMEDIATE</a:t>
            </a:r>
          </a:p>
        </p:txBody>
      </p:sp>
      <p:sp>
        <p:nvSpPr>
          <p:cNvPr id="2" name="">
            <a:extLst xmlns:a="http://schemas.openxmlformats.org/drawingml/2006/main">
              <a:ext uri="{FF2B5EF4-FFF2-40B4-BE49-F238E27FC236}">
                <a16:creationId xmlns:a16="http://schemas.microsoft.com/office/drawing/2014/main" id="{43B6A75C-B80C-470A-9AE2-A4726FB2321A}"/>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Intermediate: payments and precision</a:t>
            </a:r>
          </a:p>
        </p:txBody>
      </p:sp>
      <p:sp>
        <p:nvSpPr>
          <p:cNvPr id="3" name="">
            <a:extLst xmlns:a="http://schemas.openxmlformats.org/drawingml/2006/main">
              <a:ext uri="{FF2B5EF4-FFF2-40B4-BE49-F238E27FC236}">
                <a16:creationId xmlns:a16="http://schemas.microsoft.com/office/drawing/2014/main" id="{0D82E3AE-046E-420A-8A23-F5B67170270D}"/>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736ABAC4-F2A2-42E8-BE01-5B2DAAB46A0D}"/>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22</a:t>
            </a:r>
          </a:p>
        </p:txBody>
      </p:sp>
      <p:graphicFrame>
        <p:nvGraphicFramePr>
          <p:cNvPr id="5" name="">
            <a:extLst xmlns:a="http://schemas.openxmlformats.org/drawingml/2006/main">
              <a:ext uri="{FF2B5EF4-FFF2-40B4-BE49-F238E27FC236}">
                <a16:creationId xmlns:a16="http://schemas.microsoft.com/office/drawing/2014/main" id="{4DE6316A-89A4-465A-963B-6CB029BEC9F0}"/>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095625"/>
                <a:gridCol w="7877175"/>
              </a:tblGrid>
              <a:tr h="619125">
                <a:tc>
                  <a:txBody>
                    <a:bodyPr/>
                    <a:lstStyle/>
                    <a:p>
                      <a:r>
                        <a:rPr sz="1575" b="1">
                          <a:solidFill>
                            <a:srgbClr val="FFFFFF"/>
                          </a:solidFill>
                          <a:latin typeface="Arial"/>
                          <a:ea typeface="Arial"/>
                          <a:cs typeface="Arial"/>
                        </a:rPr>
                        <a:t>Rule family</a:t>
                      </a:r>
                    </a:p>
                  </a:txBody>
                  <a:tcPr marL="91440" marR="91440" marT="45720" marB="45720">
                    <a:solidFill>
                      <a:srgbClr val="0B192B"/>
                    </a:solidFill>
                  </a:tcPr>
                </a:tc>
                <a:tc>
                  <a:txBody>
                    <a:bodyPr/>
                    <a:lstStyle/>
                    <a:p>
                      <a:r>
                        <a:rPr sz="1575" b="1">
                          <a:solidFill>
                            <a:srgbClr val="FFFFFF"/>
                          </a:solidFill>
                          <a:latin typeface="Arial"/>
                          <a:ea typeface="Arial"/>
                          <a:cs typeface="Arial"/>
                        </a:rPr>
                        <a:t>Implementation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Whole dollars</a:t>
                      </a:r>
                    </a:p>
                  </a:txBody>
                  <a:tcPr marL="91440" marR="91440" marT="45720" marB="45720">
                    <a:solidFill>
                      <a:srgbClr val="FFFFFF"/>
                    </a:solidFill>
                  </a:tcPr>
                </a:tc>
                <a:tc>
                  <a:txBody>
                    <a:bodyPr/>
                    <a:lstStyle/>
                    <a:p>
                      <a:r>
                        <a:rPr sz="1650" b="0">
                          <a:solidFill>
                            <a:srgbClr val="172C42"/>
                          </a:solidFill>
                          <a:latin typeface="Arial"/>
                          <a:ea typeface="Arial"/>
                          <a:cs typeface="Arial"/>
                        </a:rPr>
                        <a:t>ROUND_HALF_UP; positive cap 999,999,999; preserve negative values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DRG price</a:t>
                      </a:r>
                    </a:p>
                  </a:txBody>
                  <a:tcPr marL="91440" marR="91440" marT="45720" marB="45720">
                    <a:solidFill>
                      <a:srgbClr val="EAF0F1"/>
                    </a:solidFill>
                  </a:tcPr>
                </a:tc>
                <a:tc>
                  <a:txBody>
                    <a:bodyPr/>
                    <a:lstStyle/>
                    <a:p>
                      <a:r>
                        <a:rPr sz="1650" b="0">
                          <a:solidFill>
                            <a:srgbClr val="172C42"/>
                          </a:solidFill>
                          <a:latin typeface="Arial"/>
                          <a:ea typeface="Arial"/>
                          <a:cs typeface="Arial"/>
                        </a:rPr>
                        <a:t>Payment + primary payer + coinsurance + deductibles − outlier</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Per diem</a:t>
                      </a:r>
                    </a:p>
                  </a:txBody>
                  <a:tcPr marL="91440" marR="91440" marT="45720" marB="45720">
                    <a:solidFill>
                      <a:srgbClr val="FFFFFF"/>
                    </a:solidFill>
                  </a:tcPr>
                </a:tc>
                <a:tc>
                  <a:txBody>
                    <a:bodyPr/>
                    <a:lstStyle/>
                    <a:p>
                      <a:r>
                        <a:rPr sz="1650" b="0">
                          <a:solidFill>
                            <a:srgbClr val="172C42"/>
                          </a:solidFill>
                          <a:latin typeface="Arial"/>
                          <a:ea typeface="Arial"/>
                          <a:cs typeface="Arial"/>
                        </a:rPr>
                        <a:t>Round rate to whole dollars first, then multiply by utilization days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Value-code amounts</a:t>
                      </a:r>
                    </a:p>
                  </a:txBody>
                  <a:tcPr marL="91440" marR="91440" marT="45720" marB="45720">
                    <a:solidFill>
                      <a:srgbClr val="EAF0F1"/>
                    </a:solidFill>
                  </a:tcPr>
                </a:tc>
                <a:tc>
                  <a:txBody>
                    <a:bodyPr/>
                    <a:lstStyle/>
                    <a:p>
                      <a:r>
                        <a:rPr sz="1650" b="0">
                          <a:solidFill>
                            <a:srgbClr val="172C42"/>
                          </a:solidFill>
                          <a:latin typeface="Arial"/>
                          <a:ea typeface="Arial"/>
                          <a:cs typeface="Arial"/>
                        </a:rPr>
                        <a:t>Sum signed selected values, then apply whole-dollar policy</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Direct moves</a:t>
                      </a:r>
                    </a:p>
                  </a:txBody>
                  <a:tcPr marL="91440" marR="91440" marT="45720" marB="45720">
                    <a:solidFill>
                      <a:srgbClr val="FFFFFF"/>
                    </a:solidFill>
                  </a:tcPr>
                </a:tc>
                <a:tc>
                  <a:txBody>
                    <a:bodyPr/>
                    <a:lstStyle/>
                    <a:p>
                      <a:r>
                        <a:rPr sz="1650" b="0">
                          <a:solidFill>
                            <a:srgbClr val="172C42"/>
                          </a:solidFill>
                          <a:latin typeface="Arial"/>
                          <a:ea typeface="Arial"/>
                          <a:cs typeface="Arial"/>
                        </a:rPr>
                        <a:t>Explicit money/nonmoney mapping with source-based comparison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93867172"/>
      </p:ext>
    </p:extLst>
  </p:cSld>
</p:sld>
</file>

<file path=ppt/slides/slide23.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DDD3B9-2971-4942-9038-71C0D1638EDA}"/>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INTERMEDIATE</a:t>
            </a:r>
          </a:p>
        </p:txBody>
      </p:sp>
      <p:sp>
        <p:nvSpPr>
          <p:cNvPr id="2" name="">
            <a:extLst xmlns:a="http://schemas.openxmlformats.org/drawingml/2006/main">
              <a:ext uri="{FF2B5EF4-FFF2-40B4-BE49-F238E27FC236}">
                <a16:creationId xmlns:a16="http://schemas.microsoft.com/office/drawing/2014/main" id="{D79D4C9F-7BAE-482B-A01D-7E54803112D7}"/>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Intermediate: clinical and revenue fields</a:t>
            </a:r>
          </a:p>
        </p:txBody>
      </p:sp>
      <p:sp>
        <p:nvSpPr>
          <p:cNvPr id="3" name="">
            <a:extLst xmlns:a="http://schemas.openxmlformats.org/drawingml/2006/main">
              <a:ext uri="{FF2B5EF4-FFF2-40B4-BE49-F238E27FC236}">
                <a16:creationId xmlns:a16="http://schemas.microsoft.com/office/drawing/2014/main" id="{19830360-A0B2-4AB3-B265-A6C3B4B3E82D}"/>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CF4E8D81-54BB-4090-9E25-9FA14ABADD2A}"/>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9C222A28-0557-4E12-BFB8-BAEA690712E0}"/>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095625"/>
                <a:gridCol w="7877175"/>
              </a:tblGrid>
              <a:tr h="619125">
                <a:tc>
                  <a:txBody>
                    <a:bodyPr/>
                    <a:lstStyle/>
                    <a:p>
                      <a:r>
                        <a:rPr sz="1575" b="1">
                          <a:solidFill>
                            <a:srgbClr val="FFFFFF"/>
                          </a:solidFill>
                          <a:latin typeface="Arial"/>
                          <a:ea typeface="Arial"/>
                          <a:cs typeface="Arial"/>
                        </a:rPr>
                        <a:t>Rule family</a:t>
                      </a:r>
                    </a:p>
                  </a:txBody>
                  <a:tcPr marL="91440" marR="91440" marT="45720" marB="45720">
                    <a:solidFill>
                      <a:srgbClr val="0B192B"/>
                    </a:solidFill>
                  </a:tcPr>
                </a:tc>
                <a:tc>
                  <a:txBody>
                    <a:bodyPr/>
                    <a:lstStyle/>
                    <a:p>
                      <a:r>
                        <a:rPr sz="1575" b="1">
                          <a:solidFill>
                            <a:srgbClr val="FFFFFF"/>
                          </a:solidFill>
                          <a:latin typeface="Arial"/>
                          <a:ea typeface="Arial"/>
                          <a:cs typeface="Arial"/>
                        </a:rPr>
                        <a:t>Implementation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Accommodation</a:t>
                      </a:r>
                    </a:p>
                  </a:txBody>
                  <a:tcPr marL="91440" marR="91440" marT="45720" marB="45720">
                    <a:solidFill>
                      <a:srgbClr val="FFFFFF"/>
                    </a:solidFill>
                  </a:tcPr>
                </a:tc>
                <a:tc>
                  <a:txBody>
                    <a:bodyPr/>
                    <a:lstStyle/>
                    <a:p>
                      <a:r>
                        <a:rPr sz="1650" b="0">
                          <a:solidFill>
                            <a:srgbClr val="172C42"/>
                          </a:solidFill>
                          <a:latin typeface="Arial"/>
                          <a:ea typeface="Arial"/>
                          <a:cs typeface="Arial"/>
                        </a:rPr>
                        <a:t>Private, semiprivate, ward, ICU and CCU units/charges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Care type</a:t>
                      </a:r>
                    </a:p>
                  </a:txBody>
                  <a:tcPr marL="91440" marR="91440" marT="45720" marB="45720">
                    <a:solidFill>
                      <a:srgbClr val="EAF0F1"/>
                    </a:solidFill>
                  </a:tcPr>
                </a:tc>
                <a:tc>
                  <a:txBody>
                    <a:bodyPr/>
                    <a:lstStyle/>
                    <a:p>
                      <a:r>
                        <a:rPr sz="1650" b="0">
                          <a:solidFill>
                            <a:srgbClr val="172C42"/>
                          </a:solidFill>
                          <a:latin typeface="Arial"/>
                          <a:ea typeface="Arial"/>
                          <a:cs typeface="Arial"/>
                        </a:rPr>
                        <a:t>Supported 020/021 codes; unique maximum charge; ties BLOCKED</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Organ + outpatient</a:t>
                      </a:r>
                    </a:p>
                  </a:txBody>
                  <a:tcPr marL="91440" marR="91440" marT="45720" marB="45720">
                    <a:solidFill>
                      <a:srgbClr val="FFFFFF"/>
                    </a:solidFill>
                  </a:tcPr>
                </a:tc>
                <a:tc>
                  <a:txBody>
                    <a:bodyPr/>
                    <a:lstStyle/>
                    <a:p>
                      <a:r>
                        <a:rPr sz="1650" b="0">
                          <a:solidFill>
                            <a:srgbClr val="172C42"/>
                          </a:solidFill>
                          <a:latin typeface="Arial"/>
                          <a:ea typeface="Arial"/>
                          <a:cs typeface="Arial"/>
                        </a:rPr>
                        <a:t>081x mapping; exclude 0818; 050x/049x outpatient flags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NDC + procedures</a:t>
                      </a:r>
                    </a:p>
                  </a:txBody>
                  <a:tcPr marL="91440" marR="91440" marT="45720" marB="45720">
                    <a:solidFill>
                      <a:srgbClr val="EAF0F1"/>
                    </a:solidFill>
                  </a:tcPr>
                </a:tc>
                <a:tc>
                  <a:txBody>
                    <a:bodyPr/>
                    <a:lstStyle/>
                    <a:p>
                      <a:r>
                        <a:rPr sz="1650" b="0">
                          <a:solidFill>
                            <a:srgbClr val="172C42"/>
                          </a:solidFill>
                          <a:latin typeface="Arial"/>
                          <a:ea typeface="Arial"/>
                          <a:cs typeface="Arial"/>
                        </a:rPr>
                        <a:t>First 10 ordered NDC entries; numeric validity; procedure cap 25</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Other fields</a:t>
                      </a:r>
                    </a:p>
                  </a:txBody>
                  <a:tcPr marL="91440" marR="91440" marT="45720" marB="45720">
                    <a:solidFill>
                      <a:srgbClr val="FFFFFF"/>
                    </a:solidFill>
                  </a:tcPr>
                </a:tc>
                <a:tc>
                  <a:txBody>
                    <a:bodyPr/>
                    <a:lstStyle/>
                    <a:p>
                      <a:r>
                        <a:rPr sz="1650" b="0">
                          <a:solidFill>
                            <a:srgbClr val="172C42"/>
                          </a:solidFill>
                          <a:latin typeface="Arial"/>
                          <a:ea typeface="Arial"/>
                          <a:cs typeface="Arial"/>
                        </a:rPr>
                        <a:t>Diagnosis/version/POA alignment, sample code, spans and warnings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58614048"/>
      </p:ext>
    </p:extLst>
  </p:cSld>
</p:sld>
</file>

<file path=ppt/slides/slide24.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33E294-23BA-40DC-92CC-E018EEE304F5}"/>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INTERMEDIATE</a:t>
            </a:r>
          </a:p>
        </p:txBody>
      </p:sp>
      <p:sp>
        <p:nvSpPr>
          <p:cNvPr id="2" name="">
            <a:extLst xmlns:a="http://schemas.openxmlformats.org/drawingml/2006/main">
              <a:ext uri="{FF2B5EF4-FFF2-40B4-BE49-F238E27FC236}">
                <a16:creationId xmlns:a16="http://schemas.microsoft.com/office/drawing/2014/main" id="{E3954413-E7AA-4379-B794-82EE8D7EBF8F}"/>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200-field registry and remaining mappings</a:t>
            </a:r>
          </a:p>
        </p:txBody>
      </p:sp>
      <p:sp>
        <p:nvSpPr>
          <p:cNvPr id="3" name="">
            <a:extLst xmlns:a="http://schemas.openxmlformats.org/drawingml/2006/main">
              <a:ext uri="{FF2B5EF4-FFF2-40B4-BE49-F238E27FC236}">
                <a16:creationId xmlns:a16="http://schemas.microsoft.com/office/drawing/2014/main" id="{38D54B3D-36F1-4533-ABF9-9AD16812E1E8}"/>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A2C5FCC5-CC50-4067-95B2-3B6F5DD764EF}"/>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DB0EF8CE-C69C-493C-A4CF-9C15F7FA081C}"/>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4BB82A3-AAA5-45E3-877F-BC86C3E377CF}"/>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The V3 registry provides field identifiers and comparison coverage.</a:t>
            </a:r>
          </a:p>
        </p:txBody>
      </p:sp>
      <p:sp>
        <p:nvSpPr>
          <p:cNvPr id="7" name="">
            <a:extLst xmlns:a="http://schemas.openxmlformats.org/drawingml/2006/main">
              <a:ext uri="{FF2B5EF4-FFF2-40B4-BE49-F238E27FC236}">
                <a16:creationId xmlns:a16="http://schemas.microsoft.com/office/drawing/2014/main" id="{1F1EC436-F204-49D2-AA22-B837EC3CF356}"/>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5A18EA8-B97A-4C8B-8F9A-D87D02DD7CD4}"/>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Golden mode compares supplied expected values across the registry.</a:t>
            </a:r>
          </a:p>
        </p:txBody>
      </p:sp>
      <p:sp>
        <p:nvSpPr>
          <p:cNvPr id="9" name="">
            <a:extLst xmlns:a="http://schemas.openxmlformats.org/drawingml/2006/main">
              <a:ext uri="{FF2B5EF4-FFF2-40B4-BE49-F238E27FC236}">
                <a16:creationId xmlns:a16="http://schemas.microsoft.com/office/drawing/2014/main" id="{84D41FAF-1CE5-4A07-8E59-17B34C8E9437}"/>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2469F75-7F84-47AB-9DCE-40B5ED583DDE}"/>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Independent derivation requires supported source operands and approved mapping logic.</a:t>
            </a:r>
          </a:p>
        </p:txBody>
      </p:sp>
      <p:sp>
        <p:nvSpPr>
          <p:cNvPr id="11" name="">
            <a:extLst xmlns:a="http://schemas.openxmlformats.org/drawingml/2006/main">
              <a:ext uri="{FF2B5EF4-FFF2-40B4-BE49-F238E27FC236}">
                <a16:creationId xmlns:a16="http://schemas.microsoft.com/office/drawing/2014/main" id="{AB5860E2-930A-4A81-91A9-4FA307B2B97E}"/>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D3E70380-04A4-42A1-87AB-DBA74893A1A0}"/>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Both sides absent can be N/A; five deleted fields are blank/filler requirements.</a:t>
            </a:r>
          </a:p>
        </p:txBody>
      </p:sp>
    </p:spTree>
    <p:extLst>
      <p:ext uri="{BB962C8B-B14F-4D97-AF65-F5344CB8AC3E}">
        <p14:creationId xmlns:p14="http://schemas.microsoft.com/office/powerpoint/2010/main" val="638078411"/>
      </p:ext>
    </p:extLst>
  </p:cSld>
</p:sld>
</file>

<file path=ppt/slides/slide25.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4EA924-76BE-4958-AAEA-173ECE6D1EFB}"/>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FINAL MEDPAR</a:t>
            </a:r>
          </a:p>
        </p:txBody>
      </p:sp>
      <p:sp>
        <p:nvSpPr>
          <p:cNvPr id="2" name="">
            <a:extLst xmlns:a="http://schemas.openxmlformats.org/drawingml/2006/main">
              <a:ext uri="{FF2B5EF4-FFF2-40B4-BE49-F238E27FC236}">
                <a16:creationId xmlns:a16="http://schemas.microsoft.com/office/drawing/2014/main" id="{B688DB8D-A583-4F6A-AC6E-079F5688BA72}"/>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Final MEDPAR: physical and classification rules</a:t>
            </a:r>
          </a:p>
        </p:txBody>
      </p:sp>
      <p:sp>
        <p:nvSpPr>
          <p:cNvPr id="3" name="">
            <a:extLst xmlns:a="http://schemas.openxmlformats.org/drawingml/2006/main">
              <a:ext uri="{FF2B5EF4-FFF2-40B4-BE49-F238E27FC236}">
                <a16:creationId xmlns:a16="http://schemas.microsoft.com/office/drawing/2014/main" id="{644B041C-B93F-4E18-AFA6-ADD9323589DF}"/>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A03BBA7B-9D89-4617-B39A-C0E97B89A33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68F51098-99FA-411A-88C4-63996390EBA7}"/>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095625"/>
                <a:gridCol w="7877175"/>
              </a:tblGrid>
              <a:tr h="619125">
                <a:tc>
                  <a:txBody>
                    <a:bodyPr/>
                    <a:lstStyle/>
                    <a:p>
                      <a:r>
                        <a:rPr sz="1575" b="1">
                          <a:solidFill>
                            <a:srgbClr val="FFFFFF"/>
                          </a:solidFill>
                          <a:latin typeface="Arial"/>
                          <a:ea typeface="Arial"/>
                          <a:cs typeface="Arial"/>
                        </a:rPr>
                        <a:t>Rule family</a:t>
                      </a:r>
                    </a:p>
                  </a:txBody>
                  <a:tcPr marL="91440" marR="91440" marT="45720" marB="45720">
                    <a:solidFill>
                      <a:srgbClr val="0B192B"/>
                    </a:solidFill>
                  </a:tcPr>
                </a:tc>
                <a:tc>
                  <a:txBody>
                    <a:bodyPr/>
                    <a:lstStyle/>
                    <a:p>
                      <a:r>
                        <a:rPr sz="1575" b="1">
                          <a:solidFill>
                            <a:srgbClr val="FFFFFF"/>
                          </a:solidFill>
                          <a:latin typeface="Arial"/>
                          <a:ea typeface="Arial"/>
                          <a:cs typeface="Arial"/>
                        </a:rPr>
                        <a:t>Implementation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Stay identity + sort</a:t>
                      </a:r>
                    </a:p>
                  </a:txBody>
                  <a:tcPr marL="91440" marR="91440" marT="45720" marB="45720">
                    <a:solidFill>
                      <a:srgbClr val="FFFFFF"/>
                    </a:solidFill>
                  </a:tcPr>
                </a:tc>
                <a:tc>
                  <a:txBody>
                    <a:bodyPr/>
                    <a:lstStyle/>
                    <a:p>
                      <a:r>
                        <a:rPr sz="1650" b="0">
                          <a:solidFill>
                            <a:srgbClr val="172C42"/>
                          </a:solidFill>
                          <a:latin typeface="Arial"/>
                          <a:ea typeface="Arial"/>
                          <a:cs typeface="Arial"/>
                        </a:rPr>
                        <a:t>Preserve admission in identity; clarified sort excludes admission</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Classification</a:t>
                      </a:r>
                    </a:p>
                  </a:txBody>
                  <a:tcPr marL="91440" marR="91440" marT="45720" marB="45720">
                    <a:solidFill>
                      <a:srgbClr val="EAF0F1"/>
                    </a:solidFill>
                  </a:tcPr>
                </a:tc>
                <a:tc>
                  <a:txBody>
                    <a:bodyPr/>
                    <a:lstStyle/>
                    <a:p>
                      <a:r>
                        <a:rPr sz="1650" b="0">
                          <a:solidFill>
                            <a:srgbClr val="172C42"/>
                          </a:solidFill>
                          <a:latin typeface="Arial"/>
                          <a:ea typeface="Arial"/>
                          <a:cs typeface="Arial"/>
                        </a:rPr>
                        <a:t>One-byte S / L / N classification</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Length + prefix</a:t>
                      </a:r>
                    </a:p>
                  </a:txBody>
                  <a:tcPr marL="91440" marR="91440" marT="45720" marB="45720">
                    <a:solidFill>
                      <a:srgbClr val="FFFFFF"/>
                    </a:solidFill>
                  </a:tcPr>
                </a:tc>
                <a:tc>
                  <a:txBody>
                    <a:bodyPr/>
                    <a:lstStyle/>
                    <a:p>
                      <a:r>
                        <a:rPr sz="1650" b="0">
                          <a:solidFill>
                            <a:srgbClr val="172C42"/>
                          </a:solidFill>
                          <a:latin typeface="Arial"/>
                          <a:ea typeface="Arial"/>
                          <a:cs typeface="Arial"/>
                        </a:rPr>
                        <a:t>3050-byte source to 3000-byte output: exact first 3000 bytes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Golden bytes</a:t>
                      </a:r>
                    </a:p>
                  </a:txBody>
                  <a:tcPr marL="91440" marR="91440" marT="45720" marB="45720">
                    <a:solidFill>
                      <a:srgbClr val="EAF0F1"/>
                    </a:solidFill>
                  </a:tcPr>
                </a:tc>
                <a:tc>
                  <a:txBody>
                    <a:bodyPr/>
                    <a:lstStyle/>
                    <a:p>
                      <a:r>
                        <a:rPr sz="1650" b="0">
                          <a:solidFill>
                            <a:srgbClr val="172C42"/>
                          </a:solidFill>
                          <a:latin typeface="Arial"/>
                          <a:ea typeface="Arial"/>
                          <a:cs typeface="Arial"/>
                        </a:rPr>
                        <a:t>Every-byte comparison, including equal-width differing values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Scope dependencies</a:t>
                      </a:r>
                    </a:p>
                  </a:txBody>
                  <a:tcPr marL="91440" marR="91440" marT="45720" marB="45720">
                    <a:solidFill>
                      <a:srgbClr val="FFFFFF"/>
                    </a:solidFill>
                  </a:tcPr>
                </a:tc>
                <a:tc>
                  <a:txBody>
                    <a:bodyPr/>
                    <a:lstStyle/>
                    <a:p>
                      <a:r>
                        <a:rPr sz="1650" b="0">
                          <a:solidFill>
                            <a:srgbClr val="172C42"/>
                          </a:solidFill>
                          <a:latin typeface="Arial"/>
                          <a:ea typeface="Arial"/>
                          <a:cs typeface="Arial"/>
                        </a:rPr>
                        <a:t>Approved offsets, encoding, routing tables and BayState rules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68128769"/>
      </p:ext>
    </p:extLst>
  </p:cSld>
</p:sld>
</file>

<file path=ppt/slides/slide26.xml><?xml version="1.0" encoding="utf-8"?>
<p:sld xmlns:p="http://schemas.openxmlformats.org/presentationml/2006/main">
  <p:cSld>
    <p:bg>
      <p:bgPr>
        <a:solidFill xmlns:a="http://schemas.openxmlformats.org/drawingml/2006/main">
          <a:srgbClr val="0B192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EA3ED2A-0B0C-4E21-AE75-E75EC331FA53}"/>
              </a:ext>
            </a:extLst>
          </p:cNvPr>
          <p:cNvPicPr>
            <a:picLocks xmlns:a="http://schemas.openxmlformats.org/drawingml/2006/main" noChangeAspect="1"/>
          </p:cNvPicPr>
          <p:nvPr/>
        </p:nvPicPr>
        <p:blipFill>
          <a:blip xmlns:r="http://schemas.openxmlformats.org/officeDocument/2006/relationships" xmlns:a="http://schemas.openxmlformats.org/drawingml/2006/main" r:embed="Ree4125aba8df41f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1AA7B7-DE2B-4BB1-A6D6-7A0AA9134FBF}"/>
              </a:ext>
            </a:extLst>
          </p:cNvPr>
          <p:cNvSpPr>
            <a:spLocks xmlns:a="http://schemas.openxmlformats.org/drawingml/2006/main" noGrp="1"/>
          </p:cNvSpPr>
          <p:nvPr/>
        </p:nvSpPr>
        <p:spPr>
          <a:xfrm xmlns:a="http://schemas.openxmlformats.org/drawingml/2006/main">
            <a:off x="666750" y="6191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9E0D2"/>
                </a:solidFill>
                <a:latin typeface="Arial"/>
                <a:ea typeface="Arial"/>
                <a:cs typeface="Arial"/>
              </a:defRPr>
            </a:defPPr>
          </a:lstStyle>
          <a:p xmlns:a="http://schemas.openxmlformats.org/drawingml/2006/main">
            <a:pPr>
              <a:defRPr sz="1425" b="1">
                <a:solidFill>
                  <a:srgbClr val="79E0D2"/>
                </a:solidFill>
                <a:latin typeface="Arial"/>
                <a:ea typeface="Arial"/>
                <a:cs typeface="Arial"/>
              </a:defRPr>
            </a:pPr>
            <a:r>
              <a:rPr sz="1425" b="1">
                <a:solidFill>
                  <a:srgbClr val="79E0D2"/>
                </a:solidFill>
                <a:latin typeface="Arial"/>
                <a:ea typeface="Arial"/>
                <a:cs typeface="Arial"/>
              </a:rPr>
              <a:t>DEMONSTRATION</a:t>
            </a:r>
          </a:p>
        </p:txBody>
      </p:sp>
      <p:sp>
        <p:nvSpPr>
          <p:cNvPr id="3" name="">
            <a:extLst xmlns:a="http://schemas.openxmlformats.org/drawingml/2006/main">
              <a:ext uri="{FF2B5EF4-FFF2-40B4-BE49-F238E27FC236}">
                <a16:creationId xmlns:a16="http://schemas.microsoft.com/office/drawing/2014/main" id="{6D0DE61C-513C-4D27-80C8-D4390CB6FCB8}"/>
              </a:ext>
            </a:extLst>
          </p:cNvPr>
          <p:cNvSpPr>
            <a:spLocks xmlns:a="http://schemas.openxmlformats.org/drawingml/2006/main" noGrp="1"/>
          </p:cNvSpPr>
          <p:nvPr/>
        </p:nvSpPr>
        <p:spPr>
          <a:xfrm xmlns:a="http://schemas.openxmlformats.org/drawingml/2006/main">
            <a:off x="666750" y="1952625"/>
            <a:ext cx="7524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Reports &amp; evidence</a:t>
            </a:r>
          </a:p>
        </p:txBody>
      </p:sp>
      <p:sp>
        <p:nvSpPr>
          <p:cNvPr id="4" name="">
            <a:extLst xmlns:a="http://schemas.openxmlformats.org/drawingml/2006/main">
              <a:ext uri="{FF2B5EF4-FFF2-40B4-BE49-F238E27FC236}">
                <a16:creationId xmlns:a16="http://schemas.microsoft.com/office/drawing/2014/main" id="{A013B3F9-FE99-4764-BDC1-AC96236A2355}"/>
              </a:ext>
            </a:extLst>
          </p:cNvPr>
          <p:cNvSpPr>
            <a:spLocks xmlns:a="http://schemas.openxmlformats.org/drawingml/2006/main" noGrp="1"/>
          </p:cNvSpPr>
          <p:nvPr/>
        </p:nvSpPr>
        <p:spPr>
          <a:xfrm xmlns:a="http://schemas.openxmlformats.org/drawingml/2006/main">
            <a:off x="704850" y="428625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C9D9E5"/>
                </a:solidFill>
                <a:latin typeface="Arial"/>
                <a:ea typeface="Arial"/>
                <a:cs typeface="Arial"/>
              </a:defRPr>
            </a:defPPr>
          </a:lstStyle>
          <a:p xmlns:a="http://schemas.openxmlformats.org/drawingml/2006/main">
            <a:pPr>
              <a:defRPr sz="2025" b="0">
                <a:solidFill>
                  <a:srgbClr val="C9D9E5"/>
                </a:solidFill>
                <a:latin typeface="Arial"/>
                <a:ea typeface="Arial"/>
                <a:cs typeface="Arial"/>
              </a:defRPr>
            </a:pPr>
            <a:r>
              <a:rPr sz="2025" b="0">
                <a:solidFill>
                  <a:srgbClr val="C9D9E5"/>
                </a:solidFill>
                <a:latin typeface="Arial"/>
                <a:ea typeface="Arial"/>
                <a:cs typeface="Arial"/>
              </a:rPr>
              <a:t>A clear explanation for every result</a:t>
            </a:r>
          </a:p>
          <a:p xmlns:a="http://schemas.openxmlformats.org/drawingml/2006/main">
            <a:pPr>
              <a:defRPr sz="2025" b="0">
                <a:solidFill>
                  <a:srgbClr val="C9D9E5"/>
                </a:solidFill>
                <a:latin typeface="Arial"/>
                <a:ea typeface="Arial"/>
                <a:cs typeface="Arial"/>
              </a:defRPr>
            </a:pPr>
            <a:r>
              <a:rPr sz="2025" b="0">
                <a:solidFill>
                  <a:srgbClr val="C9D9E5"/>
                </a:solidFill>
                <a:latin typeface="Arial"/>
                <a:ea typeface="Arial"/>
                <a:cs typeface="Arial"/>
              </a:rPr>
              <a:t>From overall conclusions to the individual input file</a:t>
            </a:r>
          </a:p>
        </p:txBody>
      </p:sp>
      <p:sp>
        <p:nvSpPr>
          <p:cNvPr id="5" name="">
            <a:extLst xmlns:a="http://schemas.openxmlformats.org/drawingml/2006/main">
              <a:ext uri="{FF2B5EF4-FFF2-40B4-BE49-F238E27FC236}">
                <a16:creationId xmlns:a16="http://schemas.microsoft.com/office/drawing/2014/main" id="{532DF282-25B0-44FE-904B-E62DE2861512}"/>
              </a:ext>
            </a:extLst>
          </p:cNvPr>
          <p:cNvSpPr>
            <a:spLocks xmlns:a="http://schemas.openxmlformats.org/drawingml/2006/main" noGrp="1"/>
          </p:cNvSpPr>
          <p:nvPr/>
        </p:nvSpPr>
        <p:spPr>
          <a:xfrm xmlns:a="http://schemas.openxmlformats.org/drawingml/2006/main">
            <a:off x="704850" y="618172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9D9E5"/>
                </a:solidFill>
                <a:latin typeface="Arial"/>
                <a:ea typeface="Arial"/>
                <a:cs typeface="Arial"/>
              </a:defRPr>
            </a:defPPr>
          </a:lstStyle>
          <a:p xmlns:a="http://schemas.openxmlformats.org/drawingml/2006/main">
            <a:pPr>
              <a:defRPr sz="1275" b="0">
                <a:solidFill>
                  <a:srgbClr val="C9D9E5"/>
                </a:solidFill>
                <a:latin typeface="Arial"/>
                <a:ea typeface="Arial"/>
                <a:cs typeface="Arial"/>
              </a:defRPr>
            </a:pPr>
            <a:r>
              <a:rPr sz="1275" b="0">
                <a:solidFill>
                  <a:srgbClr val="C9D9E5"/>
                </a:solidFill>
                <a:latin typeface="Arial"/>
                <a:ea typeface="Arial"/>
                <a:cs typeface="Arial"/>
              </a:rPr>
              <a:t>SRIKANTH  •  11 OCTOBER 2026</a:t>
            </a:r>
          </a:p>
        </p:txBody>
      </p:sp>
    </p:spTree>
    <p:extLst>
      <p:ext uri="{BB962C8B-B14F-4D97-AF65-F5344CB8AC3E}">
        <p14:creationId xmlns:p14="http://schemas.microsoft.com/office/powerpoint/2010/main" val="220670845"/>
      </p:ext>
    </p:extLst>
  </p:cSld>
</p:sld>
</file>

<file path=ppt/slides/slide27.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85EC43-C1E3-471A-88E9-FB045FD1D531}"/>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REPORTS</a:t>
            </a:r>
          </a:p>
        </p:txBody>
      </p:sp>
      <p:sp>
        <p:nvSpPr>
          <p:cNvPr id="2" name="">
            <a:extLst xmlns:a="http://schemas.openxmlformats.org/drawingml/2006/main">
              <a:ext uri="{FF2B5EF4-FFF2-40B4-BE49-F238E27FC236}">
                <a16:creationId xmlns:a16="http://schemas.microsoft.com/office/drawing/2014/main" id="{605339E9-E3D0-43C4-8442-FF7B122BD1D2}"/>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Report metrics explained</a:t>
            </a:r>
          </a:p>
        </p:txBody>
      </p:sp>
      <p:sp>
        <p:nvSpPr>
          <p:cNvPr id="3" name="">
            <a:extLst xmlns:a="http://schemas.openxmlformats.org/drawingml/2006/main">
              <a:ext uri="{FF2B5EF4-FFF2-40B4-BE49-F238E27FC236}">
                <a16:creationId xmlns:a16="http://schemas.microsoft.com/office/drawing/2014/main" id="{CE32FA5C-C259-4BE9-916E-5925952E0122}"/>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34988E3D-4ABA-429A-A33D-F4C2F3B1D0AC}"/>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27</a:t>
            </a:r>
          </a:p>
        </p:txBody>
      </p:sp>
      <p:graphicFrame>
        <p:nvGraphicFramePr>
          <p:cNvPr id="5" name="">
            <a:extLst xmlns:a="http://schemas.openxmlformats.org/drawingml/2006/main">
              <a:ext uri="{FF2B5EF4-FFF2-40B4-BE49-F238E27FC236}">
                <a16:creationId xmlns:a16="http://schemas.microsoft.com/office/drawing/2014/main" id="{1952098A-4262-4FDB-88D5-AF5622292E51}"/>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619125">
                <a:tc>
                  <a:txBody>
                    <a:bodyPr/>
                    <a:lstStyle/>
                    <a:p>
                      <a:r>
                        <a:rPr sz="1575" b="1">
                          <a:solidFill>
                            <a:srgbClr val="FFFFFF"/>
                          </a:solidFill>
                          <a:latin typeface="Arial"/>
                          <a:ea typeface="Arial"/>
                          <a:cs typeface="Arial"/>
                        </a:rPr>
                        <a:t>Metric</a:t>
                      </a:r>
                    </a:p>
                  </a:txBody>
                  <a:tcPr marL="91440" marR="91440" marT="45720" marB="45720">
                    <a:solidFill>
                      <a:srgbClr val="0B192B"/>
                    </a:solidFill>
                  </a:tcPr>
                </a:tc>
                <a:tc>
                  <a:txBody>
                    <a:bodyPr/>
                    <a:lstStyle/>
                    <a:p>
                      <a:r>
                        <a:rPr sz="1575" b="1">
                          <a:solidFill>
                            <a:srgbClr val="FFFFFF"/>
                          </a:solidFill>
                          <a:latin typeface="Arial"/>
                          <a:ea typeface="Arial"/>
                          <a:cs typeface="Arial"/>
                        </a:rPr>
                        <a:t>Plain-language meaning</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Business runs</a:t>
                      </a:r>
                    </a:p>
                  </a:txBody>
                  <a:tcPr marL="91440" marR="91440" marT="45720" marB="45720">
                    <a:solidFill>
                      <a:srgbClr val="FFFFFF"/>
                    </a:solidFill>
                  </a:tcPr>
                </a:tc>
                <a:tc>
                  <a:txBody>
                    <a:bodyPr/>
                    <a:lstStyle/>
                    <a:p>
                      <a:r>
                        <a:rPr sz="1650" b="0">
                          <a:solidFill>
                            <a:srgbClr val="172C42"/>
                          </a:solidFill>
                          <a:latin typeface="Arial"/>
                          <a:ea typeface="Arial"/>
                          <a:cs typeface="Arial"/>
                        </a:rPr>
                        <a:t>Configured stage validation executions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Validations</a:t>
                      </a:r>
                    </a:p>
                  </a:txBody>
                  <a:tcPr marL="91440" marR="91440" marT="45720" marB="45720">
                    <a:solidFill>
                      <a:srgbClr val="EAF0F1"/>
                    </a:solidFill>
                  </a:tcPr>
                </a:tc>
                <a:tc>
                  <a:txBody>
                    <a:bodyPr/>
                    <a:lstStyle/>
                    <a:p>
                      <a:r>
                        <a:rPr sz="1650" b="0">
                          <a:solidFill>
                            <a:srgbClr val="172C42"/>
                          </a:solidFill>
                          <a:latin typeface="Arial"/>
                          <a:ea typeface="Arial"/>
                          <a:cs typeface="Arial"/>
                        </a:rPr>
                        <a:t>Recorded check outcomes; not files, patients or unique defects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PASS / FAIL</a:t>
                      </a:r>
                    </a:p>
                  </a:txBody>
                  <a:tcPr marL="91440" marR="91440" marT="45720" marB="45720">
                    <a:solidFill>
                      <a:srgbClr val="FFFFFF"/>
                    </a:solidFill>
                  </a:tcPr>
                </a:tc>
                <a:tc>
                  <a:txBody>
                    <a:bodyPr/>
                    <a:lstStyle/>
                    <a:p>
                      <a:r>
                        <a:rPr sz="1650" b="0">
                          <a:solidFill>
                            <a:srgbClr val="172C42"/>
                          </a:solidFill>
                          <a:latin typeface="Arial"/>
                          <a:ea typeface="Arial"/>
                          <a:cs typeface="Arial"/>
                        </a:rPr>
                        <a:t>Condition satisfied / observed result contradicts the rule</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BLOCKED / N/A</a:t>
                      </a:r>
                    </a:p>
                  </a:txBody>
                  <a:tcPr marL="91440" marR="91440" marT="45720" marB="45720">
                    <a:solidFill>
                      <a:srgbClr val="EAF0F1"/>
                    </a:solidFill>
                  </a:tcPr>
                </a:tc>
                <a:tc>
                  <a:txBody>
                    <a:bodyPr/>
                    <a:lstStyle/>
                    <a:p>
                      <a:r>
                        <a:rPr sz="1650" b="0">
                          <a:solidFill>
                            <a:srgbClr val="172C42"/>
                          </a:solidFill>
                          <a:latin typeface="Arial"/>
                          <a:ea typeface="Arial"/>
                          <a:cs typeface="Arial"/>
                        </a:rPr>
                        <a:t>Cannot decide with available evidence / check does not apply</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Pytest runs</a:t>
                      </a:r>
                    </a:p>
                  </a:txBody>
                  <a:tcPr marL="91440" marR="91440" marT="45720" marB="45720">
                    <a:solidFill>
                      <a:srgbClr val="FFFFFF"/>
                    </a:solidFill>
                  </a:tcPr>
                </a:tc>
                <a:tc>
                  <a:txBody>
                    <a:bodyPr/>
                    <a:lstStyle/>
                    <a:p>
                      <a:r>
                        <a:rPr sz="1650" b="0">
                          <a:solidFill>
                            <a:srgbClr val="172C42"/>
                          </a:solidFill>
                          <a:latin typeface="Arial"/>
                          <a:ea typeface="Arial"/>
                          <a:cs typeface="Arial"/>
                        </a:rPr>
                        <a:t>Software test executions captured in that report session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06864209"/>
      </p:ext>
    </p:extLst>
  </p:cSld>
</p:sld>
</file>

<file path=ppt/slides/slide28.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3D7FC6D-20F9-46C5-8810-47B3D27D4C47}"/>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REPORTS</a:t>
            </a:r>
          </a:p>
        </p:txBody>
      </p:sp>
      <p:sp>
        <p:nvSpPr>
          <p:cNvPr id="2" name="">
            <a:extLst xmlns:a="http://schemas.openxmlformats.org/drawingml/2006/main">
              <a:ext uri="{FF2B5EF4-FFF2-40B4-BE49-F238E27FC236}">
                <a16:creationId xmlns:a16="http://schemas.microsoft.com/office/drawing/2014/main" id="{E0403A99-F98A-42F2-936A-9F4319139159}"/>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File-level evidence and conclusions</a:t>
            </a:r>
          </a:p>
        </p:txBody>
      </p:sp>
      <p:sp>
        <p:nvSpPr>
          <p:cNvPr id="3" name="">
            <a:extLst xmlns:a="http://schemas.openxmlformats.org/drawingml/2006/main">
              <a:ext uri="{FF2B5EF4-FFF2-40B4-BE49-F238E27FC236}">
                <a16:creationId xmlns:a16="http://schemas.microsoft.com/office/drawing/2014/main" id="{4E43E069-0770-424D-A906-754E8AE39606}"/>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D325F1F5-A100-463D-9A77-3A5DE1F48305}"/>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640AB54A-FF3D-4FCE-A3D1-A19793F065C6}"/>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966ADCD-754B-490C-9EAD-6458C729626D}"/>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Select a stage and search/filter by input file name.</a:t>
            </a:r>
          </a:p>
        </p:txBody>
      </p:sp>
      <p:sp>
        <p:nvSpPr>
          <p:cNvPr id="7" name="">
            <a:extLst xmlns:a="http://schemas.openxmlformats.org/drawingml/2006/main">
              <a:ext uri="{FF2B5EF4-FFF2-40B4-BE49-F238E27FC236}">
                <a16:creationId xmlns:a16="http://schemas.microsoft.com/office/drawing/2014/main" id="{67BB5576-4E44-4B95-8807-213464414956}"/>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62E5221-1513-454F-8095-A4C2FC58B3FF}"/>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Open rule details: requirement, check, logic, expected and observed values.</a:t>
            </a:r>
          </a:p>
        </p:txBody>
      </p:sp>
      <p:sp>
        <p:nvSpPr>
          <p:cNvPr id="9" name="">
            <a:extLst xmlns:a="http://schemas.openxmlformats.org/drawingml/2006/main">
              <a:ext uri="{FF2B5EF4-FFF2-40B4-BE49-F238E27FC236}">
                <a16:creationId xmlns:a16="http://schemas.microsoft.com/office/drawing/2014/main" id="{418E04E3-D386-4EA9-AA3E-8A70ECE53C32}"/>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46A0C6F-E094-4E4C-A8A6-8F457F0DAD0E}"/>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Read the reason and follow the source location or validator context.</a:t>
            </a:r>
          </a:p>
        </p:txBody>
      </p:sp>
      <p:sp>
        <p:nvSpPr>
          <p:cNvPr id="11" name="">
            <a:extLst xmlns:a="http://schemas.openxmlformats.org/drawingml/2006/main">
              <a:ext uri="{FF2B5EF4-FFF2-40B4-BE49-F238E27FC236}">
                <a16:creationId xmlns:a16="http://schemas.microsoft.com/office/drawing/2014/main" id="{F3CC1BCE-F028-4E33-9DC1-48468FB78ACF}"/>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6310C9A-AB84-4663-B2C4-2D642AA5F86E}"/>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Review each file conclusion, then stage totals and the overall conclusion.</a:t>
            </a:r>
          </a:p>
        </p:txBody>
      </p:sp>
    </p:spTree>
    <p:extLst>
      <p:ext uri="{BB962C8B-B14F-4D97-AF65-F5344CB8AC3E}">
        <p14:creationId xmlns:p14="http://schemas.microsoft.com/office/powerpoint/2010/main" val="966507272"/>
      </p:ext>
    </p:extLst>
  </p:cSld>
</p:sld>
</file>

<file path=ppt/slides/slide29.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3AB8E7-D59A-494B-949F-21B68E97299C}"/>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REPORTS</a:t>
            </a:r>
          </a:p>
        </p:txBody>
      </p:sp>
      <p:sp>
        <p:nvSpPr>
          <p:cNvPr id="2" name="">
            <a:extLst xmlns:a="http://schemas.openxmlformats.org/drawingml/2006/main">
              <a:ext uri="{FF2B5EF4-FFF2-40B4-BE49-F238E27FC236}">
                <a16:creationId xmlns:a16="http://schemas.microsoft.com/office/drawing/2014/main" id="{C7F3BF2D-DCF3-43B1-963E-4577A4200492}"/>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Report generation architecture</a:t>
            </a:r>
          </a:p>
        </p:txBody>
      </p:sp>
      <p:sp>
        <p:nvSpPr>
          <p:cNvPr id="3" name="">
            <a:extLst xmlns:a="http://schemas.openxmlformats.org/drawingml/2006/main">
              <a:ext uri="{FF2B5EF4-FFF2-40B4-BE49-F238E27FC236}">
                <a16:creationId xmlns:a16="http://schemas.microsoft.com/office/drawing/2014/main" id="{26CB6603-7A5D-484C-AC75-3BAC34274CE5}"/>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143B3EE8-6B72-47A6-857D-68677F0FC196}"/>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29</a:t>
            </a:r>
          </a:p>
        </p:txBody>
      </p:sp>
      <p:graphicFrame>
        <p:nvGraphicFramePr>
          <p:cNvPr id="5" name="">
            <a:extLst xmlns:a="http://schemas.openxmlformats.org/drawingml/2006/main">
              <a:ext uri="{FF2B5EF4-FFF2-40B4-BE49-F238E27FC236}">
                <a16:creationId xmlns:a16="http://schemas.microsoft.com/office/drawing/2014/main" id="{E952CD79-B11E-47DC-AF62-0AFCF035F21F}"/>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4191000"/>
                <a:gridCol w="6781800"/>
              </a:tblGrid>
              <a:tr h="619125">
                <a:tc>
                  <a:txBody>
                    <a:bodyPr/>
                    <a:lstStyle/>
                    <a:p>
                      <a:r>
                        <a:rPr sz="1575" b="1">
                          <a:solidFill>
                            <a:srgbClr val="FFFFFF"/>
                          </a:solidFill>
                          <a:latin typeface="Arial"/>
                          <a:ea typeface="Arial"/>
                          <a:cs typeface="Arial"/>
                        </a:rPr>
                        <a:t>Component</a:t>
                      </a:r>
                    </a:p>
                  </a:txBody>
                  <a:tcPr marL="91440" marR="91440" marT="45720" marB="45720">
                    <a:solidFill>
                      <a:srgbClr val="0B192B"/>
                    </a:solidFill>
                  </a:tcPr>
                </a:tc>
                <a:tc>
                  <a:txBody>
                    <a:bodyPr/>
                    <a:lstStyle/>
                    <a:p>
                      <a:r>
                        <a:rPr sz="1575" b="1">
                          <a:solidFill>
                            <a:srgbClr val="FFFFFF"/>
                          </a:solidFill>
                          <a:latin typeface="Arial"/>
                          <a:ea typeface="Arial"/>
                          <a:cs typeface="Arial"/>
                        </a:rPr>
                        <a:t>Output / responsibility</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event_recorder + models</a:t>
                      </a:r>
                    </a:p>
                  </a:txBody>
                  <a:tcPr marL="91440" marR="91440" marT="45720" marB="45720">
                    <a:solidFill>
                      <a:srgbClr val="FFFFFF"/>
                    </a:solidFill>
                  </a:tcPr>
                </a:tc>
                <a:tc>
                  <a:txBody>
                    <a:bodyPr/>
                    <a:lstStyle/>
                    <a:p>
                      <a:r>
                        <a:rPr sz="1650" b="0">
                          <a:solidFill>
                            <a:srgbClr val="172C42"/>
                          </a:solidFill>
                          <a:latin typeface="Arial"/>
                          <a:ea typeface="Arial"/>
                          <a:cs typeface="Arial"/>
                        </a:rPr>
                        <a:t>Capture outcomes and provenance</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rule_catalog + html_reporter</a:t>
                      </a:r>
                    </a:p>
                  </a:txBody>
                  <a:tcPr marL="91440" marR="91440" marT="45720" marB="45720">
                    <a:solidFill>
                      <a:srgbClr val="EAF0F1"/>
                    </a:solidFill>
                  </a:tcPr>
                </a:tc>
                <a:tc>
                  <a:txBody>
                    <a:bodyPr/>
                    <a:lstStyle/>
                    <a:p>
                      <a:r>
                        <a:rPr sz="1650" b="0">
                          <a:solidFill>
                            <a:srgbClr val="172C42"/>
                          </a:solidFill>
                          <a:latin typeface="Arial"/>
                          <a:ea typeface="Arial"/>
                          <a:cs typeface="Arial"/>
                        </a:rPr>
                        <a:t>Readable explanations and expandable rule evidence</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file_review + stage_audit</a:t>
                      </a:r>
                    </a:p>
                  </a:txBody>
                  <a:tcPr marL="91440" marR="91440" marT="45720" marB="45720">
                    <a:solidFill>
                      <a:srgbClr val="FFFFFF"/>
                    </a:solidFill>
                  </a:tcPr>
                </a:tc>
                <a:tc>
                  <a:txBody>
                    <a:bodyPr/>
                    <a:lstStyle/>
                    <a:p>
                      <a:r>
                        <a:rPr sz="1650" b="0">
                          <a:solidFill>
                            <a:srgbClr val="172C42"/>
                          </a:solidFill>
                          <a:latin typeface="Arial"/>
                          <a:ea typeface="Arial"/>
                          <a:cs typeface="Arial"/>
                        </a:rPr>
                        <a:t>File summaries, filtering and stage conclusions</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report_bundle + session_index</a:t>
                      </a:r>
                    </a:p>
                  </a:txBody>
                  <a:tcPr marL="91440" marR="91440" marT="45720" marB="45720">
                    <a:solidFill>
                      <a:srgbClr val="EAF0F1"/>
                    </a:solidFill>
                  </a:tcPr>
                </a:tc>
                <a:tc>
                  <a:txBody>
                    <a:bodyPr/>
                    <a:lstStyle/>
                    <a:p>
                      <a:r>
                        <a:rPr sz="1650" b="0">
                          <a:solidFill>
                            <a:srgbClr val="172C42"/>
                          </a:solidFill>
                          <a:latin typeface="Arial"/>
                          <a:ea typeface="Arial"/>
                          <a:cs typeface="Arial"/>
                        </a:rPr>
                        <a:t>HTML, JSON, text and master session navigation</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pytest_plugin</a:t>
                      </a:r>
                    </a:p>
                  </a:txBody>
                  <a:tcPr marL="91440" marR="91440" marT="45720" marB="45720">
                    <a:solidFill>
                      <a:srgbClr val="FFFFFF"/>
                    </a:solidFill>
                  </a:tcPr>
                </a:tc>
                <a:tc>
                  <a:txBody>
                    <a:bodyPr/>
                    <a:lstStyle/>
                    <a:p>
                      <a:r>
                        <a:rPr sz="1650" b="0">
                          <a:solidFill>
                            <a:srgbClr val="172C42"/>
                          </a:solidFill>
                          <a:latin typeface="Arial"/>
                          <a:ea typeface="Arial"/>
                          <a:cs typeface="Arial"/>
                        </a:rPr>
                        <a:t>Separate software-test report integration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51695398"/>
      </p:ext>
    </p:extLst>
  </p:cSld>
</p:sld>
</file>

<file path=ppt/slides/slide30.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6314D2-DA86-4932-B104-BB8D901B5913}"/>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CC2ECC5D-17B7-4F3B-9838-A2C5ADCC6373}"/>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Recorded production baseline</a:t>
            </a:r>
          </a:p>
        </p:txBody>
      </p:sp>
      <p:sp>
        <p:nvSpPr>
          <p:cNvPr id="3" name="">
            <a:extLst xmlns:a="http://schemas.openxmlformats.org/drawingml/2006/main">
              <a:ext uri="{FF2B5EF4-FFF2-40B4-BE49-F238E27FC236}">
                <a16:creationId xmlns:a16="http://schemas.microsoft.com/office/drawing/2014/main" id="{E024F806-9BC3-4E29-A408-93427A5D1114}"/>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C116BA4D-5906-4B04-A5A7-550564B58431}"/>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30</a:t>
            </a:r>
          </a:p>
        </p:txBody>
      </p:sp>
      <p:graphicFrame>
        <p:nvGraphicFramePr>
          <p:cNvPr id="5" name="">
            <a:extLst xmlns:a="http://schemas.openxmlformats.org/drawingml/2006/main">
              <a:ext uri="{FF2B5EF4-FFF2-40B4-BE49-F238E27FC236}">
                <a16:creationId xmlns:a16="http://schemas.microsoft.com/office/drawing/2014/main" id="{7A232C2B-A319-425C-990D-132B2C3BFCAB}"/>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2381250"/>
                <a:gridCol w="2857500"/>
                <a:gridCol w="1428750"/>
                <a:gridCol w="1428750"/>
                <a:gridCol w="2876550"/>
              </a:tblGrid>
              <a:tr h="619125">
                <a:tc>
                  <a:txBody>
                    <a:bodyPr/>
                    <a:lstStyle/>
                    <a:p>
                      <a:r>
                        <a:rPr sz="1575" b="1">
                          <a:solidFill>
                            <a:srgbClr val="FFFFFF"/>
                          </a:solidFill>
                          <a:latin typeface="Arial"/>
                          <a:ea typeface="Arial"/>
                          <a:cs typeface="Arial"/>
                        </a:rPr>
                        <a:t>Stage</a:t>
                      </a:r>
                    </a:p>
                  </a:txBody>
                  <a:tcPr marL="91440" marR="91440" marT="45720" marB="45720">
                    <a:solidFill>
                      <a:srgbClr val="0B192B"/>
                    </a:solidFill>
                  </a:tcPr>
                </a:tc>
                <a:tc>
                  <a:txBody>
                    <a:bodyPr/>
                    <a:lstStyle/>
                    <a:p>
                      <a:r>
                        <a:rPr sz="1575" b="1">
                          <a:solidFill>
                            <a:srgbClr val="FFFFFF"/>
                          </a:solidFill>
                          <a:latin typeface="Arial"/>
                          <a:ea typeface="Arial"/>
                          <a:cs typeface="Arial"/>
                        </a:rPr>
                        <a:t>Source / actual files</a:t>
                      </a:r>
                    </a:p>
                  </a:txBody>
                  <a:tcPr marL="91440" marR="91440" marT="45720" marB="45720">
                    <a:solidFill>
                      <a:srgbClr val="0B192B"/>
                    </a:solidFill>
                  </a:tcPr>
                </a:tc>
                <a:tc>
                  <a:txBody>
                    <a:bodyPr/>
                    <a:lstStyle/>
                    <a:p>
                      <a:r>
                        <a:rPr sz="1575" b="1">
                          <a:solidFill>
                            <a:srgbClr val="FFFFFF"/>
                          </a:solidFill>
                          <a:latin typeface="Arial"/>
                          <a:ea typeface="Arial"/>
                          <a:cs typeface="Arial"/>
                        </a:rPr>
                        <a:t>PASS</a:t>
                      </a:r>
                    </a:p>
                  </a:txBody>
                  <a:tcPr marL="91440" marR="91440" marT="45720" marB="45720">
                    <a:solidFill>
                      <a:srgbClr val="0B192B"/>
                    </a:solidFill>
                  </a:tcPr>
                </a:tc>
                <a:tc>
                  <a:txBody>
                    <a:bodyPr/>
                    <a:lstStyle/>
                    <a:p>
                      <a:r>
                        <a:rPr sz="1575" b="1">
                          <a:solidFill>
                            <a:srgbClr val="FFFFFF"/>
                          </a:solidFill>
                          <a:latin typeface="Arial"/>
                          <a:ea typeface="Arial"/>
                          <a:cs typeface="Arial"/>
                        </a:rPr>
                        <a:t>FAIL</a:t>
                      </a:r>
                    </a:p>
                  </a:txBody>
                  <a:tcPr marL="91440" marR="91440" marT="45720" marB="45720">
                    <a:solidFill>
                      <a:srgbClr val="0B192B"/>
                    </a:solidFill>
                  </a:tcPr>
                </a:tc>
                <a:tc>
                  <a:txBody>
                    <a:bodyPr/>
                    <a:lstStyle/>
                    <a:p>
                      <a:r>
                        <a:rPr sz="1575" b="1">
                          <a:solidFill>
                            <a:srgbClr val="FFFFFF"/>
                          </a:solidFill>
                          <a:latin typeface="Arial"/>
                          <a:ea typeface="Arial"/>
                          <a:cs typeface="Arial"/>
                        </a:rPr>
                        <a:t>BLOCKED / N/A</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Final Action</a:t>
                      </a:r>
                    </a:p>
                  </a:txBody>
                  <a:tcPr marL="91440" marR="91440" marT="45720" marB="45720">
                    <a:solidFill>
                      <a:srgbClr val="FFFFFF"/>
                    </a:solidFill>
                  </a:tcPr>
                </a:tc>
                <a:tc>
                  <a:txBody>
                    <a:bodyPr/>
                    <a:lstStyle/>
                    <a:p>
                      <a:r>
                        <a:rPr sz="1650" b="0">
                          <a:solidFill>
                            <a:srgbClr val="172C42"/>
                          </a:solidFill>
                          <a:latin typeface="Arial"/>
                          <a:ea typeface="Arial"/>
                          <a:cs typeface="Arial"/>
                        </a:rPr>
                        <a:t>15 / 65</a:t>
                      </a:r>
                    </a:p>
                  </a:txBody>
                  <a:tcPr marL="91440" marR="91440" marT="45720" marB="45720">
                    <a:solidFill>
                      <a:srgbClr val="FFFFFF"/>
                    </a:solidFill>
                  </a:tcPr>
                </a:tc>
                <a:tc>
                  <a:txBody>
                    <a:bodyPr/>
                    <a:lstStyle/>
                    <a:p>
                      <a:r>
                        <a:rPr sz="1650" b="0">
                          <a:solidFill>
                            <a:srgbClr val="172C42"/>
                          </a:solidFill>
                          <a:latin typeface="Arial"/>
                          <a:ea typeface="Arial"/>
                          <a:cs typeface="Arial"/>
                        </a:rPr>
                        <a:t>165</a:t>
                      </a:r>
                    </a:p>
                  </a:txBody>
                  <a:tcPr marL="91440" marR="91440" marT="45720" marB="45720">
                    <a:solidFill>
                      <a:srgbClr val="FFFFFF"/>
                    </a:solidFill>
                  </a:tcPr>
                </a:tc>
                <a:tc>
                  <a:txBody>
                    <a:bodyPr/>
                    <a:lstStyle/>
                    <a:p>
                      <a:r>
                        <a:rPr sz="1650" b="0">
                          <a:solidFill>
                            <a:srgbClr val="172C42"/>
                          </a:solidFill>
                          <a:latin typeface="Arial"/>
                          <a:ea typeface="Arial"/>
                          <a:cs typeface="Arial"/>
                        </a:rPr>
                        <a:t>1,250</a:t>
                      </a:r>
                    </a:p>
                  </a:txBody>
                  <a:tcPr marL="91440" marR="91440" marT="45720" marB="45720">
                    <a:solidFill>
                      <a:srgbClr val="FFFFFF"/>
                    </a:solidFill>
                  </a:tcPr>
                </a:tc>
                <a:tc>
                  <a:txBody>
                    <a:bodyPr/>
                    <a:lstStyle/>
                    <a:p>
                      <a:r>
                        <a:rPr sz="1650" b="0">
                          <a:solidFill>
                            <a:srgbClr val="172C42"/>
                          </a:solidFill>
                          <a:latin typeface="Arial"/>
                          <a:ea typeface="Arial"/>
                          <a:cs typeface="Arial"/>
                        </a:rPr>
                        <a:t>130 / 0</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Split</a:t>
                      </a:r>
                    </a:p>
                  </a:txBody>
                  <a:tcPr marL="91440" marR="91440" marT="45720" marB="45720">
                    <a:solidFill>
                      <a:srgbClr val="EAF0F1"/>
                    </a:solidFill>
                  </a:tcPr>
                </a:tc>
                <a:tc>
                  <a:txBody>
                    <a:bodyPr/>
                    <a:lstStyle/>
                    <a:p>
                      <a:r>
                        <a:rPr sz="1650" b="0">
                          <a:solidFill>
                            <a:srgbClr val="172C42"/>
                          </a:solidFill>
                          <a:latin typeface="Arial"/>
                          <a:ea typeface="Arial"/>
                          <a:cs typeface="Arial"/>
                        </a:rPr>
                        <a:t>65 / 12</a:t>
                      </a:r>
                    </a:p>
                  </a:txBody>
                  <a:tcPr marL="91440" marR="91440" marT="45720" marB="45720">
                    <a:solidFill>
                      <a:srgbClr val="EAF0F1"/>
                    </a:solidFill>
                  </a:tcPr>
                </a:tc>
                <a:tc>
                  <a:txBody>
                    <a:bodyPr/>
                    <a:lstStyle/>
                    <a:p>
                      <a:r>
                        <a:rPr sz="1650" b="0">
                          <a:solidFill>
                            <a:srgbClr val="172C42"/>
                          </a:solidFill>
                          <a:latin typeface="Arial"/>
                          <a:ea typeface="Arial"/>
                          <a:cs typeface="Arial"/>
                        </a:rPr>
                        <a:t>5,914</a:t>
                      </a:r>
                    </a:p>
                  </a:txBody>
                  <a:tcPr marL="91440" marR="91440" marT="45720" marB="45720">
                    <a:solidFill>
                      <a:srgbClr val="EAF0F1"/>
                    </a:solidFill>
                  </a:tcPr>
                </a:tc>
                <a:tc>
                  <a:txBody>
                    <a:bodyPr/>
                    <a:lstStyle/>
                    <a:p>
                      <a:r>
                        <a:rPr sz="1650" b="0">
                          <a:solidFill>
                            <a:srgbClr val="172C42"/>
                          </a:solidFill>
                          <a:latin typeface="Arial"/>
                          <a:ea typeface="Arial"/>
                          <a:cs typeface="Arial"/>
                        </a:rPr>
                        <a:t>624</a:t>
                      </a:r>
                    </a:p>
                  </a:txBody>
                  <a:tcPr marL="91440" marR="91440" marT="45720" marB="45720">
                    <a:solidFill>
                      <a:srgbClr val="EAF0F1"/>
                    </a:solidFill>
                  </a:tcPr>
                </a:tc>
                <a:tc>
                  <a:txBody>
                    <a:bodyPr/>
                    <a:lstStyle/>
                    <a:p>
                      <a:r>
                        <a:rPr sz="1650" b="0">
                          <a:solidFill>
                            <a:srgbClr val="172C42"/>
                          </a:solidFill>
                          <a:latin typeface="Arial"/>
                          <a:ea typeface="Arial"/>
                          <a:cs typeface="Arial"/>
                        </a:rPr>
                        <a:t>0 / 1</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Stay</a:t>
                      </a:r>
                    </a:p>
                  </a:txBody>
                  <a:tcPr marL="91440" marR="91440" marT="45720" marB="45720">
                    <a:solidFill>
                      <a:srgbClr val="FFFFFF"/>
                    </a:solidFill>
                  </a:tcPr>
                </a:tc>
                <a:tc>
                  <a:txBody>
                    <a:bodyPr/>
                    <a:lstStyle/>
                    <a:p>
                      <a:r>
                        <a:rPr sz="1650" b="0">
                          <a:solidFill>
                            <a:srgbClr val="172C42"/>
                          </a:solidFill>
                          <a:latin typeface="Arial"/>
                          <a:ea typeface="Arial"/>
                          <a:cs typeface="Arial"/>
                        </a:rPr>
                        <a:t>12 / 83</a:t>
                      </a:r>
                    </a:p>
                  </a:txBody>
                  <a:tcPr marL="91440" marR="91440" marT="45720" marB="45720">
                    <a:solidFill>
                      <a:srgbClr val="FFFFFF"/>
                    </a:solidFill>
                  </a:tcPr>
                </a:tc>
                <a:tc>
                  <a:txBody>
                    <a:bodyPr/>
                    <a:lstStyle/>
                    <a:p>
                      <a:r>
                        <a:rPr sz="1650" b="0">
                          <a:solidFill>
                            <a:srgbClr val="172C42"/>
                          </a:solidFill>
                          <a:latin typeface="Arial"/>
                          <a:ea typeface="Arial"/>
                          <a:cs typeface="Arial"/>
                        </a:rPr>
                        <a:t>190</a:t>
                      </a:r>
                    </a:p>
                  </a:txBody>
                  <a:tcPr marL="91440" marR="91440" marT="45720" marB="45720">
                    <a:solidFill>
                      <a:srgbClr val="FFFFFF"/>
                    </a:solidFill>
                  </a:tcPr>
                </a:tc>
                <a:tc>
                  <a:txBody>
                    <a:bodyPr/>
                    <a:lstStyle/>
                    <a:p>
                      <a:r>
                        <a:rPr sz="1650" b="0">
                          <a:solidFill>
                            <a:srgbClr val="172C42"/>
                          </a:solidFill>
                          <a:latin typeface="Arial"/>
                          <a:ea typeface="Arial"/>
                          <a:cs typeface="Arial"/>
                        </a:rPr>
                        <a:t>1</a:t>
                      </a:r>
                    </a:p>
                  </a:txBody>
                  <a:tcPr marL="91440" marR="91440" marT="45720" marB="45720">
                    <a:solidFill>
                      <a:srgbClr val="FFFFFF"/>
                    </a:solidFill>
                  </a:tcPr>
                </a:tc>
                <a:tc>
                  <a:txBody>
                    <a:bodyPr/>
                    <a:lstStyle/>
                    <a:p>
                      <a:r>
                        <a:rPr sz="1650" b="0">
                          <a:solidFill>
                            <a:srgbClr val="172C42"/>
                          </a:solidFill>
                          <a:latin typeface="Arial"/>
                          <a:ea typeface="Arial"/>
                          <a:cs typeface="Arial"/>
                        </a:rPr>
                        <a:t>1 / 0</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Intermediate</a:t>
                      </a:r>
                    </a:p>
                  </a:txBody>
                  <a:tcPr marL="91440" marR="91440" marT="45720" marB="45720">
                    <a:solidFill>
                      <a:srgbClr val="EAF0F1"/>
                    </a:solidFill>
                  </a:tcPr>
                </a:tc>
                <a:tc>
                  <a:txBody>
                    <a:bodyPr/>
                    <a:lstStyle/>
                    <a:p>
                      <a:r>
                        <a:rPr sz="1650" b="0">
                          <a:solidFill>
                            <a:srgbClr val="172C42"/>
                          </a:solidFill>
                          <a:latin typeface="Arial"/>
                          <a:ea typeface="Arial"/>
                          <a:cs typeface="Arial"/>
                        </a:rPr>
                        <a:t>83 / 166</a:t>
                      </a:r>
                    </a:p>
                  </a:txBody>
                  <a:tcPr marL="91440" marR="91440" marT="45720" marB="45720">
                    <a:solidFill>
                      <a:srgbClr val="EAF0F1"/>
                    </a:solidFill>
                  </a:tcPr>
                </a:tc>
                <a:tc>
                  <a:txBody>
                    <a:bodyPr/>
                    <a:lstStyle/>
                    <a:p>
                      <a:r>
                        <a:rPr sz="1650" b="0">
                          <a:solidFill>
                            <a:srgbClr val="172C42"/>
                          </a:solidFill>
                          <a:latin typeface="Arial"/>
                          <a:ea typeface="Arial"/>
                          <a:cs typeface="Arial"/>
                        </a:rPr>
                        <a:t>504</a:t>
                      </a:r>
                    </a:p>
                  </a:txBody>
                  <a:tcPr marL="91440" marR="91440" marT="45720" marB="45720">
                    <a:solidFill>
                      <a:srgbClr val="EAF0F1"/>
                    </a:solidFill>
                  </a:tcPr>
                </a:tc>
                <a:tc>
                  <a:txBody>
                    <a:bodyPr/>
                    <a:lstStyle/>
                    <a:p>
                      <a:r>
                        <a:rPr sz="1650" b="0">
                          <a:solidFill>
                            <a:srgbClr val="172C42"/>
                          </a:solidFill>
                          <a:latin typeface="Arial"/>
                          <a:ea typeface="Arial"/>
                          <a:cs typeface="Arial"/>
                        </a:rPr>
                        <a:t>85</a:t>
                      </a:r>
                    </a:p>
                  </a:txBody>
                  <a:tcPr marL="91440" marR="91440" marT="45720" marB="45720">
                    <a:solidFill>
                      <a:srgbClr val="EAF0F1"/>
                    </a:solidFill>
                  </a:tcPr>
                </a:tc>
                <a:tc>
                  <a:txBody>
                    <a:bodyPr/>
                    <a:lstStyle/>
                    <a:p>
                      <a:r>
                        <a:rPr sz="1650" b="0">
                          <a:solidFill>
                            <a:srgbClr val="172C42"/>
                          </a:solidFill>
                          <a:latin typeface="Arial"/>
                          <a:ea typeface="Arial"/>
                          <a:cs typeface="Arial"/>
                        </a:rPr>
                        <a:t>0 / 0</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TOTAL: 4 business runs</a:t>
                      </a:r>
                    </a:p>
                  </a:txBody>
                  <a:tcPr marL="91440" marR="91440" marT="45720" marB="45720">
                    <a:solidFill>
                      <a:srgbClr val="FFFFFF"/>
                    </a:solidFill>
                  </a:tcPr>
                </a:tc>
                <a:tc>
                  <a:txBody>
                    <a:bodyPr/>
                    <a:lstStyle/>
                    <a:p>
                      <a:r>
                        <a:rPr sz="1650" b="0">
                          <a:solidFill>
                            <a:srgbClr val="172C42"/>
                          </a:solidFill>
                          <a:latin typeface="Arial"/>
                          <a:ea typeface="Arial"/>
                          <a:cs typeface="Arial"/>
                        </a:rPr>
                        <a:t>8,865 validations</a:t>
                      </a:r>
                    </a:p>
                  </a:txBody>
                  <a:tcPr marL="91440" marR="91440" marT="45720" marB="45720">
                    <a:solidFill>
                      <a:srgbClr val="FFFFFF"/>
                    </a:solidFill>
                  </a:tcPr>
                </a:tc>
                <a:tc>
                  <a:txBody>
                    <a:bodyPr/>
                    <a:lstStyle/>
                    <a:p>
                      <a:r>
                        <a:rPr sz="1650" b="0">
                          <a:solidFill>
                            <a:srgbClr val="172C42"/>
                          </a:solidFill>
                          <a:latin typeface="Arial"/>
                          <a:ea typeface="Arial"/>
                          <a:cs typeface="Arial"/>
                        </a:rPr>
                        <a:t>6,773</a:t>
                      </a:r>
                    </a:p>
                  </a:txBody>
                  <a:tcPr marL="91440" marR="91440" marT="45720" marB="45720">
                    <a:solidFill>
                      <a:srgbClr val="FFFFFF"/>
                    </a:solidFill>
                  </a:tcPr>
                </a:tc>
                <a:tc>
                  <a:txBody>
                    <a:bodyPr/>
                    <a:lstStyle/>
                    <a:p>
                      <a:r>
                        <a:rPr sz="1650" b="0">
                          <a:solidFill>
                            <a:srgbClr val="172C42"/>
                          </a:solidFill>
                          <a:latin typeface="Arial"/>
                          <a:ea typeface="Arial"/>
                          <a:cs typeface="Arial"/>
                        </a:rPr>
                        <a:t>1,960</a:t>
                      </a:r>
                    </a:p>
                  </a:txBody>
                  <a:tcPr marL="91440" marR="91440" marT="45720" marB="45720">
                    <a:solidFill>
                      <a:srgbClr val="FFFFFF"/>
                    </a:solidFill>
                  </a:tcPr>
                </a:tc>
                <a:tc>
                  <a:txBody>
                    <a:bodyPr/>
                    <a:lstStyle/>
                    <a:p>
                      <a:r>
                        <a:rPr sz="1650" b="0">
                          <a:solidFill>
                            <a:srgbClr val="172C42"/>
                          </a:solidFill>
                          <a:latin typeface="Arial"/>
                          <a:ea typeface="Arial"/>
                          <a:cs typeface="Arial"/>
                        </a:rPr>
                        <a:t>131 / 1</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D980697-5D17-4268-BE42-7C2669E3B4A6}"/>
              </a:ext>
            </a:extLst>
          </p:cNvPr>
          <p:cNvSpPr>
            <a:spLocks xmlns:a="http://schemas.openxmlformats.org/drawingml/2006/main" noGrp="1"/>
          </p:cNvSpPr>
          <p:nvPr/>
        </p:nvSpPr>
        <p:spPr>
          <a:xfrm xmlns:a="http://schemas.openxmlformats.org/drawingml/2006/main">
            <a:off x="609600" y="5810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7A"/>
                </a:solidFill>
                <a:latin typeface="Arial"/>
                <a:ea typeface="Arial"/>
                <a:cs typeface="Arial"/>
              </a:defRPr>
            </a:defPPr>
          </a:lstStyle>
          <a:p xmlns:a="http://schemas.openxmlformats.org/drawingml/2006/main">
            <a:pPr>
              <a:defRPr sz="1425" b="0">
                <a:solidFill>
                  <a:srgbClr val="52677A"/>
                </a:solidFill>
                <a:latin typeface="Arial"/>
                <a:ea typeface="Arial"/>
                <a:cs typeface="Arial"/>
              </a:defRPr>
            </a:pPr>
            <a:r>
              <a:rPr sz="1425" b="0">
                <a:solidFill>
                  <a:srgbClr val="52677A"/>
                </a:solidFill>
                <a:latin typeface="Arial"/>
                <a:ea typeface="Arial"/>
                <a:cs typeface="Arial"/>
              </a:rPr>
              <a:t>Recorded 11 October 2026 • session 20261011_020107 • Final MEDPAR production not run</a:t>
            </a:r>
          </a:p>
        </p:txBody>
      </p:sp>
    </p:spTree>
    <p:extLst>
      <p:ext uri="{BB962C8B-B14F-4D97-AF65-F5344CB8AC3E}">
        <p14:creationId xmlns:p14="http://schemas.microsoft.com/office/powerpoint/2010/main" val="33371461"/>
      </p:ext>
    </p:extLst>
  </p:cSld>
</p:sld>
</file>

<file path=ppt/slides/slide31.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30D608-38F2-449A-B62B-A4E581DBACCD}"/>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3721E4DD-DA64-4967-9D1D-0E45FF0F111A}"/>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Production findings and their implications</a:t>
            </a:r>
          </a:p>
        </p:txBody>
      </p:sp>
      <p:sp>
        <p:nvSpPr>
          <p:cNvPr id="3" name="">
            <a:extLst xmlns:a="http://schemas.openxmlformats.org/drawingml/2006/main">
              <a:ext uri="{FF2B5EF4-FFF2-40B4-BE49-F238E27FC236}">
                <a16:creationId xmlns:a16="http://schemas.microsoft.com/office/drawing/2014/main" id="{E2F6CE0C-0A4E-4943-9B02-A3C7A92DA7B9}"/>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6E226171-061E-4AD1-962C-EBC7CE2914C8}"/>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31</a:t>
            </a:r>
          </a:p>
        </p:txBody>
      </p:sp>
      <p:graphicFrame>
        <p:nvGraphicFramePr>
          <p:cNvPr id="5" name="">
            <a:extLst xmlns:a="http://schemas.openxmlformats.org/drawingml/2006/main">
              <a:ext uri="{FF2B5EF4-FFF2-40B4-BE49-F238E27FC236}">
                <a16:creationId xmlns:a16="http://schemas.microsoft.com/office/drawing/2014/main" id="{FDE763DC-DFF5-48A4-86EE-6E2B0C94241F}"/>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2381250"/>
                <a:gridCol w="4762500"/>
                <a:gridCol w="3829050"/>
              </a:tblGrid>
              <a:tr h="619125">
                <a:tc>
                  <a:txBody>
                    <a:bodyPr/>
                    <a:lstStyle/>
                    <a:p>
                      <a:r>
                        <a:rPr sz="1575" b="1">
                          <a:solidFill>
                            <a:srgbClr val="FFFFFF"/>
                          </a:solidFill>
                          <a:latin typeface="Arial"/>
                          <a:ea typeface="Arial"/>
                          <a:cs typeface="Arial"/>
                        </a:rPr>
                        <a:t>Stage</a:t>
                      </a:r>
                    </a:p>
                  </a:txBody>
                  <a:tcPr marL="91440" marR="91440" marT="45720" marB="45720">
                    <a:solidFill>
                      <a:srgbClr val="0B192B"/>
                    </a:solidFill>
                  </a:tcPr>
                </a:tc>
                <a:tc>
                  <a:txBody>
                    <a:bodyPr/>
                    <a:lstStyle/>
                    <a:p>
                      <a:r>
                        <a:rPr sz="1575" b="1">
                          <a:solidFill>
                            <a:srgbClr val="FFFFFF"/>
                          </a:solidFill>
                          <a:latin typeface="Arial"/>
                          <a:ea typeface="Arial"/>
                          <a:cs typeface="Arial"/>
                        </a:rPr>
                        <a:t>Evidence</a:t>
                      </a:r>
                    </a:p>
                  </a:txBody>
                  <a:tcPr marL="91440" marR="91440" marT="45720" marB="45720">
                    <a:solidFill>
                      <a:srgbClr val="0B192B"/>
                    </a:solidFill>
                  </a:tcPr>
                </a:tc>
                <a:tc>
                  <a:txBody>
                    <a:bodyPr/>
                    <a:lstStyle/>
                    <a:p>
                      <a:r>
                        <a:rPr sz="1575" b="1">
                          <a:solidFill>
                            <a:srgbClr val="FFFFFF"/>
                          </a:solidFill>
                          <a:latin typeface="Arial"/>
                          <a:ea typeface="Arial"/>
                          <a:cs typeface="Arial"/>
                        </a:rPr>
                        <a:t>Required resolution</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Final Action</a:t>
                      </a:r>
                    </a:p>
                  </a:txBody>
                  <a:tcPr marL="91440" marR="91440" marT="45720" marB="45720">
                    <a:solidFill>
                      <a:srgbClr val="FFFFFF"/>
                    </a:solidFill>
                  </a:tcPr>
                </a:tc>
                <a:tc>
                  <a:txBody>
                    <a:bodyPr/>
                    <a:lstStyle/>
                    <a:p>
                      <a:r>
                        <a:rPr sz="1650" b="0">
                          <a:solidFill>
                            <a:srgbClr val="172C42"/>
                          </a:solidFill>
                          <a:latin typeface="Arial"/>
                          <a:ea typeface="Arial"/>
                          <a:cs typeface="Arial"/>
                        </a:rPr>
                        <a:t>Unsupported query/transaction codes; ordering gaps</a:t>
                      </a:r>
                    </a:p>
                  </a:txBody>
                  <a:tcPr marL="91440" marR="91440" marT="45720" marB="45720">
                    <a:solidFill>
                      <a:srgbClr val="FFFFFF"/>
                    </a:solidFill>
                  </a:tcPr>
                </a:tc>
                <a:tc>
                  <a:txBody>
                    <a:bodyPr/>
                    <a:lstStyle/>
                    <a:p>
                      <a:r>
                        <a:rPr sz="1650" b="0">
                          <a:solidFill>
                            <a:srgbClr val="172C42"/>
                          </a:solidFill>
                          <a:latin typeface="Arial"/>
                          <a:ea typeface="Arial"/>
                          <a:cs typeface="Arial"/>
                        </a:rPr>
                        <a:t>Approved interpretation + complete ordering data</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Split</a:t>
                      </a:r>
                    </a:p>
                  </a:txBody>
                  <a:tcPr marL="91440" marR="91440" marT="45720" marB="45720">
                    <a:solidFill>
                      <a:srgbClr val="EAF0F1"/>
                    </a:solidFill>
                  </a:tcPr>
                </a:tc>
                <a:tc>
                  <a:txBody>
                    <a:bodyPr/>
                    <a:lstStyle/>
                    <a:p>
                      <a:r>
                        <a:rPr sz="1650" b="0">
                          <a:solidFill>
                            <a:srgbClr val="172C42"/>
                          </a:solidFill>
                          <a:latin typeface="Arial"/>
                          <a:ea typeface="Arial"/>
                          <a:cs typeface="Arial"/>
                        </a:rPr>
                        <a:t>Unsupported codes and output identity disagreements</a:t>
                      </a:r>
                    </a:p>
                  </a:txBody>
                  <a:tcPr marL="91440" marR="91440" marT="45720" marB="45720">
                    <a:solidFill>
                      <a:srgbClr val="EAF0F1"/>
                    </a:solidFill>
                  </a:tcPr>
                </a:tc>
                <a:tc>
                  <a:txBody>
                    <a:bodyPr/>
                    <a:lstStyle/>
                    <a:p>
                      <a:r>
                        <a:rPr sz="1650" b="0">
                          <a:solidFill>
                            <a:srgbClr val="172C42"/>
                          </a:solidFill>
                          <a:latin typeface="Arial"/>
                          <a:ea typeface="Arial"/>
                          <a:cs typeface="Arial"/>
                        </a:rPr>
                        <a:t>Correct/clarify data policy; reconcile actual output</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Stay</a:t>
                      </a:r>
                    </a:p>
                  </a:txBody>
                  <a:tcPr marL="91440" marR="91440" marT="45720" marB="45720">
                    <a:solidFill>
                      <a:srgbClr val="FFFFFF"/>
                    </a:solidFill>
                  </a:tcPr>
                </a:tc>
                <a:tc>
                  <a:txBody>
                    <a:bodyPr/>
                    <a:lstStyle/>
                    <a:p>
                      <a:r>
                        <a:rPr sz="1650" b="0">
                          <a:solidFill>
                            <a:srgbClr val="172C42"/>
                          </a:solidFill>
                          <a:latin typeface="Arial"/>
                          <a:ea typeface="Arial"/>
                          <a:cs typeface="Arial"/>
                        </a:rPr>
                        <a:t>March inputs versus May outputs; no identity overlap</a:t>
                      </a:r>
                    </a:p>
                  </a:txBody>
                  <a:tcPr marL="91440" marR="91440" marT="45720" marB="45720">
                    <a:solidFill>
                      <a:srgbClr val="FFFFFF"/>
                    </a:solidFill>
                  </a:tcPr>
                </a:tc>
                <a:tc>
                  <a:txBody>
                    <a:bodyPr/>
                    <a:lstStyle/>
                    <a:p>
                      <a:r>
                        <a:rPr sz="1650" b="0">
                          <a:solidFill>
                            <a:srgbClr val="172C42"/>
                          </a:solidFill>
                          <a:latin typeface="Arial"/>
                          <a:ea typeface="Arial"/>
                          <a:cs typeface="Arial"/>
                        </a:rPr>
                        <a:t>Provide the same processing-cycle pair</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Intermediate</a:t>
                      </a:r>
                    </a:p>
                  </a:txBody>
                  <a:tcPr marL="91440" marR="91440" marT="45720" marB="45720">
                    <a:solidFill>
                      <a:srgbClr val="EAF0F1"/>
                    </a:solidFill>
                  </a:tcPr>
                </a:tc>
                <a:tc>
                  <a:txBody>
                    <a:bodyPr/>
                    <a:lstStyle/>
                    <a:p>
                      <a:r>
                        <a:rPr sz="1650" b="0">
                          <a:solidFill>
                            <a:srgbClr val="172C42"/>
                          </a:solidFill>
                          <a:latin typeface="Arial"/>
                          <a:ea typeface="Arial"/>
                          <a:cs typeface="Arial"/>
                        </a:rPr>
                        <a:t>166 files contain 83 duplicate payload pairs</a:t>
                      </a:r>
                    </a:p>
                  </a:txBody>
                  <a:tcPr marL="91440" marR="91440" marT="45720" marB="45720">
                    <a:solidFill>
                      <a:srgbClr val="EAF0F1"/>
                    </a:solidFill>
                  </a:tcPr>
                </a:tc>
                <a:tc>
                  <a:txBody>
                    <a:bodyPr/>
                    <a:lstStyle/>
                    <a:p>
                      <a:r>
                        <a:rPr sz="1650" b="0">
                          <a:solidFill>
                            <a:srgbClr val="172C42"/>
                          </a:solidFill>
                          <a:latin typeface="Arial"/>
                          <a:ea typeface="Arial"/>
                          <a:cs typeface="Arial"/>
                        </a:rPr>
                        <a:t>Resolve duplicate outputs and unique matching</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Final MEDPAR</a:t>
                      </a:r>
                    </a:p>
                  </a:txBody>
                  <a:tcPr marL="91440" marR="91440" marT="45720" marB="45720">
                    <a:solidFill>
                      <a:srgbClr val="FFFFFF"/>
                    </a:solidFill>
                  </a:tcPr>
                </a:tc>
                <a:tc>
                  <a:txBody>
                    <a:bodyPr/>
                    <a:lstStyle/>
                    <a:p>
                      <a:r>
                        <a:rPr sz="1650" b="0">
                          <a:solidFill>
                            <a:srgbClr val="172C42"/>
                          </a:solidFill>
                          <a:latin typeface="Arial"/>
                          <a:ea typeface="Arial"/>
                          <a:cs typeface="Arial"/>
                        </a:rPr>
                        <a:t>Production dataset absent</a:t>
                      </a:r>
                    </a:p>
                  </a:txBody>
                  <a:tcPr marL="91440" marR="91440" marT="45720" marB="45720">
                    <a:solidFill>
                      <a:srgbClr val="FFFFFF"/>
                    </a:solidFill>
                  </a:tcPr>
                </a:tc>
                <a:tc>
                  <a:txBody>
                    <a:bodyPr/>
                    <a:lstStyle/>
                    <a:p>
                      <a:r>
                        <a:rPr sz="1650" b="0">
                          <a:solidFill>
                            <a:srgbClr val="172C42"/>
                          </a:solidFill>
                          <a:latin typeface="Arial"/>
                          <a:ea typeface="Arial"/>
                          <a:cs typeface="Arial"/>
                        </a:rPr>
                        <a:t>Approved final output and golden/layout evidence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76612069"/>
      </p:ext>
    </p:extLst>
  </p:cSld>
</p:sld>
</file>

<file path=ppt/slides/slide32.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76ADAA-922A-440D-A165-25935E29D062}"/>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RESULTS</a:t>
            </a:r>
          </a:p>
        </p:txBody>
      </p:sp>
      <p:sp>
        <p:nvSpPr>
          <p:cNvPr id="2" name="">
            <a:extLst xmlns:a="http://schemas.openxmlformats.org/drawingml/2006/main">
              <a:ext uri="{FF2B5EF4-FFF2-40B4-BE49-F238E27FC236}">
                <a16:creationId xmlns:a16="http://schemas.microsoft.com/office/drawing/2014/main" id="{9866A64C-11E2-4784-9498-3BCD55EDE4C3}"/>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Verification versus acceptance</a:t>
            </a:r>
          </a:p>
        </p:txBody>
      </p:sp>
      <p:sp>
        <p:nvSpPr>
          <p:cNvPr id="3" name="">
            <a:extLst xmlns:a="http://schemas.openxmlformats.org/drawingml/2006/main">
              <a:ext uri="{FF2B5EF4-FFF2-40B4-BE49-F238E27FC236}">
                <a16:creationId xmlns:a16="http://schemas.microsoft.com/office/drawing/2014/main" id="{8DAA6A03-C93B-4B0F-813B-3D8DF26AF348}"/>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09346D68-6DCD-4A52-885F-BCFC7EFD81A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32</a:t>
            </a:r>
          </a:p>
        </p:txBody>
      </p:sp>
      <p:graphicFrame>
        <p:nvGraphicFramePr>
          <p:cNvPr id="5" name="">
            <a:extLst xmlns:a="http://schemas.openxmlformats.org/drawingml/2006/main">
              <a:ext uri="{FF2B5EF4-FFF2-40B4-BE49-F238E27FC236}">
                <a16:creationId xmlns:a16="http://schemas.microsoft.com/office/drawing/2014/main" id="{D92A430F-E0D5-465B-B439-CBE343EE7453}"/>
              </a:ext>
            </a:extLst>
          </p:cNvPr>
          <p:cNvGraphicFramePr/>
          <p:nvPr/>
        </p:nvGraphicFramePr>
        <p:xfrm>
          <a:off xmlns:a="http://schemas.openxmlformats.org/drawingml/2006/main" x="609600" y="1857375"/>
          <a:ext xmlns:a="http://schemas.openxmlformats.org/drawingml/2006/main" cx="10972800" cy="3095625"/>
        </p:xfrm>
        <a:graphic xmlns:a="http://schemas.openxmlformats.org/drawingml/2006/main">
          <a:graphicData uri="http://schemas.openxmlformats.org/drawingml/2006/table">
            <a:tbl>
              <a:tblPr/>
              <a:tblGrid>
                <a:gridCol w="3048000"/>
                <a:gridCol w="4095750"/>
                <a:gridCol w="3829050"/>
              </a:tblGrid>
              <a:tr h="619125">
                <a:tc>
                  <a:txBody>
                    <a:bodyPr/>
                    <a:lstStyle/>
                    <a:p>
                      <a:r>
                        <a:rPr sz="1575" b="1">
                          <a:solidFill>
                            <a:srgbClr val="FFFFFF"/>
                          </a:solidFill>
                          <a:latin typeface="Arial"/>
                          <a:ea typeface="Arial"/>
                          <a:cs typeface="Arial"/>
                        </a:rPr>
                        <a:t>Evidence</a:t>
                      </a:r>
                    </a:p>
                  </a:txBody>
                  <a:tcPr marL="91440" marR="91440" marT="45720" marB="45720">
                    <a:solidFill>
                      <a:srgbClr val="0B192B"/>
                    </a:solidFill>
                  </a:tcPr>
                </a:tc>
                <a:tc>
                  <a:txBody>
                    <a:bodyPr/>
                    <a:lstStyle/>
                    <a:p>
                      <a:r>
                        <a:rPr sz="1575" b="1">
                          <a:solidFill>
                            <a:srgbClr val="FFFFFF"/>
                          </a:solidFill>
                          <a:latin typeface="Arial"/>
                          <a:ea typeface="Arial"/>
                          <a:cs typeface="Arial"/>
                        </a:rPr>
                        <a:t>What it proves</a:t>
                      </a:r>
                    </a:p>
                  </a:txBody>
                  <a:tcPr marL="91440" marR="91440" marT="45720" marB="45720">
                    <a:solidFill>
                      <a:srgbClr val="0B192B"/>
                    </a:solidFill>
                  </a:tcPr>
                </a:tc>
                <a:tc>
                  <a:txBody>
                    <a:bodyPr/>
                    <a:lstStyle/>
                    <a:p>
                      <a:r>
                        <a:rPr sz="1575" b="1">
                          <a:solidFill>
                            <a:srgbClr val="FFFFFF"/>
                          </a:solidFill>
                          <a:latin typeface="Arial"/>
                          <a:ea typeface="Arial"/>
                          <a:cs typeface="Arial"/>
                        </a:rPr>
                        <a:t>What it does not prove</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257 automated tests passed</a:t>
                      </a:r>
                    </a:p>
                  </a:txBody>
                  <a:tcPr marL="91440" marR="91440" marT="45720" marB="45720">
                    <a:solidFill>
                      <a:srgbClr val="FFFFFF"/>
                    </a:solidFill>
                  </a:tcPr>
                </a:tc>
                <a:tc>
                  <a:txBody>
                    <a:bodyPr/>
                    <a:lstStyle/>
                    <a:p>
                      <a:r>
                        <a:rPr sz="1650" b="0">
                          <a:solidFill>
                            <a:srgbClr val="172C42"/>
                          </a:solidFill>
                          <a:latin typeface="Arial"/>
                          <a:ea typeface="Arial"/>
                          <a:cs typeface="Arial"/>
                        </a:rPr>
                        <a:t>Implemented scenarios pass their assertions</a:t>
                      </a:r>
                    </a:p>
                  </a:txBody>
                  <a:tcPr marL="91440" marR="91440" marT="45720" marB="45720">
                    <a:solidFill>
                      <a:srgbClr val="FFFFFF"/>
                    </a:solidFill>
                  </a:tcPr>
                </a:tc>
                <a:tc>
                  <a:txBody>
                    <a:bodyPr/>
                    <a:lstStyle/>
                    <a:p>
                      <a:r>
                        <a:rPr sz="1650" b="0">
                          <a:solidFill>
                            <a:srgbClr val="172C42"/>
                          </a:solidFill>
                          <a:latin typeface="Arial"/>
                          <a:ea typeface="Arial"/>
                          <a:cs typeface="Arial"/>
                        </a:rPr>
                        <a:t>All supplied production data is correct</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Five synthetic stages passed</a:t>
                      </a:r>
                    </a:p>
                  </a:txBody>
                  <a:tcPr marL="91440" marR="91440" marT="45720" marB="45720">
                    <a:solidFill>
                      <a:srgbClr val="EAF0F1"/>
                    </a:solidFill>
                  </a:tcPr>
                </a:tc>
                <a:tc>
                  <a:txBody>
                    <a:bodyPr/>
                    <a:lstStyle/>
                    <a:p>
                      <a:r>
                        <a:rPr sz="1650" b="0">
                          <a:solidFill>
                            <a:srgbClr val="172C42"/>
                          </a:solidFill>
                          <a:latin typeface="Arial"/>
                          <a:ea typeface="Arial"/>
                          <a:cs typeface="Arial"/>
                        </a:rPr>
                        <a:t>Controlled examples pass across five stages</a:t>
                      </a:r>
                    </a:p>
                  </a:txBody>
                  <a:tcPr marL="91440" marR="91440" marT="45720" marB="45720">
                    <a:solidFill>
                      <a:srgbClr val="EAF0F1"/>
                    </a:solidFill>
                  </a:tcPr>
                </a:tc>
                <a:tc>
                  <a:txBody>
                    <a:bodyPr/>
                    <a:lstStyle/>
                    <a:p>
                      <a:r>
                        <a:rPr sz="1650" b="0">
                          <a:solidFill>
                            <a:srgbClr val="172C42"/>
                          </a:solidFill>
                          <a:latin typeface="Arial"/>
                          <a:ea typeface="Arial"/>
                          <a:cs typeface="Arial"/>
                        </a:rPr>
                        <a:t>CMS or client production equivalence</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Production rules reported</a:t>
                      </a:r>
                    </a:p>
                  </a:txBody>
                  <a:tcPr marL="91440" marR="91440" marT="45720" marB="45720">
                    <a:solidFill>
                      <a:srgbClr val="FFFFFF"/>
                    </a:solidFill>
                  </a:tcPr>
                </a:tc>
                <a:tc>
                  <a:txBody>
                    <a:bodyPr/>
                    <a:lstStyle/>
                    <a:p>
                      <a:r>
                        <a:rPr sz="1650" b="0">
                          <a:solidFill>
                            <a:srgbClr val="172C42"/>
                          </a:solidFill>
                          <a:latin typeface="Arial"/>
                          <a:ea typeface="Arial"/>
                          <a:cs typeface="Arial"/>
                        </a:rPr>
                        <a:t>Disagreements and missing evidence identified</a:t>
                      </a:r>
                    </a:p>
                  </a:txBody>
                  <a:tcPr marL="91440" marR="91440" marT="45720" marB="45720">
                    <a:solidFill>
                      <a:srgbClr val="FFFFFF"/>
                    </a:solidFill>
                  </a:tcPr>
                </a:tc>
                <a:tc>
                  <a:txBody>
                    <a:bodyPr/>
                    <a:lstStyle/>
                    <a:p>
                      <a:r>
                        <a:rPr sz="1650" b="0">
                          <a:solidFill>
                            <a:srgbClr val="172C42"/>
                          </a:solidFill>
                          <a:latin typeface="Arial"/>
                          <a:ea typeface="Arial"/>
                          <a:cs typeface="Arial"/>
                        </a:rPr>
                        <a:t>Production acceptance is complete</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Annotated gap register</a:t>
                      </a:r>
                    </a:p>
                  </a:txBody>
                  <a:tcPr marL="91440" marR="91440" marT="45720" marB="45720">
                    <a:solidFill>
                      <a:srgbClr val="EAF0F1"/>
                    </a:solidFill>
                  </a:tcPr>
                </a:tc>
                <a:tc>
                  <a:txBody>
                    <a:bodyPr/>
                    <a:lstStyle/>
                    <a:p>
                      <a:r>
                        <a:rPr sz="1650" b="0">
                          <a:solidFill>
                            <a:srgbClr val="172C42"/>
                          </a:solidFill>
                          <a:latin typeface="Arial"/>
                          <a:ea typeface="Arial"/>
                          <a:cs typeface="Arial"/>
                        </a:rPr>
                        <a:t>Each gap has a status, reason and closure requirement</a:t>
                      </a:r>
                    </a:p>
                  </a:txBody>
                  <a:tcPr marL="91440" marR="91440" marT="45720" marB="45720">
                    <a:solidFill>
                      <a:srgbClr val="EAF0F1"/>
                    </a:solidFill>
                  </a:tcPr>
                </a:tc>
                <a:tc>
                  <a:txBody>
                    <a:bodyPr/>
                    <a:lstStyle/>
                    <a:p>
                      <a:r>
                        <a:rPr sz="1650" b="0">
                          <a:solidFill>
                            <a:srgbClr val="172C42"/>
                          </a:solidFill>
                          <a:latin typeface="Arial"/>
                          <a:ea typeface="Arial"/>
                          <a:cs typeface="Arial"/>
                        </a:rPr>
                        <a:t>Partial/blocked items are fully closed</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042912683"/>
      </p:ext>
    </p:extLst>
  </p:cSld>
</p:sld>
</file>

<file path=ppt/slides/slide33.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E5F94E0-5D74-45F9-8E89-B83F78BD8E28}"/>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DEMO</a:t>
            </a:r>
          </a:p>
        </p:txBody>
      </p:sp>
      <p:sp>
        <p:nvSpPr>
          <p:cNvPr id="2" name="">
            <a:extLst xmlns:a="http://schemas.openxmlformats.org/drawingml/2006/main">
              <a:ext uri="{FF2B5EF4-FFF2-40B4-BE49-F238E27FC236}">
                <a16:creationId xmlns:a16="http://schemas.microsoft.com/office/drawing/2014/main" id="{2BC6F2FB-4C72-405D-A944-C94E54080DE0}"/>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Live demonstration sequence</a:t>
            </a:r>
          </a:p>
        </p:txBody>
      </p:sp>
      <p:sp>
        <p:nvSpPr>
          <p:cNvPr id="3" name="">
            <a:extLst xmlns:a="http://schemas.openxmlformats.org/drawingml/2006/main">
              <a:ext uri="{FF2B5EF4-FFF2-40B4-BE49-F238E27FC236}">
                <a16:creationId xmlns:a16="http://schemas.microsoft.com/office/drawing/2014/main" id="{A1D5925F-CF70-4297-905F-CE81D85026FC}"/>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1EDBF0DC-D785-424C-B13A-B7312CD8FEC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2E998EE9-9EEF-418E-9CD3-A43FFB92C442}"/>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46AD6B9-DFF5-468A-9F5B-72E55C02B828}"/>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Open README: solution scope, folders, code walkthrough and rule catalog.</a:t>
            </a:r>
          </a:p>
        </p:txBody>
      </p:sp>
      <p:sp>
        <p:nvSpPr>
          <p:cNvPr id="7" name="">
            <a:extLst xmlns:a="http://schemas.openxmlformats.org/drawingml/2006/main">
              <a:ext uri="{FF2B5EF4-FFF2-40B4-BE49-F238E27FC236}">
                <a16:creationId xmlns:a16="http://schemas.microsoft.com/office/drawing/2014/main" id="{7A68C3BC-70AB-483F-B2EE-C7742C6CDDA0}"/>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1B7D302-753B-42EB-8FDC-9B28E42AE49A}"/>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Run the synthetic five-stage example and inspect the generated report.</a:t>
            </a:r>
          </a:p>
        </p:txBody>
      </p:sp>
      <p:sp>
        <p:nvSpPr>
          <p:cNvPr id="9" name="">
            <a:extLst xmlns:a="http://schemas.openxmlformats.org/drawingml/2006/main">
              <a:ext uri="{FF2B5EF4-FFF2-40B4-BE49-F238E27FC236}">
                <a16:creationId xmlns:a16="http://schemas.microsoft.com/office/drawing/2014/main" id="{41F91C3A-706C-4F81-B479-6D0ED22ACBAF}"/>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2AD6922-75E0-4716-8CB9-B8C9C1409756}"/>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Run the configured production stages; show counts and a file search.</a:t>
            </a:r>
          </a:p>
        </p:txBody>
      </p:sp>
      <p:sp>
        <p:nvSpPr>
          <p:cNvPr id="11" name="">
            <a:extLst xmlns:a="http://schemas.openxmlformats.org/drawingml/2006/main">
              <a:ext uri="{FF2B5EF4-FFF2-40B4-BE49-F238E27FC236}">
                <a16:creationId xmlns:a16="http://schemas.microsoft.com/office/drawing/2014/main" id="{EF1D7C67-2F52-4217-9997-C83065FE58D4}"/>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99EED93E-AAFD-4F57-B158-DEDC5E0DBC16}"/>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Open one PASS, one FAIL and one BLOCKED; explain evidence and next action.</a:t>
            </a:r>
          </a:p>
        </p:txBody>
      </p:sp>
    </p:spTree>
    <p:extLst>
      <p:ext uri="{BB962C8B-B14F-4D97-AF65-F5344CB8AC3E}">
        <p14:creationId xmlns:p14="http://schemas.microsoft.com/office/powerpoint/2010/main" val="1138010407"/>
      </p:ext>
    </p:extLst>
  </p:cSld>
</p:sld>
</file>

<file path=ppt/slides/slide34.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B25416-0E10-46AE-B798-068BD4ABCBEB}"/>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DEMO</a:t>
            </a:r>
          </a:p>
        </p:txBody>
      </p:sp>
      <p:sp>
        <p:nvSpPr>
          <p:cNvPr id="2" name="">
            <a:extLst xmlns:a="http://schemas.openxmlformats.org/drawingml/2006/main">
              <a:ext uri="{FF2B5EF4-FFF2-40B4-BE49-F238E27FC236}">
                <a16:creationId xmlns:a16="http://schemas.microsoft.com/office/drawing/2014/main" id="{37988CD4-B05D-47CA-AF3A-982D0FFB730B}"/>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Execution commands</a:t>
            </a:r>
          </a:p>
        </p:txBody>
      </p:sp>
      <p:sp>
        <p:nvSpPr>
          <p:cNvPr id="3" name="">
            <a:extLst xmlns:a="http://schemas.openxmlformats.org/drawingml/2006/main">
              <a:ext uri="{FF2B5EF4-FFF2-40B4-BE49-F238E27FC236}">
                <a16:creationId xmlns:a16="http://schemas.microsoft.com/office/drawing/2014/main" id="{6033C5F4-E761-44CD-AE7C-394D5A56C622}"/>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766426D2-254E-43C7-9D36-41C2B501E41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34</a:t>
            </a:r>
          </a:p>
        </p:txBody>
      </p:sp>
      <p:graphicFrame>
        <p:nvGraphicFramePr>
          <p:cNvPr id="5" name="">
            <a:extLst xmlns:a="http://schemas.openxmlformats.org/drawingml/2006/main">
              <a:ext uri="{FF2B5EF4-FFF2-40B4-BE49-F238E27FC236}">
                <a16:creationId xmlns:a16="http://schemas.microsoft.com/office/drawing/2014/main" id="{BE40781D-CA3F-47D0-8F61-E36BC2E4E04B}"/>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3190875"/>
                <a:gridCol w="7781925"/>
              </a:tblGrid>
              <a:tr h="619125">
                <a:tc>
                  <a:txBody>
                    <a:bodyPr/>
                    <a:lstStyle/>
                    <a:p>
                      <a:r>
                        <a:rPr sz="1575" b="1">
                          <a:solidFill>
                            <a:srgbClr val="FFFFFF"/>
                          </a:solidFill>
                          <a:latin typeface="Arial"/>
                          <a:ea typeface="Arial"/>
                          <a:cs typeface="Arial"/>
                        </a:rPr>
                        <a:t>Purpose</a:t>
                      </a:r>
                    </a:p>
                  </a:txBody>
                  <a:tcPr marL="91440" marR="91440" marT="45720" marB="45720">
                    <a:solidFill>
                      <a:srgbClr val="0B192B"/>
                    </a:solidFill>
                  </a:tcPr>
                </a:tc>
                <a:tc>
                  <a:txBody>
                    <a:bodyPr/>
                    <a:lstStyle/>
                    <a:p>
                      <a:r>
                        <a:rPr sz="1575" b="1">
                          <a:solidFill>
                            <a:srgbClr val="FFFFFF"/>
                          </a:solidFill>
                          <a:latin typeface="Arial"/>
                          <a:ea typeface="Arial"/>
                          <a:cs typeface="Arial"/>
                        </a:rPr>
                        <a:t>Command</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Activate environment</a:t>
                      </a:r>
                    </a:p>
                  </a:txBody>
                  <a:tcPr marL="91440" marR="91440" marT="45720" marB="45720">
                    <a:solidFill>
                      <a:srgbClr val="FFFFFF"/>
                    </a:solidFill>
                  </a:tcPr>
                </a:tc>
                <a:tc>
                  <a:txBody>
                    <a:bodyPr/>
                    <a:lstStyle/>
                    <a:p>
                      <a:r>
                        <a:rPr sz="1650" b="0">
                          <a:solidFill>
                            <a:srgbClr val="172C42"/>
                          </a:solidFill>
                          <a:latin typeface="Arial"/>
                          <a:ea typeface="Arial"/>
                          <a:cs typeface="Arial"/>
                        </a:rPr>
                        <a:t>source .venv/bin/activate</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Manifest-driven example</a:t>
                      </a:r>
                    </a:p>
                  </a:txBody>
                  <a:tcPr marL="91440" marR="91440" marT="45720" marB="45720">
                    <a:solidFill>
                      <a:srgbClr val="EAF0F1"/>
                    </a:solidFill>
                  </a:tcPr>
                </a:tc>
                <a:tc>
                  <a:txBody>
                    <a:bodyPr/>
                    <a:lstStyle/>
                    <a:p>
                      <a:r>
                        <a:rPr sz="1650" b="0">
                          <a:solidFill>
                            <a:srgbClr val="172C42"/>
                          </a:solidFill>
                          <a:latin typeface="Arial"/>
                          <a:ea typeface="Arial"/>
                          <a:cs typeface="Arial"/>
                        </a:rPr>
                        <a:t>python -m medpar_qa.cli --manifest config/run_manifest.all_stages.example.yaml</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Configured stage runs</a:t>
                      </a:r>
                    </a:p>
                  </a:txBody>
                  <a:tcPr marL="91440" marR="91440" marT="45720" marB="45720">
                    <a:solidFill>
                      <a:srgbClr val="FFFFFF"/>
                    </a:solidFill>
                  </a:tcPr>
                </a:tc>
                <a:tc>
                  <a:txBody>
                    <a:bodyPr/>
                    <a:lstStyle/>
                    <a:p>
                      <a:r>
                        <a:rPr sz="1650" b="0">
                          <a:solidFill>
                            <a:srgbClr val="172C42"/>
                          </a:solidFill>
                          <a:latin typeface="Arial"/>
                          <a:ea typeface="Arial"/>
                          <a:cs typeface="Arial"/>
                        </a:rPr>
                        <a:t>python run_commands.py</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Software verification</a:t>
                      </a:r>
                    </a:p>
                  </a:txBody>
                  <a:tcPr marL="91440" marR="91440" marT="45720" marB="45720">
                    <a:solidFill>
                      <a:srgbClr val="EAF0F1"/>
                    </a:solidFill>
                  </a:tcPr>
                </a:tc>
                <a:tc>
                  <a:txBody>
                    <a:bodyPr/>
                    <a:lstStyle/>
                    <a:p>
                      <a:r>
                        <a:rPr sz="1650" b="0">
                          <a:solidFill>
                            <a:srgbClr val="172C42"/>
                          </a:solidFill>
                          <a:latin typeface="Arial"/>
                          <a:ea typeface="Arial"/>
                          <a:cs typeface="Arial"/>
                        </a:rPr>
                        <a:t>python -m pytest -q</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View local reports</a:t>
                      </a:r>
                    </a:p>
                  </a:txBody>
                  <a:tcPr marL="91440" marR="91440" marT="45720" marB="45720">
                    <a:solidFill>
                      <a:srgbClr val="FFFFFF"/>
                    </a:solidFill>
                  </a:tcPr>
                </a:tc>
                <a:tc>
                  <a:txBody>
                    <a:bodyPr/>
                    <a:lstStyle/>
                    <a:p>
                      <a:r>
                        <a:rPr sz="1650" b="0">
                          <a:solidFill>
                            <a:srgbClr val="172C42"/>
                          </a:solidFill>
                          <a:latin typeface="Arial"/>
                          <a:ea typeface="Arial"/>
                          <a:cs typeface="Arial"/>
                        </a:rPr>
                        <a:t>python -m http.server 8765 --bind 127.0.0.1</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72982611"/>
      </p:ext>
    </p:extLst>
  </p:cSld>
</p:sld>
</file>

<file path=ppt/slides/slide35.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688202-7F99-48FC-A317-9E8D95F6C94D}"/>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DEMO</a:t>
            </a:r>
          </a:p>
        </p:txBody>
      </p:sp>
      <p:sp>
        <p:nvSpPr>
          <p:cNvPr id="2" name="">
            <a:extLst xmlns:a="http://schemas.openxmlformats.org/drawingml/2006/main">
              <a:ext uri="{FF2B5EF4-FFF2-40B4-BE49-F238E27FC236}">
                <a16:creationId xmlns:a16="http://schemas.microsoft.com/office/drawing/2014/main" id="{9919F803-725F-4106-A52B-8D1806678CA9}"/>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Questions the team may ask</a:t>
            </a:r>
          </a:p>
        </p:txBody>
      </p:sp>
      <p:sp>
        <p:nvSpPr>
          <p:cNvPr id="3" name="">
            <a:extLst xmlns:a="http://schemas.openxmlformats.org/drawingml/2006/main">
              <a:ext uri="{FF2B5EF4-FFF2-40B4-BE49-F238E27FC236}">
                <a16:creationId xmlns:a16="http://schemas.microsoft.com/office/drawing/2014/main" id="{376DC88F-0D90-4DED-856B-DC4C14C28B88}"/>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A0F82458-93A1-421E-AB5F-2DAB9BBF99A9}"/>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35</a:t>
            </a:r>
          </a:p>
        </p:txBody>
      </p:sp>
      <p:graphicFrame>
        <p:nvGraphicFramePr>
          <p:cNvPr id="5" name="">
            <a:extLst xmlns:a="http://schemas.openxmlformats.org/drawingml/2006/main">
              <a:ext uri="{FF2B5EF4-FFF2-40B4-BE49-F238E27FC236}">
                <a16:creationId xmlns:a16="http://schemas.microsoft.com/office/drawing/2014/main" id="{477F91BC-AC8B-4A03-A839-35B71911896F}"/>
              </a:ext>
            </a:extLst>
          </p:cNvPr>
          <p:cNvGraphicFramePr/>
          <p:nvPr/>
        </p:nvGraphicFramePr>
        <p:xfrm>
          <a:off xmlns:a="http://schemas.openxmlformats.org/drawingml/2006/main" x="609600" y="1857375"/>
          <a:ext xmlns:a="http://schemas.openxmlformats.org/drawingml/2006/main" cx="10972800" cy="3714750"/>
        </p:xfrm>
        <a:graphic xmlns:a="http://schemas.openxmlformats.org/drawingml/2006/main">
          <a:graphicData uri="http://schemas.openxmlformats.org/drawingml/2006/table">
            <a:tbl>
              <a:tblPr/>
              <a:tblGrid>
                <a:gridCol w="4381500"/>
                <a:gridCol w="6591300"/>
              </a:tblGrid>
              <a:tr h="619125">
                <a:tc>
                  <a:txBody>
                    <a:bodyPr/>
                    <a:lstStyle/>
                    <a:p>
                      <a:r>
                        <a:rPr sz="1575" b="1">
                          <a:solidFill>
                            <a:srgbClr val="FFFFFF"/>
                          </a:solidFill>
                          <a:latin typeface="Arial"/>
                          <a:ea typeface="Arial"/>
                          <a:cs typeface="Arial"/>
                        </a:rPr>
                        <a:t>Question</a:t>
                      </a:r>
                    </a:p>
                  </a:txBody>
                  <a:tcPr marL="91440" marR="91440" marT="45720" marB="45720">
                    <a:solidFill>
                      <a:srgbClr val="0B192B"/>
                    </a:solidFill>
                  </a:tcPr>
                </a:tc>
                <a:tc>
                  <a:txBody>
                    <a:bodyPr/>
                    <a:lstStyle/>
                    <a:p>
                      <a:r>
                        <a:rPr sz="1575" b="1">
                          <a:solidFill>
                            <a:srgbClr val="FFFFFF"/>
                          </a:solidFill>
                          <a:latin typeface="Arial"/>
                          <a:ea typeface="Arial"/>
                          <a:cs typeface="Arial"/>
                        </a:rPr>
                        <a:t>Answer</a:t>
                      </a:r>
                    </a:p>
                  </a:txBody>
                  <a:tcPr marL="91440" marR="91440" marT="45720" marB="45720">
                    <a:solidFill>
                      <a:srgbClr val="0B192B"/>
                    </a:solidFill>
                  </a:tcPr>
                </a:tc>
              </a:tr>
              <a:tr h="619125">
                <a:tc>
                  <a:txBody>
                    <a:bodyPr/>
                    <a:lstStyle/>
                    <a:p>
                      <a:r>
                        <a:rPr sz="1650" b="0">
                          <a:solidFill>
                            <a:srgbClr val="172C42"/>
                          </a:solidFill>
                          <a:latin typeface="Arial"/>
                          <a:ea typeface="Arial"/>
                          <a:cs typeface="Arial"/>
                        </a:rPr>
                        <a:t>Why do checks fail when tests pass?</a:t>
                      </a:r>
                    </a:p>
                  </a:txBody>
                  <a:tcPr marL="91440" marR="91440" marT="45720" marB="45720">
                    <a:solidFill>
                      <a:srgbClr val="FFFFFF"/>
                    </a:solidFill>
                  </a:tcPr>
                </a:tc>
                <a:tc>
                  <a:txBody>
                    <a:bodyPr/>
                    <a:lstStyle/>
                    <a:p>
                      <a:r>
                        <a:rPr sz="1650" b="0">
                          <a:solidFill>
                            <a:srgbClr val="172C42"/>
                          </a:solidFill>
                          <a:latin typeface="Arial"/>
                          <a:ea typeface="Arial"/>
                          <a:cs typeface="Arial"/>
                        </a:rPr>
                        <a:t>Tests check software scenarios; production checks assess delivered data.</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Can we call every field complete?</a:t>
                      </a:r>
                    </a:p>
                  </a:txBody>
                  <a:tcPr marL="91440" marR="91440" marT="45720" marB="45720">
                    <a:solidFill>
                      <a:srgbClr val="EAF0F1"/>
                    </a:solidFill>
                  </a:tcPr>
                </a:tc>
                <a:tc>
                  <a:txBody>
                    <a:bodyPr/>
                    <a:lstStyle/>
                    <a:p>
                      <a:r>
                        <a:rPr sz="1650" b="0">
                          <a:solidFill>
                            <a:srgbClr val="172C42"/>
                          </a:solidFill>
                          <a:latin typeface="Arial"/>
                          <a:ea typeface="Arial"/>
                          <a:cs typeface="Arial"/>
                        </a:rPr>
                        <a:t>Registry comparison exists; independent derivation/layout approval varies.</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Why BLOCKED instead of FAIL?</a:t>
                      </a:r>
                    </a:p>
                  </a:txBody>
                  <a:tcPr marL="91440" marR="91440" marT="45720" marB="45720">
                    <a:solidFill>
                      <a:srgbClr val="FFFFFF"/>
                    </a:solidFill>
                  </a:tcPr>
                </a:tc>
                <a:tc>
                  <a:txBody>
                    <a:bodyPr/>
                    <a:lstStyle/>
                    <a:p>
                      <a:r>
                        <a:rPr sz="1650" b="0">
                          <a:solidFill>
                            <a:srgbClr val="172C42"/>
                          </a:solidFill>
                          <a:latin typeface="Arial"/>
                          <a:ea typeface="Arial"/>
                          <a:cs typeface="Arial"/>
                        </a:rPr>
                        <a:t>The rule cannot decide without required evidence or approved interpretation.</a:t>
                      </a:r>
                    </a:p>
                  </a:txBody>
                  <a:tcPr marL="91440" marR="91440" marT="45720" marB="45720">
                    <a:solidFill>
                      <a:srgbClr val="FFFFFF"/>
                    </a:solidFill>
                  </a:tcPr>
                </a:tc>
              </a:tr>
              <a:tr h="619125">
                <a:tc>
                  <a:txBody>
                    <a:bodyPr/>
                    <a:lstStyle/>
                    <a:p>
                      <a:r>
                        <a:rPr sz="1650" b="0">
                          <a:solidFill>
                            <a:srgbClr val="172C42"/>
                          </a:solidFill>
                          <a:latin typeface="Arial"/>
                          <a:ea typeface="Arial"/>
                          <a:cs typeface="Arial"/>
                        </a:rPr>
                        <a:t>Will filtering change totals?</a:t>
                      </a:r>
                    </a:p>
                  </a:txBody>
                  <a:tcPr marL="91440" marR="91440" marT="45720" marB="45720">
                    <a:solidFill>
                      <a:srgbClr val="EAF0F1"/>
                    </a:solidFill>
                  </a:tcPr>
                </a:tc>
                <a:tc>
                  <a:txBody>
                    <a:bodyPr/>
                    <a:lstStyle/>
                    <a:p>
                      <a:r>
                        <a:rPr sz="1650" b="0">
                          <a:solidFill>
                            <a:srgbClr val="172C42"/>
                          </a:solidFill>
                          <a:latin typeface="Arial"/>
                          <a:ea typeface="Arial"/>
                          <a:cs typeface="Arial"/>
                        </a:rPr>
                        <a:t>Evidence is narrowed; the full-run conclusion retains its scope.</a:t>
                      </a:r>
                    </a:p>
                  </a:txBody>
                  <a:tcPr marL="91440" marR="91440" marT="45720" marB="45720">
                    <a:solidFill>
                      <a:srgbClr val="EAF0F1"/>
                    </a:solidFill>
                  </a:tcPr>
                </a:tc>
              </a:tr>
              <a:tr h="619125">
                <a:tc>
                  <a:txBody>
                    <a:bodyPr/>
                    <a:lstStyle/>
                    <a:p>
                      <a:r>
                        <a:rPr sz="1650" b="0">
                          <a:solidFill>
                            <a:srgbClr val="172C42"/>
                          </a:solidFill>
                          <a:latin typeface="Arial"/>
                          <a:ea typeface="Arial"/>
                          <a:cs typeface="Arial"/>
                        </a:rPr>
                        <a:t>When will production be accepted?</a:t>
                      </a:r>
                    </a:p>
                  </a:txBody>
                  <a:tcPr marL="91440" marR="91440" marT="45720" marB="45720">
                    <a:solidFill>
                      <a:srgbClr val="FFFFFF"/>
                    </a:solidFill>
                  </a:tcPr>
                </a:tc>
                <a:tc>
                  <a:txBody>
                    <a:bodyPr/>
                    <a:lstStyle/>
                    <a:p>
                      <a:r>
                        <a:rPr sz="1650" b="0">
                          <a:solidFill>
                            <a:srgbClr val="172C42"/>
                          </a:solidFill>
                          <a:latin typeface="Arial"/>
                          <a:ea typeface="Arial"/>
                          <a:cs typeface="Arial"/>
                        </a:rPr>
                        <a:t>After dependencies are supplied, fixes verified and acceptance signed off.</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84300440"/>
      </p:ext>
    </p:extLst>
  </p:cSld>
</p:sld>
</file>

<file path=ppt/slides/slide36.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A31F547-6099-4952-BC29-41F2D770BF49}"/>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0244D5B1-C248-4DDE-B896-72A5EB2C8CDB}"/>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Closure plan and team decisions</a:t>
            </a:r>
          </a:p>
        </p:txBody>
      </p:sp>
      <p:sp>
        <p:nvSpPr>
          <p:cNvPr id="3" name="">
            <a:extLst xmlns:a="http://schemas.openxmlformats.org/drawingml/2006/main">
              <a:ext uri="{FF2B5EF4-FFF2-40B4-BE49-F238E27FC236}">
                <a16:creationId xmlns:a16="http://schemas.microsoft.com/office/drawing/2014/main" id="{E35B9715-D885-4FC8-93F3-D5DE3B40D78E}"/>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6C1090B3-31E7-480E-BFC0-9E1E4B3D97A7}"/>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5EFAA964-6C86-4A7E-9192-1D1FBF363E25}"/>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DB052B5-6823-4AF6-A1FF-2753E37DD66E}"/>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Approve unresolved rule interpretations, copybooks and mapping/reference inputs.</a:t>
            </a:r>
          </a:p>
        </p:txBody>
      </p:sp>
      <p:sp>
        <p:nvSpPr>
          <p:cNvPr id="7" name="">
            <a:extLst xmlns:a="http://schemas.openxmlformats.org/drawingml/2006/main">
              <a:ext uri="{FF2B5EF4-FFF2-40B4-BE49-F238E27FC236}">
                <a16:creationId xmlns:a16="http://schemas.microsoft.com/office/drawing/2014/main" id="{C270687C-9D30-490F-82E2-4DAD239F08DE}"/>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5AF139A-472B-4F27-8F14-F301A5FEB448}"/>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Provide matched production cycles, unique outputs and Final MEDPAR data.</a:t>
            </a:r>
          </a:p>
        </p:txBody>
      </p:sp>
      <p:sp>
        <p:nvSpPr>
          <p:cNvPr id="9" name="">
            <a:extLst xmlns:a="http://schemas.openxmlformats.org/drawingml/2006/main">
              <a:ext uri="{FF2B5EF4-FFF2-40B4-BE49-F238E27FC236}">
                <a16:creationId xmlns:a16="http://schemas.microsoft.com/office/drawing/2014/main" id="{2AFC31B1-7B9A-4EA2-B53E-6CD6199FBDC1}"/>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CFE6237-3837-45B9-B1AA-60315FD07FCC}"/>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Apply the approved changes and rerun stage, file and golden checks.</a:t>
            </a:r>
          </a:p>
        </p:txBody>
      </p:sp>
      <p:sp>
        <p:nvSpPr>
          <p:cNvPr id="11" name="">
            <a:extLst xmlns:a="http://schemas.openxmlformats.org/drawingml/2006/main">
              <a:ext uri="{FF2B5EF4-FFF2-40B4-BE49-F238E27FC236}">
                <a16:creationId xmlns:a16="http://schemas.microsoft.com/office/drawing/2014/main" id="{1DD7C1D0-249C-4687-AE98-3DDE85CCF758}"/>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C25EFD23-D656-4EF7-B9D5-3629CE63D503}"/>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Review residual findings and record client/team acceptance.</a:t>
            </a:r>
          </a:p>
        </p:txBody>
      </p:sp>
    </p:spTree>
    <p:extLst>
      <p:ext uri="{BB962C8B-B14F-4D97-AF65-F5344CB8AC3E}">
        <p14:creationId xmlns:p14="http://schemas.microsoft.com/office/powerpoint/2010/main" val="81861654"/>
      </p:ext>
    </p:extLst>
  </p:cSld>
</p:sld>
</file>

<file path=ppt/slides/slide37.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F188CA-A997-4D16-B275-FE716B7C814B}"/>
              </a:ext>
            </a:extLst>
          </p:cNvPr>
          <p:cNvSpPr>
            <a:spLocks xmlns:a="http://schemas.openxmlformats.org/drawingml/2006/main" noGrp="1"/>
          </p:cNvSpPr>
          <p:nvPr/>
        </p:nvSpPr>
        <p:spPr>
          <a:xfrm xmlns:a="http://schemas.openxmlformats.org/drawingml/2006/main">
            <a:off x="609600" y="285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83"/>
                </a:solidFill>
                <a:latin typeface="Arial"/>
                <a:ea typeface="Arial"/>
                <a:cs typeface="Arial"/>
              </a:defRPr>
            </a:defPPr>
          </a:lstStyle>
          <a:p xmlns:a="http://schemas.openxmlformats.org/drawingml/2006/main">
            <a:pPr>
              <a:defRPr sz="1200" b="1">
                <a:solidFill>
                  <a:srgbClr val="087F83"/>
                </a:solidFill>
                <a:latin typeface="Arial"/>
                <a:ea typeface="Arial"/>
                <a:cs typeface="Arial"/>
              </a:defRPr>
            </a:pPr>
            <a:r>
              <a:rPr sz="1200" b="1">
                <a:solidFill>
                  <a:srgbClr val="087F83"/>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947D6886-AEC3-4BAF-B852-0910317FAC75}"/>
              </a:ext>
            </a:extLst>
          </p:cNvPr>
          <p:cNvSpPr>
            <a:spLocks xmlns:a="http://schemas.openxmlformats.org/drawingml/2006/main" noGrp="1"/>
          </p:cNvSpPr>
          <p:nvPr/>
        </p:nvSpPr>
        <p:spPr>
          <a:xfrm xmlns:a="http://schemas.openxmlformats.org/drawingml/2006/main">
            <a:off x="609600" y="809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C42"/>
                </a:solidFill>
                <a:latin typeface="Arial"/>
                <a:ea typeface="Arial"/>
                <a:cs typeface="Arial"/>
              </a:defRPr>
            </a:defPPr>
          </a:lstStyle>
          <a:p xmlns:a="http://schemas.openxmlformats.org/drawingml/2006/main">
            <a:pPr>
              <a:defRPr sz="3150" b="1">
                <a:solidFill>
                  <a:srgbClr val="172C42"/>
                </a:solidFill>
                <a:latin typeface="Arial"/>
                <a:ea typeface="Arial"/>
                <a:cs typeface="Arial"/>
              </a:defRPr>
            </a:pPr>
            <a:r>
              <a:rPr sz="3150" b="1">
                <a:solidFill>
                  <a:srgbClr val="172C42"/>
                </a:solidFill>
                <a:latin typeface="Arial"/>
                <a:ea typeface="Arial"/>
                <a:cs typeface="Arial"/>
              </a:rPr>
              <a:t>Demonstration conclusion</a:t>
            </a:r>
          </a:p>
        </p:txBody>
      </p:sp>
      <p:sp>
        <p:nvSpPr>
          <p:cNvPr id="3" name="">
            <a:extLst xmlns:a="http://schemas.openxmlformats.org/drawingml/2006/main">
              <a:ext uri="{FF2B5EF4-FFF2-40B4-BE49-F238E27FC236}">
                <a16:creationId xmlns:a16="http://schemas.microsoft.com/office/drawing/2014/main" id="{F9A41C1C-7A31-4EFC-A41E-B04E15482C52}"/>
              </a:ext>
            </a:extLst>
          </p:cNvPr>
          <p:cNvSpPr>
            <a:spLocks xmlns:a="http://schemas.openxmlformats.org/drawingml/2006/main" noGrp="1"/>
          </p:cNvSpPr>
          <p:nvPr/>
        </p:nvSpPr>
        <p:spPr>
          <a:xfrm xmlns:a="http://schemas.openxmlformats.org/drawingml/2006/main">
            <a:off x="609600" y="63627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MEDPAR  /  TEAM DEMONSTRATION</a:t>
            </a:r>
          </a:p>
        </p:txBody>
      </p:sp>
      <p:sp>
        <p:nvSpPr>
          <p:cNvPr id="4" name="">
            <a:extLst xmlns:a="http://schemas.openxmlformats.org/drawingml/2006/main">
              <a:ext uri="{FF2B5EF4-FFF2-40B4-BE49-F238E27FC236}">
                <a16:creationId xmlns:a16="http://schemas.microsoft.com/office/drawing/2014/main" id="{360EABDD-42AB-423B-96AE-D8FC92F18442}"/>
              </a:ext>
            </a:extLst>
          </p:cNvPr>
          <p:cNvSpPr>
            <a:spLocks xmlns:a="http://schemas.openxmlformats.org/drawingml/2006/main" noGrp="1"/>
          </p:cNvSpPr>
          <p:nvPr/>
        </p:nvSpPr>
        <p:spPr>
          <a:xfrm xmlns:a="http://schemas.openxmlformats.org/drawingml/2006/main">
            <a:off x="1104900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77A"/>
                </a:solidFill>
                <a:latin typeface="Arial"/>
                <a:ea typeface="Arial"/>
                <a:cs typeface="Arial"/>
              </a:defRPr>
            </a:defPPr>
          </a:lstStyle>
          <a:p xmlns:a="http://schemas.openxmlformats.org/drawingml/2006/main">
            <a:pPr>
              <a:defRPr sz="1050" b="0">
                <a:solidFill>
                  <a:srgbClr val="52677A"/>
                </a:solidFill>
                <a:latin typeface="Arial"/>
                <a:ea typeface="Arial"/>
                <a:cs typeface="Arial"/>
              </a:defRPr>
            </a:pPr>
            <a:r>
              <a:rPr sz="1050" b="0">
                <a:solidFill>
                  <a:srgbClr val="52677A"/>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63C96BE9-D205-4408-8336-39B6CFB0B6F1}"/>
              </a:ext>
            </a:extLst>
          </p:cNvPr>
          <p:cNvSpPr>
            <a:spLocks xmlns:a="http://schemas.openxmlformats.org/drawingml/2006/main" noGrp="1"/>
          </p:cNvSpPr>
          <p:nvPr/>
        </p:nvSpPr>
        <p:spPr>
          <a:xfrm xmlns:a="http://schemas.openxmlformats.org/drawingml/2006/main">
            <a:off x="609600" y="19526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11B60C9-70C7-44A3-8A9C-3447B330C5A3}"/>
              </a:ext>
            </a:extLst>
          </p:cNvPr>
          <p:cNvSpPr>
            <a:spLocks xmlns:a="http://schemas.openxmlformats.org/drawingml/2006/main" noGrp="1"/>
          </p:cNvSpPr>
          <p:nvPr/>
        </p:nvSpPr>
        <p:spPr>
          <a:xfrm xmlns:a="http://schemas.openxmlformats.org/drawingml/2006/main">
            <a:off x="1381125" y="1952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The framework connects requirements, code and file-level validation evidence.</a:t>
            </a:r>
          </a:p>
        </p:txBody>
      </p:sp>
      <p:sp>
        <p:nvSpPr>
          <p:cNvPr id="7" name="">
            <a:extLst xmlns:a="http://schemas.openxmlformats.org/drawingml/2006/main">
              <a:ext uri="{FF2B5EF4-FFF2-40B4-BE49-F238E27FC236}">
                <a16:creationId xmlns:a16="http://schemas.microsoft.com/office/drawing/2014/main" id="{66A65E31-745C-4D42-9E5B-AAE5FA0C50C5}"/>
              </a:ext>
            </a:extLst>
          </p:cNvPr>
          <p:cNvSpPr>
            <a:spLocks xmlns:a="http://schemas.openxmlformats.org/drawingml/2006/main" noGrp="1"/>
          </p:cNvSpPr>
          <p:nvPr/>
        </p:nvSpPr>
        <p:spPr>
          <a:xfrm xmlns:a="http://schemas.openxmlformats.org/drawingml/2006/main">
            <a:off x="609600" y="27908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6391C85-0842-4B58-9479-FE37804A41B6}"/>
              </a:ext>
            </a:extLst>
          </p:cNvPr>
          <p:cNvSpPr>
            <a:spLocks xmlns:a="http://schemas.openxmlformats.org/drawingml/2006/main" noGrp="1"/>
          </p:cNvSpPr>
          <p:nvPr/>
        </p:nvSpPr>
        <p:spPr>
          <a:xfrm xmlns:a="http://schemas.openxmlformats.org/drawingml/2006/main">
            <a:off x="1381125" y="27908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All five stages are demonstrated with controlled examples and documented rules.</a:t>
            </a:r>
          </a:p>
        </p:txBody>
      </p:sp>
      <p:sp>
        <p:nvSpPr>
          <p:cNvPr id="9" name="">
            <a:extLst xmlns:a="http://schemas.openxmlformats.org/drawingml/2006/main">
              <a:ext uri="{FF2B5EF4-FFF2-40B4-BE49-F238E27FC236}">
                <a16:creationId xmlns:a16="http://schemas.microsoft.com/office/drawing/2014/main" id="{D3259ABF-1D19-482A-911D-34D059D925AB}"/>
              </a:ext>
            </a:extLst>
          </p:cNvPr>
          <p:cNvSpPr>
            <a:spLocks xmlns:a="http://schemas.openxmlformats.org/drawingml/2006/main" noGrp="1"/>
          </p:cNvSpPr>
          <p:nvPr/>
        </p:nvSpPr>
        <p:spPr>
          <a:xfrm xmlns:a="http://schemas.openxmlformats.org/drawingml/2006/main">
            <a:off x="609600" y="36290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D8CBF30-38EF-4036-8D4A-159CAD5B29BD}"/>
              </a:ext>
            </a:extLst>
          </p:cNvPr>
          <p:cNvSpPr>
            <a:spLocks xmlns:a="http://schemas.openxmlformats.org/drawingml/2006/main" noGrp="1"/>
          </p:cNvSpPr>
          <p:nvPr/>
        </p:nvSpPr>
        <p:spPr>
          <a:xfrm xmlns:a="http://schemas.openxmlformats.org/drawingml/2006/main">
            <a:off x="1381125" y="36290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Production discrepancies and acceptance dependencies remain explicitly visible.</a:t>
            </a:r>
          </a:p>
        </p:txBody>
      </p:sp>
      <p:sp>
        <p:nvSpPr>
          <p:cNvPr id="11" name="">
            <a:extLst xmlns:a="http://schemas.openxmlformats.org/drawingml/2006/main">
              <a:ext uri="{FF2B5EF4-FFF2-40B4-BE49-F238E27FC236}">
                <a16:creationId xmlns:a16="http://schemas.microsoft.com/office/drawing/2014/main" id="{A074F87B-1606-4266-BA22-379F0D793A49}"/>
              </a:ext>
            </a:extLst>
          </p:cNvPr>
          <p:cNvSpPr>
            <a:spLocks xmlns:a="http://schemas.openxmlformats.org/drawingml/2006/main" noGrp="1"/>
          </p:cNvSpPr>
          <p:nvPr/>
        </p:nvSpPr>
        <p:spPr>
          <a:xfrm xmlns:a="http://schemas.openxmlformats.org/drawingml/2006/main">
            <a:off x="609600" y="4467225"/>
            <a:ext cx="52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3"/>
                </a:solidFill>
                <a:latin typeface="Arial"/>
                <a:ea typeface="Arial"/>
                <a:cs typeface="Arial"/>
              </a:defRPr>
            </a:defPPr>
          </a:lstStyle>
          <a:p xmlns:a="http://schemas.openxmlformats.org/drawingml/2006/main">
            <a:pPr>
              <a:defRPr sz="2025" b="1">
                <a:solidFill>
                  <a:srgbClr val="087F83"/>
                </a:solidFill>
                <a:latin typeface="Arial"/>
                <a:ea typeface="Arial"/>
                <a:cs typeface="Arial"/>
              </a:defRPr>
            </a:pPr>
            <a:r>
              <a:rPr sz="2025" b="1">
                <a:solidFill>
                  <a:srgbClr val="087F83"/>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23E57B5A-7506-4868-84F8-5AB8A7BFAFDD}"/>
              </a:ext>
            </a:extLst>
          </p:cNvPr>
          <p:cNvSpPr>
            <a:spLocks xmlns:a="http://schemas.openxmlformats.org/drawingml/2006/main" noGrp="1"/>
          </p:cNvSpPr>
          <p:nvPr/>
        </p:nvSpPr>
        <p:spPr>
          <a:xfrm xmlns:a="http://schemas.openxmlformats.org/drawingml/2006/main">
            <a:off x="1381125" y="44672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C42"/>
                </a:solidFill>
                <a:latin typeface="Arial"/>
                <a:ea typeface="Arial"/>
                <a:cs typeface="Arial"/>
              </a:defRPr>
            </a:defPPr>
          </a:lstStyle>
          <a:p xmlns:a="http://schemas.openxmlformats.org/drawingml/2006/main">
            <a:pPr>
              <a:defRPr sz="1950" b="0">
                <a:solidFill>
                  <a:srgbClr val="172C42"/>
                </a:solidFill>
                <a:latin typeface="Arial"/>
                <a:ea typeface="Arial"/>
                <a:cs typeface="Arial"/>
              </a:defRPr>
            </a:pPr>
            <a:r>
              <a:rPr sz="1950" b="0">
                <a:solidFill>
                  <a:srgbClr val="172C42"/>
                </a:solidFill>
                <a:latin typeface="Arial"/>
                <a:ea typeface="Arial"/>
                <a:cs typeface="Arial"/>
              </a:rPr>
              <a:t>The next milestone is verified resolution and approved production acceptance.</a:t>
            </a:r>
          </a:p>
        </p:txBody>
      </p:sp>
    </p:spTree>
    <p:extLst>
      <p:ext uri="{BB962C8B-B14F-4D97-AF65-F5344CB8AC3E}">
        <p14:creationId xmlns:p14="http://schemas.microsoft.com/office/powerpoint/2010/main" val="2059983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2026-10-11T13:26:38.6800000Z</dcterms:created>
  <dcterms:modified xsi:type="dcterms:W3CDTF">2026-10-11T13:26:38.6800000Z</dcterms:modified>
</coreProperties>
</file>