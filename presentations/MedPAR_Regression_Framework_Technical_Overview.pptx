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55019b3ce5451b" /><Relationship Type="http://schemas.openxmlformats.org/officeDocument/2006/relationships/extended-properties" Target="/docProps/app.xml" Id="R1067a6f8443e4bfa" /><Relationship Type="http://schemas.openxmlformats.org/officeDocument/2006/relationships/officeDocument" Target="/ppt/presentation.xml" Id="Rac1d39d2b76d4944" /></Relationships>
</file>

<file path=ppt/presentation.xml><?xml version="1.0" encoding="utf-8"?>
<p:presentation xmlns:p="http://schemas.openxmlformats.org/presentationml/2006/main">
  <p:sldMasterIdLst>
    <p:sldMasterId xmlns:r="http://schemas.openxmlformats.org/officeDocument/2006/relationships" id="2147483648" r:id="Rb0c6ebb384844e13"/>
  </p:sldMasterIdLst>
  <p:notesMasterIdLst>
    <p:notesMasterId xmlns:r="http://schemas.openxmlformats.org/officeDocument/2006/relationships" r:id="Rc9473279adf341d2"/>
  </p:notesMasterIdLst>
  <p:sldIdLst>
    <p:sldId xmlns:r="http://schemas.openxmlformats.org/officeDocument/2006/relationships" id="256" r:id="R506c8a2b9457401f"/>
    <p:sldId xmlns:r="http://schemas.openxmlformats.org/officeDocument/2006/relationships" id="257" r:id="R2f30b090516641b5"/>
    <p:sldId xmlns:r="http://schemas.openxmlformats.org/officeDocument/2006/relationships" id="258" r:id="R4d28c6b318734563"/>
    <p:sldId xmlns:r="http://schemas.openxmlformats.org/officeDocument/2006/relationships" id="259" r:id="Rbb83c7b3bed142b4"/>
    <p:sldId xmlns:r="http://schemas.openxmlformats.org/officeDocument/2006/relationships" id="260" r:id="R9b7f300f2cfc4824"/>
    <p:sldId xmlns:r="http://schemas.openxmlformats.org/officeDocument/2006/relationships" id="261" r:id="R7a8d3a009b5c428a"/>
    <p:sldId xmlns:r="http://schemas.openxmlformats.org/officeDocument/2006/relationships" id="262" r:id="R634de92fe1954ef1"/>
    <p:sldId xmlns:r="http://schemas.openxmlformats.org/officeDocument/2006/relationships" id="263" r:id="Re5f5d4cbf934475c"/>
    <p:sldId xmlns:r="http://schemas.openxmlformats.org/officeDocument/2006/relationships" id="264" r:id="Rf87cec9e6fe6493c"/>
    <p:sldId xmlns:r="http://schemas.openxmlformats.org/officeDocument/2006/relationships" id="265" r:id="Rb1ddbb97491e453d"/>
    <p:sldId xmlns:r="http://schemas.openxmlformats.org/officeDocument/2006/relationships" id="266" r:id="Rbe259b1fcd5340dc"/>
    <p:sldId xmlns:r="http://schemas.openxmlformats.org/officeDocument/2006/relationships" id="267" r:id="Rd25b859da6784ab7"/>
    <p:sldId xmlns:r="http://schemas.openxmlformats.org/officeDocument/2006/relationships" id="268" r:id="R125ffb6b6b154b13"/>
    <p:sldId xmlns:r="http://schemas.openxmlformats.org/officeDocument/2006/relationships" id="269" r:id="R447706cf119643bc"/>
    <p:sldId xmlns:r="http://schemas.openxmlformats.org/officeDocument/2006/relationships" id="270" r:id="R1b64976ce3ae47b2"/>
    <p:sldId xmlns:r="http://schemas.openxmlformats.org/officeDocument/2006/relationships" id="271" r:id="Rc416191142564f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8092765ee34f3b" /><Relationship Type="http://schemas.openxmlformats.org/officeDocument/2006/relationships/slideMaster" Target="/ppt/slideMasters/slideMaster1.xml" Id="Rb0c6ebb384844e13" /><Relationship Type="http://schemas.openxmlformats.org/officeDocument/2006/relationships/notesMaster" Target="/ppt/notesMasters/notesMaster1.xml" Id="Rc9473279adf341d2" /><Relationship Type="http://schemas.openxmlformats.org/officeDocument/2006/relationships/presProps" Target="/ppt/presProps.xml" Id="R8097343de053464a" /><Relationship Type="http://schemas.openxmlformats.org/officeDocument/2006/relationships/tableStyles" Target="/ppt/tableStyles.xml" Id="R26f3c3538d4a4c91" /><Relationship Type="http://schemas.openxmlformats.org/officeDocument/2006/relationships/slide" Target="/ppt/slides/slide1.xml" Id="R506c8a2b9457401f" /><Relationship Type="http://schemas.openxmlformats.org/officeDocument/2006/relationships/slide" Target="/ppt/slides/slide2.xml" Id="R2f30b090516641b5" /><Relationship Type="http://schemas.openxmlformats.org/officeDocument/2006/relationships/slide" Target="/ppt/slides/slide3.xml" Id="R4d28c6b318734563" /><Relationship Type="http://schemas.openxmlformats.org/officeDocument/2006/relationships/slide" Target="/ppt/slides/slide4.xml" Id="Rbb83c7b3bed142b4" /><Relationship Type="http://schemas.openxmlformats.org/officeDocument/2006/relationships/slide" Target="/ppt/slides/slide5.xml" Id="R9b7f300f2cfc4824" /><Relationship Type="http://schemas.openxmlformats.org/officeDocument/2006/relationships/slide" Target="/ppt/slides/slide6.xml" Id="R7a8d3a009b5c428a" /><Relationship Type="http://schemas.openxmlformats.org/officeDocument/2006/relationships/slide" Target="/ppt/slides/slide7.xml" Id="R634de92fe1954ef1" /><Relationship Type="http://schemas.openxmlformats.org/officeDocument/2006/relationships/slide" Target="/ppt/slides/slide8.xml" Id="Re5f5d4cbf934475c" /><Relationship Type="http://schemas.openxmlformats.org/officeDocument/2006/relationships/slide" Target="/ppt/slides/slide9.xml" Id="Rf87cec9e6fe6493c" /><Relationship Type="http://schemas.openxmlformats.org/officeDocument/2006/relationships/slide" Target="/ppt/slides/slide10.xml" Id="Rb1ddbb97491e453d" /><Relationship Type="http://schemas.openxmlformats.org/officeDocument/2006/relationships/slide" Target="/ppt/slides/slide11.xml" Id="Rbe259b1fcd5340dc" /><Relationship Type="http://schemas.openxmlformats.org/officeDocument/2006/relationships/slide" Target="/ppt/slides/slide12.xml" Id="Rd25b859da6784ab7" /><Relationship Type="http://schemas.openxmlformats.org/officeDocument/2006/relationships/slide" Target="/ppt/slides/slide13.xml" Id="R125ffb6b6b154b13" /><Relationship Type="http://schemas.openxmlformats.org/officeDocument/2006/relationships/slide" Target="/ppt/slides/slide14.xml" Id="R447706cf119643bc" /><Relationship Type="http://schemas.openxmlformats.org/officeDocument/2006/relationships/slide" Target="/ppt/slides/slide15.xml" Id="R1b64976ce3ae47b2" /><Relationship Type="http://schemas.openxmlformats.org/officeDocument/2006/relationships/slide" Target="/ppt/slides/slide16.xml" Id="Rc416191142564f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4d4428492244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7fe40589104824" /><Relationship Type="http://schemas.openxmlformats.org/officeDocument/2006/relationships/notesMaster" Target="/ppt/notesMasters/notesMaster1.xml" Id="Ree85106b0ce640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6f7fabb8dc4641" /><Relationship Type="http://schemas.openxmlformats.org/officeDocument/2006/relationships/notesMaster" Target="/ppt/notesMasters/notesMaster1.xml" Id="Re47be2427d5940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73199d172d459c" /><Relationship Type="http://schemas.openxmlformats.org/officeDocument/2006/relationships/notesMaster" Target="/ppt/notesMasters/notesMaster1.xml" Id="R1a7011f9026a4c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c965eb1afb45fd" /><Relationship Type="http://schemas.openxmlformats.org/officeDocument/2006/relationships/notesMaster" Target="/ppt/notesMasters/notesMaster1.xml" Id="R9e62a4f1c5b041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0b762f93134600" /><Relationship Type="http://schemas.openxmlformats.org/officeDocument/2006/relationships/notesMaster" Target="/ppt/notesMasters/notesMaster1.xml" Id="R7e5bf5b91c254e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031b97dc6b4e9c" /><Relationship Type="http://schemas.openxmlformats.org/officeDocument/2006/relationships/notesMaster" Target="/ppt/notesMasters/notesMaster1.xml" Id="R96c5c0ff03fa41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f68369e67346e3" /><Relationship Type="http://schemas.openxmlformats.org/officeDocument/2006/relationships/notesMaster" Target="/ppt/notesMasters/notesMaster1.xml" Id="R539b07d66bda42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33a7e0d9f44744" /><Relationship Type="http://schemas.openxmlformats.org/officeDocument/2006/relationships/notesMaster" Target="/ppt/notesMasters/notesMaster1.xml" Id="Rd84af06e364242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ba6575abb0469a" /><Relationship Type="http://schemas.openxmlformats.org/officeDocument/2006/relationships/notesMaster" Target="/ppt/notesMasters/notesMaster1.xml" Id="R7a4d2cfa98694a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b9c4c69a4644aa" /><Relationship Type="http://schemas.openxmlformats.org/officeDocument/2006/relationships/notesMaster" Target="/ppt/notesMasters/notesMaster1.xml" Id="Rf72cf8e82f8047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11a3d24d454b93" /><Relationship Type="http://schemas.openxmlformats.org/officeDocument/2006/relationships/notesMaster" Target="/ppt/notesMasters/notesMaster1.xml" Id="R7dd05d6dd7cb42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e2afab7d3443dd" /><Relationship Type="http://schemas.openxmlformats.org/officeDocument/2006/relationships/notesMaster" Target="/ppt/notesMasters/notesMaster1.xml" Id="Rb100ebd2776647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1fca7ed0c344ba" /><Relationship Type="http://schemas.openxmlformats.org/officeDocument/2006/relationships/notesMaster" Target="/ppt/notesMasters/notesMaster1.xml" Id="R9e673ffc92204f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bb24536d094feb" /><Relationship Type="http://schemas.openxmlformats.org/officeDocument/2006/relationships/notesMaster" Target="/ppt/notesMasters/notesMaster1.xml" Id="R33e0d2a3c3c440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21f249635c74966" /><Relationship Type="http://schemas.openxmlformats.org/officeDocument/2006/relationships/notesMaster" Target="/ppt/notesMasters/notesMaster1.xml" Id="R359b1903257f409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252e32f2994f92" /><Relationship Type="http://schemas.openxmlformats.org/officeDocument/2006/relationships/notesMaster" Target="/ppt/notesMasters/notesMaster1.xml" Id="Rc774874c5c184a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how the original test repository developed into the current MedPAR regression and reconciliation framework. We began with small JSON examples that helped us understand and test individual rules. The requested outcome expanded to production input discovery, connected stage processing, independent output comparison and evidence that a business reviewer can follow. The aim is to make the added work and its value clear. Today we can demonstrate the source configuration, stage decisions, reference searches and row evidence. Readiness means controlled production-data analysis. It does not mean that every supplied production record passes or that Final MEDPAR export has received full certification.</a:t>
            </a:r>
          </a:p>
          <a:p xmlns:a="http://schemas.openxmlformats.org/drawingml/2006/main">
            <a:r>
              <a:t/>
            </a:r>
          </a:p>
          <a:p xmlns:a="http://schemas.openxmlformats.org/drawingml/2006/main">
            <a:r>
              <a:t>Sources: Project scope history supplied by the team. Current code in run_commands.py, src/medpar_qa/orchestration and src/medpar_qa/reporting.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repository concentrated on unit-style tests and small controlled fixtures. That was useful because a small input makes it easy to prove one rule branch and understand a failure. It did not yet answer questions such as how many files a source folder contains, which rows should continue, or whether a production KEEP file agrees with our decisions. We retained those focused tests while adding execution and reconciliation around them. If asked whether the first approach was wasted, the answer is no. The original tests now protect the business logic while we change ingestion, orchestration and reports. The scope expanded beyond what an isolated test repository needed.</a:t>
            </a:r>
          </a:p>
          <a:p xmlns:a="http://schemas.openxmlformats.org/drawingml/2006/main">
            <a:r>
              <a:t/>
            </a:r>
          </a:p>
          <a:p xmlns:a="http://schemas.openxmlformats.org/drawingml/2006/main">
            <a:r>
              <a:t>Sources: Team-provided history. tests/unit, tests/integration, run_commands.py.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expansion had practical consequences. A unit test can receive an in-memory record. A production analysis run needs to discover files, read real formats, preserve row numbers and handle source-specific configuration. A single-stage test can end at an assertion. The connected framework must create outputs, forward retained records and account for drops and exceptions. A fixture test knows the answer. Production reconciliation must search independent reference files and distinguish missing data, duplicate identities, conflicting membership and differing field values. These additions explain why the work involved more than adding test cases. Reporting then had to expose these distinctions clearly.</a:t>
            </a:r>
          </a:p>
          <a:p xmlns:a="http://schemas.openxmlformats.org/drawingml/2006/main">
            <a:r>
              <a:t/>
            </a:r>
          </a:p>
          <a:p xmlns:a="http://schemas.openxmlformats.org/drawingml/2006/main">
            <a:r>
              <a:t>Sources: run_commands.py SOURCE_RUN. src/medpar_qa/ingestion/input_sources.py, row_selection.py. src/medpar_qa/orchestration/connected.py. src/medpar_qa/reporting/row_report.py.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additional time came from implementing a broader deliverable and incorporating review feedback. The team requested revised decision-tree behavior, source-only stage processing, local and S3 paths, multiple input formats, row sampling, full reference comparisons and simpler reports. Each change affected the meaning of counts and the evidence needed to explain them. For example, file counts cannot be used as row counts, and finding a record in KEEP does not establish acceptance if the same identity also appears in DROP. We corrected these distinctions and protected them with regression tests. We are not assigning invented durations or dates to these workstreams. The defensible explanation is the added engineering scope and repeated validation of its behavior.</a:t>
            </a:r>
          </a:p>
          <a:p xmlns:a="http://schemas.openxmlformats.org/drawingml/2006/main">
            <a:r>
              <a:t/>
            </a:r>
          </a:p>
          <a:p xmlns:a="http://schemas.openxmlformats.org/drawingml/2006/main">
            <a:r>
              <a:t>Sources: User-requested change history. src/medpar_qa/reporting/row_flow.py, row_report.py, compact.py. Regression tests for reconciliation and handoffs.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SOURCE_RUN is the single place for the normal input configuration. Both local and S3 sections can remain configured, and source_type selects which section runs. Each stage separates original, keep and drop datasets, with files and folders under each role. Keep and drop paths are reference populations, not replacement source inputs. S3 support resolves object or prefix inputs and downloads objects to the run cache before the common readers process them. Extensionless objects use format detection. This capability has stubbed integration-test evidence. We should not imply that the client AWS environment has already passed a live verification. Their credentials, access policy and actual bucket still require that check.</a:t>
            </a:r>
          </a:p>
          <a:p xmlns:a="http://schemas.openxmlformats.org/drawingml/2006/main">
            <a:r>
              <a:t/>
            </a:r>
          </a:p>
          <a:p xmlns:a="http://schemas.openxmlformats.org/drawingml/2006/main">
            <a:r>
              <a:t>Sources: run_commands.py SOURCE_RUN and source_run_configuration. src/medpar_qa/ingestion/input_sources.py. tests/integration/test_row_reconciliation.py S3 stub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Action decides the applicable business route for related claims. Rule 6 distinguishes matching ICNs and the QC0 cancellation action code from transaction code. Split checks eligible transaction codes and the documented retention window. Invalid transaction codes take an exception route rather than becoming silent business drops. Stay groups related bills and applies field-specific merge policies. Intermediate calculates and checks dates, monetary values, supported revenue mappings and other derived fields using the supplied calculation reference. Final MEDPAR checks configured classification and layout behavior. Starting at Intermediate does not require executing earlier stages. Final fixed-width export remains dependent on the approved complete layout and required reference inputs. Rule-level detail is available in the code and report rather than compressed into this overview.</a:t>
            </a:r>
          </a:p>
          <a:p xmlns:a="http://schemas.openxmlformats.org/drawingml/2006/main">
            <a:r>
              <a:t/>
            </a:r>
          </a:p>
          <a:p xmlns:a="http://schemas.openxmlformats.org/drawingml/2006/main">
            <a:r>
              <a:t>Sources: Current stage modules under src/medpar_qa/stages and processors. Approved precedence supplied by the team: revised Final Action decision tree and byte-by-byte calculation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separates configuration from data access, stage processing, rule checks and reporting. This separation lets a rule change without rewriting S3 discovery or presentation code. As regression developers, we maintain executable rule expectations, design boundary and negative cases, and check that fixes do not break earlier behavior. We also verify integration behavior that unit tests alone cannot prove. This includes reading nested source formats without counting inner arrays as separate claims, preserving a physical source row number, forwarding generated outputs and locating an expected row anywhere in the reference dataset. The report is an evidence consumer. A cosmetic report change must not rewrite a business decision.</a:t>
            </a:r>
          </a:p>
          <a:p xmlns:a="http://schemas.openxmlformats.org/drawingml/2006/main">
            <a:r>
              <a:t/>
            </a:r>
          </a:p>
          <a:p xmlns:a="http://schemas.openxmlformats.org/drawingml/2006/main">
            <a:r>
              <a:t>Sources: Repository architecture: run_commands.py, src/medpar_qa/ingestion, normalization, orchestration, processors, stages and reporting. tests/unit and tests/integration.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JSON or Parquet file may contain many top-level claim records. The framework processes those records and keeps their file and physical row provenance. Nested diagnoses, procedures and revenue lines belong to their parent record and do not increase the input-row count. The current demonstration selects up to five rows from each original file and disables related-row enrichment. Generated outputs then continue through the downstream stages. The all mode selects complete input populations. Reference comparison does not inherit the five-row source sample limit. It searches the full supplied KEEP and DROP datasets. The repository includes a 100,000-row streaming selection test. This supports the ingestion design, but it is not a certified end-to-end performance result for lakhs of claims. Representative load testing remains an acceptance activity.</a:t>
            </a:r>
          </a:p>
          <a:p xmlns:a="http://schemas.openxmlformats.org/drawingml/2006/main">
            <a:r>
              <a:t/>
            </a:r>
          </a:p>
          <a:p xmlns:a="http://schemas.openxmlformats.org/drawingml/2006/main">
            <a:r>
              <a:t>Sources: tests/unit/test_row_selection.py, 100000-row selection test. run_commands.py row_selection. src/medpar_qa/ingestion/row_selection.py and reporting/row_report.py.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supplied Final Action file in the saved production report. It contains 98 source rows, and the demonstration selects five. The stage keeps rows 1, 3, 4 and 5, while one row stops. All four kept rows have data-equivalent candidates in supplied KEEP references. Earlier comparison logic blocked duplicate identities, and some numeric versus text differences caused false mismatches. The corrected comparison examines every candidate and normalizes lossless numeric representations. The table shows the observed occurrence counts by source identity. The remaining conflict is that each identity also appears in supplied DROP data. We must report that conflict rather than certify the output because a KEEP match exists. Whole-population count reconciliation remains separate from per-source-row presence. The reference evidence includes file paths and physical row numbers.</a:t>
            </a:r>
          </a:p>
          <a:p xmlns:a="http://schemas.openxmlformats.org/drawingml/2006/main">
            <a:r>
              <a:t/>
            </a:r>
          </a:p>
          <a:p xmlns:a="http://schemas.openxmlformats.org/drawingml/2006/main">
            <a:r>
              <a:t>Sources: Saved production evidence: entries/final_action/final_action/row_review.json in report 20261015_213923. First supplied file ends 226db3ea-d940-46e9-8ee0-932dffc0f8a5.parquet. Source rows 1, 3, 4,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report capture from the project, not a design mock-up. Use the first row to explain the units. The file has 98 total rows and five selected rows. Four receive KEEP, none receive DROP and one is stopped. The continued count refers to retained source rows represented in data consumed by the next stage. It is distinct from the number of output rows when grouping or merging occurs. The capture predates the added reference-comparison columns. The current report supplements this view with found versus calculated counts and verified, mismatched or unverified outcomes. Click a filename or count in the live report to open detailed row evidence. Expand an individual row to inspect the rule, expected value, observed value and reference location.</a:t>
            </a:r>
          </a:p>
          <a:p xmlns:a="http://schemas.openxmlformats.org/drawingml/2006/main">
            <a:r>
              <a:t/>
            </a:r>
          </a:p>
          <a:p xmlns:a="http://schemas.openxmlformats.org/drawingml/2006/main">
            <a:r>
              <a:t>Sources: Actual report screenshot supplied for this project: Screenshot 2026-10-15 at 10.34.56 PM.png. Current report: reports/20261015_213923/master/index.html and saved row_review.json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demonstrate the review route without a dashboard of large numbers. Begin at a stage and identify the original input file. Explain how many rows the run selected and how those rows split into KEEP, DROP and stopped outcomes. Open one source row and show its business decision before discussing the validation checks. Then follow its reference evidence. Found means that the identity exists in the supplied expected output. Verified means the membership and compared data agree. A duplicate or opposite-output conflict needs its own explanation. The current report keeps the detailed content collapsed until the reviewer requests it. This makes the report useful to both a business reviewer and an engineer.</a:t>
            </a:r>
          </a:p>
          <a:p xmlns:a="http://schemas.openxmlformats.org/drawingml/2006/main">
            <a:r>
              <a:t/>
            </a:r>
          </a:p>
          <a:p xmlns:a="http://schemas.openxmlformats.org/drawingml/2006/main">
            <a:r>
              <a:t>Sources: src/medpar_qa/reporting/stage_drilldown.py, row_report.py, row_dashboard.py. Current saved report 20261015_213923.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changes make a configurable run possible. S3 input is not simply a string that the rule validator reads. The resolver distinguishes object links from folder prefixes, lists a prefix through pagination, downloads objects into a run cache and detects formats when extensions are absent. The source manifest records the original location, the local file used, byte size and SHA-256. The readers then preserve physical row numbers for evidence. Nested arrays remain part of the parent record. This prevents diagnosis, procedure or revenue lines from being counted as independent source claims. JSON streaming and Parquet batches reduce the need to parse an entire large file simply to select the first records. Live client AWS access still needs environment verification. The implemented integration behavior has stubbed tests.</a:t>
            </a:r>
          </a:p>
          <a:p xmlns:a="http://schemas.openxmlformats.org/drawingml/2006/main">
            <a:r>
              <a:t/>
            </a:r>
          </a:p>
          <a:p xmlns:a="http://schemas.openxmlformats.org/drawingml/2006/main">
            <a:r>
              <a:t>Sources: src/medpar_qa/ingestion/input_sources.py, row_selection.py, readers.py. tests/unit/test_row_selection.py and S3 ingestion integration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of the hardest reporting changes was defining and preserving the unit at every boundary. A physical file can contain many rows. A processing group can contain rows from several source files. A merge can transform several source rows into one output row. Therefore a count of kept source rows does not always equal the number of generated rows or files. The framework keeps supplied rows, source decisions, generated outputs and actual downstream reads separate. The stage handoff uses saved output paths and checks what the next stage actually consumed. The report retains the original source provenance so a generated JSON container does not replace the identity of the original file. The three-to-one example is illustrative. It explains merge cardinality rather than claiming a particular production outcome.</a:t>
            </a:r>
          </a:p>
          <a:p xmlns:a="http://schemas.openxmlformats.org/drawingml/2006/main">
            <a:r>
              <a:t/>
            </a:r>
          </a:p>
          <a:p xmlns:a="http://schemas.openxmlformats.org/drawingml/2006/main">
            <a:r>
              <a:t>Sources: src/medpar_qa/orchestration/connected.py. src/medpar_qa/reporting/row_flow.py and stage_drilldown.py. tests/unit/test_row_flow.py.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fixes came from investigating actual production discrepancies. Earlier evidence retained only a small number of examples, and repeated comparison identities could block a row before a full data comparison. The current comparison examines every matching candidate and selects evidence from the best comparison. Source sampling does not limit the search of reference files. We also corrected lossless numeric versus text differences across JSON and Parquet while retaining meaningful differences such as leading zeros. The report distinguishes found rows from fully verified comparisons. A row that appears in both KEEP and DROP remains a membership conflict, even when one KEEP candidate matches the data. Regression tests explicitly place the correct row after earlier incorrect candidates and verify that the search still finds it. Additional tests protect wrong-output and normalization behavior.</a:t>
            </a:r>
          </a:p>
          <a:p xmlns:a="http://schemas.openxmlformats.org/drawingml/2006/main">
            <a:r>
              <a:t/>
            </a:r>
          </a:p>
          <a:p xmlns:a="http://schemas.openxmlformats.org/drawingml/2006/main">
            <a:r>
              <a:t>Sources: src/medpar_qa/reporting/row_report.py compare_row_values and write_row_report. tests/integration/test_row_reconciliation.py. tests/unit/test_stage_drilldown.py.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development involved correctness and runtime work as well as formatting. The report must distinguish source files, source rows, generated rows and validation events. Comparison ratios must use the same decision scope as their denominators. To simplify distribution, the compact report embeds the inner screens into one master and one HTML wrapper per stage. It decompresses the requested screen and preserves evidence navigation rather than creating a separate physical HTML file for each view. Row details render when opened and paginate instead of building every detail element at initial page load. A Windows failure required decoding supported HTML encodings before packaging. Link routing also needs to handle late-rendered content and open collapsed ancestors. These safeguards have targeted regression tests and saved offline link-audit evidence. Report compression does not itself certify production performance or business acceptance.</a:t>
            </a:r>
          </a:p>
          <a:p xmlns:a="http://schemas.openxmlformats.org/drawingml/2006/main">
            <a:r>
              <a:t/>
            </a:r>
          </a:p>
          <a:p xmlns:a="http://schemas.openxmlformats.org/drawingml/2006/main">
            <a:r>
              <a:t>Sources: src/medpar_qa/reporting/compact.py, row_dashboard.py, row_flow.py, session_index.py and stage_drilldown.py. Targeted report and encoding tests. Saved report link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delivered framework supports controlled production-data analysis and repeatable regression validation. We can demonstrate configuration, real source reading, stage decisions, downstream processing and row-level reference evidence. We should distinguish that capability from final production acceptance. The remaining acceptance work includes live client AWS verification, representative end-to-end load tests, alignment of original and reference extracts, approved byte layout and required vendor, revenue or SSI reference inputs where applicable. Final MEDPAR stays a draft where those dependencies are missing. A useful demonstration begins with one configured source and one row, follows its decision and reference evidence, and then shows how the same mechanism supports the broader dataset. The central outcome is a framework that helps the team investigate actual differences with reproducible evidence.</a:t>
            </a:r>
          </a:p>
          <a:p xmlns:a="http://schemas.openxmlformats.org/drawingml/2006/main">
            <a:r>
              <a:t/>
            </a:r>
          </a:p>
          <a:p xmlns:a="http://schemas.openxmlformats.org/drawingml/2006/main">
            <a:r>
              <a:t>Sources: Current run configuration, source and stage processors, export_readiness.json, supplied-reference population evidence, and saved software verification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ae6a11100b42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0c814cace746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d027e4ca17e43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e42f452bc245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e3500260364d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f504f3d5d1d42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A73704-1971-4824-8686-CE203778B3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EBADB2-6C95-41BD-A927-CCB646CA656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29AA0B3-8A70-4426-A20D-3295127ADD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6B8106-3AA4-46F1-95D1-42A80BB366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7D25F0-8BDC-469B-AC18-77A512EAFB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E5DE575-596E-476C-B0B5-91D0B21B92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CDF3C1-1703-45CC-998D-C5F6CC05C7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E3C43F8-03D3-473C-91A4-72FC87D49E8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187FC6-C92D-4D0E-9B86-025330E59E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D68588-448C-486B-9ED7-F70ACA2276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516a8fb4674724" /><Relationship Type="http://schemas.openxmlformats.org/officeDocument/2006/relationships/slideLayout" Target="/ppt/slideLayouts/slideLayout1.xml" Id="R18136f9f2cff441e" /><Relationship Type="http://schemas.openxmlformats.org/officeDocument/2006/relationships/slideLayout" Target="/ppt/slideLayouts/slideLayout2.xml" Id="Re985e822b92441fc" /><Relationship Type="http://schemas.openxmlformats.org/officeDocument/2006/relationships/slideLayout" Target="/ppt/slideLayouts/slideLayout3.xml" Id="R4b073c1e7af3438a" /><Relationship Type="http://schemas.openxmlformats.org/officeDocument/2006/relationships/slideLayout" Target="/ppt/slideLayouts/slideLayout4.xml" Id="R1afb4881b5de4daa" /><Relationship Type="http://schemas.openxmlformats.org/officeDocument/2006/relationships/slideLayout" Target="/ppt/slideLayouts/slideLayout5.xml" Id="R0d6bf40360a94eeb" /><Relationship Type="http://schemas.openxmlformats.org/officeDocument/2006/relationships/slideLayout" Target="/ppt/slideLayouts/slideLayout6.xml" Id="R1d052e27860449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136f9f2cff441e"/>
    <p:sldLayoutId xmlns:r="http://schemas.openxmlformats.org/officeDocument/2006/relationships" id="2147483650" r:id="Re985e822b92441fc"/>
    <p:sldLayoutId xmlns:r="http://schemas.openxmlformats.org/officeDocument/2006/relationships" id="2147483651" r:id="R4b073c1e7af3438a"/>
    <p:sldLayoutId xmlns:r="http://schemas.openxmlformats.org/officeDocument/2006/relationships" id="2147483652" r:id="R1afb4881b5de4daa"/>
    <p:sldLayoutId xmlns:r="http://schemas.openxmlformats.org/officeDocument/2006/relationships" id="2147483653" r:id="R0d6bf40360a94eeb"/>
    <p:sldLayoutId xmlns:r="http://schemas.openxmlformats.org/officeDocument/2006/relationships" id="2147483654" r:id="R1d052e27860449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499a30651984966" /><Relationship Type="http://schemas.openxmlformats.org/officeDocument/2006/relationships/notesSlide" Target="/ppt/notesSlides/notesSlide1.xml" Id="R77d4df9a5a9c4d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e65c0b97de341de" /><Relationship Type="http://schemas.openxmlformats.org/officeDocument/2006/relationships/notesSlide" Target="/ppt/notesSlides/notesSlide2.xml" Id="R953234b656374d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f47bc5fdec842cb" /><Relationship Type="http://schemas.openxmlformats.org/officeDocument/2006/relationships/notesSlide" Target="/ppt/notesSlides/notesSlide3.xml" Id="Rdd5f37d843b44f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7cb3916122845c0" /><Relationship Type="http://schemas.openxmlformats.org/officeDocument/2006/relationships/notesSlide" Target="/ppt/notesSlides/notesSlide4.xml" Id="Redeb9b0a1cbb4b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734f0a85769458c" /><Relationship Type="http://schemas.openxmlformats.org/officeDocument/2006/relationships/notesSlide" Target="/ppt/notesSlides/notesSlide5.xml" Id="R2a23aa898e6644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b922dcc190847cc" /><Relationship Type="http://schemas.openxmlformats.org/officeDocument/2006/relationships/notesSlide" Target="/ppt/notesSlides/notesSlide6.xml" Id="R3902a220852445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6067f3862b34cba" /><Relationship Type="http://schemas.openxmlformats.org/officeDocument/2006/relationships/notesSlide" Target="/ppt/notesSlides/notesSlide7.xml" Id="R4bc917c0d23840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de6a5fb5d446cc" /><Relationship Type="http://schemas.openxmlformats.org/officeDocument/2006/relationships/notesSlide" Target="/ppt/notesSlides/notesSlide8.xml" Id="R45b5c80adf5d45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957673f00ed4bc9" /><Relationship Type="http://schemas.openxmlformats.org/officeDocument/2006/relationships/notesSlide" Target="/ppt/notesSlides/notesSlide9.xml" Id="Rc8a07b29512e44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00dc389a4a34f7a" /><Relationship Type="http://schemas.openxmlformats.org/officeDocument/2006/relationships/image" Target="/ppt/media/image.png" Id="R2e5468c15d5c4ebc" /><Relationship Type="http://schemas.openxmlformats.org/officeDocument/2006/relationships/notesSlide" Target="/ppt/notesSlides/notesSlide10.xml" Id="Rc5a1f408c68a4a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fdff3f2f20e4a06" /><Relationship Type="http://schemas.openxmlformats.org/officeDocument/2006/relationships/notesSlide" Target="/ppt/notesSlides/notesSlide11.xml" Id="R9f55a49b773942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3e3d3d817574611" /><Relationship Type="http://schemas.openxmlformats.org/officeDocument/2006/relationships/notesSlide" Target="/ppt/notesSlides/notesSlide12.xml" Id="R286fef782c8d4b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076c534f27047f4" /><Relationship Type="http://schemas.openxmlformats.org/officeDocument/2006/relationships/notesSlide" Target="/ppt/notesSlides/notesSlide13.xml" Id="R3ccb537bd55d4b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d2349eee74d4ffd" /><Relationship Type="http://schemas.openxmlformats.org/officeDocument/2006/relationships/notesSlide" Target="/ppt/notesSlides/notesSlide14.xml" Id="R033e13290bee4f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0bcb437bbc544c9" /><Relationship Type="http://schemas.openxmlformats.org/officeDocument/2006/relationships/notesSlide" Target="/ppt/notesSlides/notesSlide15.xml" Id="Rd11a6998438141f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d65e56ace874cf2" /><Relationship Type="http://schemas.openxmlformats.org/officeDocument/2006/relationships/notesSlide" Target="/ppt/notesSlides/notesSlide16.xml" Id="Rc149ff0cdc0944de" /></Relationships>
</file>

<file path=ppt/slides/slide1.xml><?xml version="1.0" encoding="utf-8"?>
<p:sld xmlns:p="http://schemas.openxmlformats.org/presentationml/2006/main">
  <p:cSld>
    <p:bg>
      <p:bgPr>
        <a:solidFill xmlns:a="http://schemas.openxmlformats.org/drawingml/2006/main">
          <a:srgbClr val="142C4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EE9DFA-4913-45A9-A392-C82B45259165}"/>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MEDPAR</a:t>
            </a:r>
          </a:p>
        </p:txBody>
      </p:sp>
      <p:sp>
        <p:nvSpPr>
          <p:cNvPr id="2" name="">
            <a:extLst xmlns:a="http://schemas.openxmlformats.org/drawingml/2006/main">
              <a:ext uri="{FF2B5EF4-FFF2-40B4-BE49-F238E27FC236}">
                <a16:creationId xmlns:a16="http://schemas.microsoft.com/office/drawing/2014/main" id="{8E7B0E69-4EF1-4AE0-8EDF-08B3F98CB0CA}"/>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6D8CD"/>
                </a:solidFill>
                <a:latin typeface="Arial"/>
                <a:ea typeface="Arial"/>
                <a:cs typeface="Arial"/>
              </a:defRPr>
            </a:defPPr>
          </a:lstStyle>
          <a:p xmlns:a="http://schemas.openxmlformats.org/drawingml/2006/main">
            <a:pPr>
              <a:buNone/>
              <a:defRPr sz="1200" b="0">
                <a:solidFill>
                  <a:srgbClr val="76D8CD"/>
                </a:solidFill>
                <a:latin typeface="Arial"/>
                <a:ea typeface="Arial"/>
                <a:cs typeface="Arial"/>
              </a:defRPr>
            </a:pPr>
            <a:r>
              <a:rPr sz="1200" b="0">
                <a:solidFill>
                  <a:srgbClr val="76D8C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4DD9DE7-C121-4DF8-90C4-A0DA09A07458}"/>
              </a:ext>
            </a:extLst>
          </p:cNvPr>
          <p:cNvSpPr>
            <a:spLocks xmlns:a="http://schemas.openxmlformats.org/drawingml/2006/main" noGrp="1"/>
          </p:cNvSpPr>
          <p:nvPr/>
        </p:nvSpPr>
        <p:spPr>
          <a:xfrm xmlns:a="http://schemas.openxmlformats.org/drawingml/2006/main">
            <a:off x="609600" y="20002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latin typeface="Arial"/>
                <a:ea typeface="Arial"/>
                <a:cs typeface="Arial"/>
              </a:defRPr>
            </a:defPPr>
          </a:lstStyle>
          <a:p xmlns:a="http://schemas.openxmlformats.org/drawingml/2006/main">
            <a:pPr>
              <a:buNone/>
              <a:defRPr sz="4950" b="1">
                <a:solidFill>
                  <a:srgbClr val="FFFFFF"/>
                </a:solidFill>
                <a:latin typeface="Arial"/>
                <a:ea typeface="Arial"/>
                <a:cs typeface="Arial"/>
              </a:defRPr>
            </a:pPr>
            <a:r>
              <a:rPr sz="4950" b="1">
                <a:solidFill>
                  <a:srgbClr val="FFFFFF"/>
                </a:solidFill>
                <a:latin typeface="Arial"/>
                <a:ea typeface="Arial"/>
                <a:cs typeface="Arial"/>
              </a:rPr>
              <a:t>Regression framework</a:t>
            </a:r>
          </a:p>
        </p:txBody>
      </p:sp>
      <p:sp>
        <p:nvSpPr>
          <p:cNvPr id="4" name="">
            <a:extLst xmlns:a="http://schemas.openxmlformats.org/drawingml/2006/main">
              <a:ext uri="{FF2B5EF4-FFF2-40B4-BE49-F238E27FC236}">
                <a16:creationId xmlns:a16="http://schemas.microsoft.com/office/drawing/2014/main" id="{F3241D33-5252-4E8C-8BB2-C002EDC86EA7}"/>
              </a:ext>
            </a:extLst>
          </p:cNvPr>
          <p:cNvSpPr>
            <a:spLocks xmlns:a="http://schemas.openxmlformats.org/drawingml/2006/main" noGrp="1"/>
          </p:cNvSpPr>
          <p:nvPr/>
        </p:nvSpPr>
        <p:spPr>
          <a:xfrm xmlns:a="http://schemas.openxmlformats.org/drawingml/2006/main">
            <a:off x="647700" y="3209925"/>
            <a:ext cx="1009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76D8CD"/>
                </a:solidFill>
                <a:latin typeface="Arial"/>
                <a:ea typeface="Arial"/>
                <a:cs typeface="Arial"/>
              </a:defRPr>
            </a:defPPr>
          </a:lstStyle>
          <a:p xmlns:a="http://schemas.openxmlformats.org/drawingml/2006/main">
            <a:pPr>
              <a:buNone/>
              <a:defRPr sz="2400" b="0">
                <a:solidFill>
                  <a:srgbClr val="76D8CD"/>
                </a:solidFill>
                <a:latin typeface="Arial"/>
                <a:ea typeface="Arial"/>
                <a:cs typeface="Arial"/>
              </a:defRPr>
            </a:pPr>
            <a:r>
              <a:rPr sz="2400" b="0">
                <a:solidFill>
                  <a:srgbClr val="76D8CD"/>
                </a:solidFill>
                <a:latin typeface="Arial"/>
                <a:ea typeface="Arial"/>
                <a:cs typeface="Arial"/>
              </a:rPr>
              <a:t>Evolution, delivered capability</a:t>
            </a:r>
          </a:p>
          <a:p xmlns:a="http://schemas.openxmlformats.org/drawingml/2006/main">
            <a:pPr>
              <a:buNone/>
              <a:defRPr sz="2400" b="0">
                <a:solidFill>
                  <a:srgbClr val="76D8CD"/>
                </a:solidFill>
                <a:latin typeface="Arial"/>
                <a:ea typeface="Arial"/>
                <a:cs typeface="Arial"/>
              </a:defRPr>
            </a:pPr>
            <a:r>
              <a:rPr sz="2400" b="0">
                <a:solidFill>
                  <a:srgbClr val="76D8CD"/>
                </a:solidFill>
                <a:latin typeface="Arial"/>
                <a:ea typeface="Arial"/>
                <a:cs typeface="Arial"/>
              </a:rPr>
              <a:t>and readiness for production-data analysis</a:t>
            </a:r>
          </a:p>
        </p:txBody>
      </p:sp>
      <p:sp>
        <p:nvSpPr>
          <p:cNvPr id="5" name="">
            <a:extLst xmlns:a="http://schemas.openxmlformats.org/drawingml/2006/main">
              <a:ext uri="{FF2B5EF4-FFF2-40B4-BE49-F238E27FC236}">
                <a16:creationId xmlns:a16="http://schemas.microsoft.com/office/drawing/2014/main" id="{E755C65A-A309-4FAC-8BFF-FF12162F214C}"/>
              </a:ext>
            </a:extLst>
          </p:cNvPr>
          <p:cNvSpPr>
            <a:spLocks xmlns:a="http://schemas.openxmlformats.org/drawingml/2006/main" noGrp="1"/>
          </p:cNvSpPr>
          <p:nvPr/>
        </p:nvSpPr>
        <p:spPr>
          <a:xfrm xmlns:a="http://schemas.openxmlformats.org/drawingml/2006/main">
            <a:off x="647700" y="546735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stStyle>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Engineering and demonstration overview</a:t>
            </a:r>
          </a:p>
        </p:txBody>
      </p:sp>
    </p:spTree>
    <p:extLst>
      <p:ext uri="{BB962C8B-B14F-4D97-AF65-F5344CB8AC3E}">
        <p14:creationId xmlns:p14="http://schemas.microsoft.com/office/powerpoint/2010/main" val="1568412003"/>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8A7DD8-664F-4B5D-87E4-814DB121691A}"/>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buNone/>
              <a:defRPr sz="3300" b="1">
                <a:solidFill>
                  <a:srgbClr val="142C42"/>
                </a:solidFill>
                <a:latin typeface="Arial"/>
                <a:ea typeface="Arial"/>
                <a:cs typeface="Arial"/>
              </a:defRPr>
            </a:pPr>
            <a:r>
              <a:rPr sz="3300" b="1">
                <a:solidFill>
                  <a:srgbClr val="142C42"/>
                </a:solidFill>
                <a:latin typeface="Arial"/>
                <a:ea typeface="Arial"/>
                <a:cs typeface="Arial"/>
              </a:rPr>
              <a:t>The original test repository</a:t>
            </a:r>
          </a:p>
        </p:txBody>
      </p:sp>
      <p:sp>
        <p:nvSpPr>
          <p:cNvPr id="2" name="">
            <a:extLst xmlns:a="http://schemas.openxmlformats.org/drawingml/2006/main">
              <a:ext uri="{FF2B5EF4-FFF2-40B4-BE49-F238E27FC236}">
                <a16:creationId xmlns:a16="http://schemas.microsoft.com/office/drawing/2014/main" id="{AF75372C-D827-4043-8730-30BB30460B93}"/>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buNone/>
              <a:defRPr sz="1200" b="0">
                <a:solidFill>
                  <a:srgbClr val="516679"/>
                </a:solidFill>
                <a:latin typeface="Arial"/>
                <a:ea typeface="Arial"/>
                <a:cs typeface="Arial"/>
              </a:defRPr>
            </a:pPr>
            <a:r>
              <a:rPr sz="1200" b="0">
                <a:solidFill>
                  <a:srgbClr val="51667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49286F0-0BBA-4609-8E22-62DAF3DE9C17}"/>
              </a:ext>
            </a:extLst>
          </p:cNvPr>
          <p:cNvSpPr>
            <a:spLocks xmlns:a="http://schemas.openxmlformats.org/drawingml/2006/main" noGrp="1"/>
          </p:cNvSpPr>
          <p:nvPr/>
        </p:nvSpPr>
        <p:spPr>
          <a:xfrm xmlns:a="http://schemas.openxmlformats.org/drawingml/2006/main">
            <a:off x="609600" y="13239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16679"/>
                </a:solidFill>
                <a:latin typeface="Arial"/>
                <a:ea typeface="Arial"/>
                <a:cs typeface="Arial"/>
              </a:defRPr>
            </a:defPPr>
          </a:lstStyle>
          <a:p xmlns:a="http://schemas.openxmlformats.org/drawingml/2006/main">
            <a:pPr>
              <a:buNone/>
              <a:defRPr sz="2100" b="0">
                <a:solidFill>
                  <a:srgbClr val="516679"/>
                </a:solidFill>
                <a:latin typeface="Arial"/>
                <a:ea typeface="Arial"/>
                <a:cs typeface="Arial"/>
              </a:defRPr>
            </a:pPr>
            <a:r>
              <a:rPr sz="2100" b="0">
                <a:solidFill>
                  <a:srgbClr val="516679"/>
                </a:solidFill>
                <a:latin typeface="Arial"/>
                <a:ea typeface="Arial"/>
                <a:cs typeface="Arial"/>
              </a:rPr>
              <a:t>A focused starting point for learning and checking the rules</a:t>
            </a:r>
          </a:p>
        </p:txBody>
      </p:sp>
      <p:graphicFrame>
        <p:nvGraphicFramePr>
          <p:cNvPr id="4" name="">
            <a:extLst xmlns:a="http://schemas.openxmlformats.org/drawingml/2006/main">
              <a:ext uri="{FF2B5EF4-FFF2-40B4-BE49-F238E27FC236}">
                <a16:creationId xmlns:a16="http://schemas.microsoft.com/office/drawing/2014/main" id="{8C93EB86-C25D-472A-B535-F9DE884EB712}"/>
              </a:ext>
            </a:extLst>
          </p:cNvPr>
          <p:cNvGraphicFramePr/>
          <p:nvPr/>
        </p:nvGraphicFramePr>
        <p:xfrm>
          <a:off xmlns:a="http://schemas.openxmlformats.org/drawingml/2006/main" x="609600" y="2076450"/>
          <a:ext xmlns:a="http://schemas.openxmlformats.org/drawingml/2006/main" cx="10972800" cy="3352800"/>
        </p:xfrm>
        <a:graphic xmlns:a="http://schemas.openxmlformats.org/drawingml/2006/main">
          <a:graphicData uri="http://schemas.openxmlformats.org/drawingml/2006/table">
            <a:tbl>
              <a:tblPr/>
              <a:tblGrid>
                <a:gridCol w="2000250"/>
                <a:gridCol w="4095750"/>
                <a:gridCol w="4876800"/>
              </a:tblGrid>
              <a:tr h="670560">
                <a:tc>
                  <a:txBody>
                    <a:bodyPr/>
                    <a:lstStyle/>
                    <a:p>
                      <a:r>
                        <a:rPr sz="1800" b="1">
                          <a:solidFill>
                            <a:srgbClr val="FFFFFF"/>
                          </a:solidFill>
                          <a:latin typeface="Arial"/>
                          <a:ea typeface="Arial"/>
                          <a:cs typeface="Arial"/>
                        </a:rPr>
                        <a:t>Area</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Initial approach</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Current framework</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670560">
                <a:tc>
                  <a:txBody>
                    <a:bodyPr/>
                    <a:lstStyle/>
                    <a:p>
                      <a:r>
                        <a:rPr sz="1800" b="0">
                          <a:solidFill>
                            <a:srgbClr val="172B3D"/>
                          </a:solidFill>
                          <a:latin typeface="Arial"/>
                          <a:ea typeface="Arial"/>
                          <a:cs typeface="Arial"/>
                        </a:rPr>
                        <a:t>Input</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One or a few JSON records</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JSON and Parquet datasets</a:t>
                      </a:r>
                    </a:p>
                  </a:txBody>
                  <a:tcPr marL="91440" marR="91440" marT="45720" marB="45720">
                    <a:lnR w="9525">
                      <a:solidFill>
                        <a:srgbClr val="D9E2E9"/>
                      </a:solidFill>
                      <a:prstDash val="solid"/>
                    </a:lnR>
                    <a:lnB w="9525">
                      <a:solidFill>
                        <a:srgbClr val="D9E2E9"/>
                      </a:solidFill>
                      <a:prstDash val="solid"/>
                    </a:lnB>
                    <a:solidFill>
                      <a:srgbClr val="FFFFFF"/>
                    </a:solidFill>
                  </a:tcPr>
                </a:tc>
              </a:tr>
              <a:tr h="670560">
                <a:tc>
                  <a:txBody>
                    <a:bodyPr/>
                    <a:lstStyle/>
                    <a:p>
                      <a:r>
                        <a:rPr sz="1800" b="0">
                          <a:solidFill>
                            <a:srgbClr val="172B3D"/>
                          </a:solidFill>
                          <a:latin typeface="Arial"/>
                          <a:ea typeface="Arial"/>
                          <a:cs typeface="Arial"/>
                        </a:rPr>
                        <a:t>Execution</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Individual rule test cases</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Connected stages and later entry points</a:t>
                      </a:r>
                    </a:p>
                  </a:txBody>
                  <a:tcPr marL="91440" marR="91440" marT="45720" marB="45720">
                    <a:lnR w="9525">
                      <a:solidFill>
                        <a:srgbClr val="D9E2E9"/>
                      </a:solidFill>
                      <a:prstDash val="solid"/>
                    </a:lnR>
                    <a:lnB w="9525">
                      <a:solidFill>
                        <a:srgbClr val="D9E2E9"/>
                      </a:solidFill>
                      <a:prstDash val="solid"/>
                    </a:lnB>
                    <a:solidFill>
                      <a:srgbClr val="EAF0F4"/>
                    </a:solidFill>
                  </a:tcPr>
                </a:tc>
              </a:tr>
              <a:tr h="670560">
                <a:tc>
                  <a:txBody>
                    <a:bodyPr/>
                    <a:lstStyle/>
                    <a:p>
                      <a:r>
                        <a:rPr sz="1800" b="0">
                          <a:solidFill>
                            <a:srgbClr val="172B3D"/>
                          </a:solidFill>
                          <a:latin typeface="Arial"/>
                          <a:ea typeface="Arial"/>
                          <a:cs typeface="Arial"/>
                        </a:rPr>
                        <a:t>Comparison</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Known fixture expectations</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Original, KEEP and DROP populations</a:t>
                      </a:r>
                    </a:p>
                  </a:txBody>
                  <a:tcPr marL="91440" marR="91440" marT="45720" marB="45720">
                    <a:lnR w="9525">
                      <a:solidFill>
                        <a:srgbClr val="D9E2E9"/>
                      </a:solidFill>
                      <a:prstDash val="solid"/>
                    </a:lnR>
                    <a:lnB w="9525">
                      <a:solidFill>
                        <a:srgbClr val="D9E2E9"/>
                      </a:solidFill>
                      <a:prstDash val="solid"/>
                    </a:lnB>
                    <a:solidFill>
                      <a:srgbClr val="FFFFFF"/>
                    </a:solidFill>
                  </a:tcPr>
                </a:tc>
              </a:tr>
              <a:tr h="670560">
                <a:tc>
                  <a:txBody>
                    <a:bodyPr/>
                    <a:lstStyle/>
                    <a:p>
                      <a:r>
                        <a:rPr sz="1800" b="0">
                          <a:solidFill>
                            <a:srgbClr val="172B3D"/>
                          </a:solidFill>
                          <a:latin typeface="Arial"/>
                          <a:ea typeface="Arial"/>
                          <a:cs typeface="Arial"/>
                        </a:rPr>
                        <a:t>Evidence</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Test outcome and assertions</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File, row and rule evidence</a:t>
                      </a:r>
                    </a:p>
                  </a:txBody>
                  <a:tcPr marL="91440" marR="91440" marT="45720" marB="45720">
                    <a:lnR w="9525">
                      <a:solidFill>
                        <a:srgbClr val="D9E2E9"/>
                      </a:solidFill>
                      <a:prstDash val="solid"/>
                    </a:lnR>
                    <a:lnB w="9525">
                      <a:solidFill>
                        <a:srgbClr val="D9E2E9"/>
                      </a:solidFill>
                      <a:prstDash val="solid"/>
                    </a:lnB>
                    <a:solidFill>
                      <a:srgbClr val="EAF0F4"/>
                    </a:solidFill>
                  </a:tcPr>
                </a:tc>
              </a:tr>
            </a:tbl>
          </a:graphicData>
        </a:graphic>
      </p:graphicFrame>
      <p:sp>
        <p:nvSpPr>
          <p:cNvPr id="5" name="">
            <a:extLst xmlns:a="http://schemas.openxmlformats.org/drawingml/2006/main">
              <a:ext uri="{FF2B5EF4-FFF2-40B4-BE49-F238E27FC236}">
                <a16:creationId xmlns:a16="http://schemas.microsoft.com/office/drawing/2014/main" id="{E85D84F3-29C1-4E9A-ADE6-12F7F8C34743}"/>
              </a:ext>
            </a:extLst>
          </p:cNvPr>
          <p:cNvSpPr>
            <a:spLocks xmlns:a="http://schemas.openxmlformats.org/drawingml/2006/main" noGrp="1"/>
          </p:cNvSpPr>
          <p:nvPr/>
        </p:nvSpPr>
        <p:spPr>
          <a:xfrm xmlns:a="http://schemas.openxmlformats.org/drawingml/2006/main">
            <a:off x="609600" y="57816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2"/>
                </a:solidFill>
                <a:latin typeface="Arial"/>
                <a:ea typeface="Arial"/>
                <a:cs typeface="Arial"/>
              </a:defRPr>
            </a:defPPr>
          </a:lstStyle>
          <a:p xmlns:a="http://schemas.openxmlformats.org/drawingml/2006/main">
            <a:pPr>
              <a:buNone/>
              <a:defRPr sz="2175" b="1">
                <a:solidFill>
                  <a:srgbClr val="087F82"/>
                </a:solidFill>
                <a:latin typeface="Arial"/>
                <a:ea typeface="Arial"/>
                <a:cs typeface="Arial"/>
              </a:defRPr>
            </a:pPr>
            <a:r>
              <a:rPr sz="2175" b="1">
                <a:solidFill>
                  <a:srgbClr val="087F82"/>
                </a:solidFill>
                <a:latin typeface="Arial"/>
                <a:ea typeface="Arial"/>
                <a:cs typeface="Arial"/>
              </a:rPr>
              <a:t>The initial tests remain the regression foundation.</a:t>
            </a:r>
          </a:p>
        </p:txBody>
      </p:sp>
    </p:spTree>
    <p:extLst>
      <p:ext uri="{BB962C8B-B14F-4D97-AF65-F5344CB8AC3E}">
        <p14:creationId xmlns:p14="http://schemas.microsoft.com/office/powerpoint/2010/main" val="249653200"/>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AB207A-E30B-4682-B4C8-835EB7D7C189}"/>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buNone/>
              <a:defRPr sz="3300" b="1">
                <a:solidFill>
                  <a:srgbClr val="142C42"/>
                </a:solidFill>
                <a:latin typeface="Arial"/>
                <a:ea typeface="Arial"/>
                <a:cs typeface="Arial"/>
              </a:defRPr>
            </a:pPr>
            <a:r>
              <a:rPr sz="3300" b="1">
                <a:solidFill>
                  <a:srgbClr val="142C42"/>
                </a:solidFill>
                <a:latin typeface="Arial"/>
                <a:ea typeface="Arial"/>
                <a:cs typeface="Arial"/>
              </a:rPr>
              <a:t>Scope added during development</a:t>
            </a:r>
          </a:p>
        </p:txBody>
      </p:sp>
      <p:sp>
        <p:nvSpPr>
          <p:cNvPr id="2" name="">
            <a:extLst xmlns:a="http://schemas.openxmlformats.org/drawingml/2006/main">
              <a:ext uri="{FF2B5EF4-FFF2-40B4-BE49-F238E27FC236}">
                <a16:creationId xmlns:a16="http://schemas.microsoft.com/office/drawing/2014/main" id="{F3CBFDDB-DE67-46D2-BB6C-6B998BB364F4}"/>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buNone/>
              <a:defRPr sz="1200" b="0">
                <a:solidFill>
                  <a:srgbClr val="516679"/>
                </a:solidFill>
                <a:latin typeface="Arial"/>
                <a:ea typeface="Arial"/>
                <a:cs typeface="Arial"/>
              </a:defRPr>
            </a:pPr>
            <a:r>
              <a:rPr sz="1200" b="0">
                <a:solidFill>
                  <a:srgbClr val="51667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32131F8D-7530-4171-B598-04C9125F30CA}"/>
              </a:ext>
            </a:extLst>
          </p:cNvPr>
          <p:cNvSpPr>
            <a:spLocks xmlns:a="http://schemas.openxmlformats.org/drawingml/2006/main" noGrp="1"/>
          </p:cNvSpPr>
          <p:nvPr/>
        </p:nvSpPr>
        <p:spPr>
          <a:xfrm xmlns:a="http://schemas.openxmlformats.org/drawingml/2006/main">
            <a:off x="609600" y="150495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2"/>
                </a:solidFill>
                <a:latin typeface="Arial"/>
                <a:ea typeface="Arial"/>
                <a:cs typeface="Arial"/>
              </a:defRPr>
            </a:defPPr>
          </a:lstStyle>
          <a:p xmlns:a="http://schemas.openxmlformats.org/drawingml/2006/main">
            <a:pPr>
              <a:buNone/>
              <a:defRPr sz="3150" b="1">
                <a:solidFill>
                  <a:srgbClr val="087F82"/>
                </a:solidFill>
                <a:latin typeface="Arial"/>
                <a:ea typeface="Arial"/>
                <a:cs typeface="Arial"/>
              </a:defRPr>
            </a:pPr>
            <a:r>
              <a:rPr sz="3150" b="1">
                <a:solidFill>
                  <a:srgbClr val="087F82"/>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A1ECE87-D3A8-4CEE-86AD-B59332A86E47}"/>
              </a:ext>
            </a:extLst>
          </p:cNvPr>
          <p:cNvSpPr>
            <a:spLocks xmlns:a="http://schemas.openxmlformats.org/drawingml/2006/main" noGrp="1"/>
          </p:cNvSpPr>
          <p:nvPr/>
        </p:nvSpPr>
        <p:spPr>
          <a:xfrm xmlns:a="http://schemas.openxmlformats.org/drawingml/2006/main">
            <a:off x="1524000" y="15049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2"/>
                </a:solidFill>
                <a:latin typeface="Arial"/>
                <a:ea typeface="Arial"/>
                <a:cs typeface="Arial"/>
              </a:defRPr>
            </a:defPPr>
          </a:lstStyle>
          <a:p xmlns:a="http://schemas.openxmlformats.org/drawingml/2006/main">
            <a:pPr>
              <a:buNone/>
              <a:defRPr sz="2175" b="1">
                <a:solidFill>
                  <a:srgbClr val="142C42"/>
                </a:solidFill>
                <a:latin typeface="Arial"/>
                <a:ea typeface="Arial"/>
                <a:cs typeface="Arial"/>
              </a:defRPr>
            </a:pPr>
            <a:r>
              <a:rPr sz="2175" b="1">
                <a:solidFill>
                  <a:srgbClr val="142C42"/>
                </a:solidFill>
                <a:latin typeface="Arial"/>
                <a:ea typeface="Arial"/>
                <a:cs typeface="Arial"/>
              </a:rPr>
              <a:t>Production inputs</a:t>
            </a:r>
          </a:p>
        </p:txBody>
      </p:sp>
      <p:sp>
        <p:nvSpPr>
          <p:cNvPr id="5" name="">
            <a:extLst xmlns:a="http://schemas.openxmlformats.org/drawingml/2006/main">
              <a:ext uri="{FF2B5EF4-FFF2-40B4-BE49-F238E27FC236}">
                <a16:creationId xmlns:a16="http://schemas.microsoft.com/office/drawing/2014/main" id="{1706AC2D-0151-43A2-890A-1F69CAAEDF20}"/>
              </a:ext>
            </a:extLst>
          </p:cNvPr>
          <p:cNvSpPr>
            <a:spLocks xmlns:a="http://schemas.openxmlformats.org/drawingml/2006/main" noGrp="1"/>
          </p:cNvSpPr>
          <p:nvPr/>
        </p:nvSpPr>
        <p:spPr>
          <a:xfrm xmlns:a="http://schemas.openxmlformats.org/drawingml/2006/main">
            <a:off x="1524000" y="1962150"/>
            <a:ext cx="971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679"/>
                </a:solidFill>
                <a:latin typeface="Arial"/>
                <a:ea typeface="Arial"/>
                <a:cs typeface="Arial"/>
              </a:defRPr>
            </a:defPPr>
          </a:lstStyle>
          <a:p xmlns:a="http://schemas.openxmlformats.org/drawingml/2006/main">
            <a:pPr>
              <a:buNone/>
              <a:defRPr sz="1875" b="0">
                <a:solidFill>
                  <a:srgbClr val="516679"/>
                </a:solidFill>
                <a:latin typeface="Arial"/>
                <a:ea typeface="Arial"/>
                <a:cs typeface="Arial"/>
              </a:defRPr>
            </a:pPr>
            <a:r>
              <a:rPr sz="1875" b="0">
                <a:solidFill>
                  <a:srgbClr val="516679"/>
                </a:solidFill>
                <a:latin typeface="Arial"/>
                <a:ea typeface="Arial"/>
                <a:cs typeface="Arial"/>
              </a:rPr>
              <a:t>Resolve local or S3 files and folders, identify formats and preserve source locations.</a:t>
            </a:r>
          </a:p>
        </p:txBody>
      </p:sp>
      <p:sp>
        <p:nvSpPr>
          <p:cNvPr id="6" name="">
            <a:extLst xmlns:a="http://schemas.openxmlformats.org/drawingml/2006/main">
              <a:ext uri="{FF2B5EF4-FFF2-40B4-BE49-F238E27FC236}">
                <a16:creationId xmlns:a16="http://schemas.microsoft.com/office/drawing/2014/main" id="{BD364281-7746-47F6-8939-EE8B80D09D17}"/>
              </a:ext>
            </a:extLst>
          </p:cNvPr>
          <p:cNvSpPr>
            <a:spLocks xmlns:a="http://schemas.openxmlformats.org/drawingml/2006/main" noGrp="1"/>
          </p:cNvSpPr>
          <p:nvPr/>
        </p:nvSpPr>
        <p:spPr>
          <a:xfrm xmlns:a="http://schemas.openxmlformats.org/drawingml/2006/main">
            <a:off x="609600" y="300037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2"/>
                </a:solidFill>
                <a:latin typeface="Arial"/>
                <a:ea typeface="Arial"/>
                <a:cs typeface="Arial"/>
              </a:defRPr>
            </a:defPPr>
          </a:lstStyle>
          <a:p xmlns:a="http://schemas.openxmlformats.org/drawingml/2006/main">
            <a:pPr>
              <a:buNone/>
              <a:defRPr sz="3150" b="1">
                <a:solidFill>
                  <a:srgbClr val="087F82"/>
                </a:solidFill>
                <a:latin typeface="Arial"/>
                <a:ea typeface="Arial"/>
                <a:cs typeface="Arial"/>
              </a:defRPr>
            </a:pPr>
            <a:r>
              <a:rPr sz="3150" b="1">
                <a:solidFill>
                  <a:srgbClr val="087F8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2DA9037-963B-4C69-A225-9DC450E2E500}"/>
              </a:ext>
            </a:extLst>
          </p:cNvPr>
          <p:cNvSpPr>
            <a:spLocks xmlns:a="http://schemas.openxmlformats.org/drawingml/2006/main" noGrp="1"/>
          </p:cNvSpPr>
          <p:nvPr/>
        </p:nvSpPr>
        <p:spPr>
          <a:xfrm xmlns:a="http://schemas.openxmlformats.org/drawingml/2006/main">
            <a:off x="1524000" y="30003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2"/>
                </a:solidFill>
                <a:latin typeface="Arial"/>
                <a:ea typeface="Arial"/>
                <a:cs typeface="Arial"/>
              </a:defRPr>
            </a:defPPr>
          </a:lstStyle>
          <a:p xmlns:a="http://schemas.openxmlformats.org/drawingml/2006/main">
            <a:pPr>
              <a:buNone/>
              <a:defRPr sz="2175" b="1">
                <a:solidFill>
                  <a:srgbClr val="142C42"/>
                </a:solidFill>
                <a:latin typeface="Arial"/>
                <a:ea typeface="Arial"/>
                <a:cs typeface="Arial"/>
              </a:defRPr>
            </a:pPr>
            <a:r>
              <a:rPr sz="2175" b="1">
                <a:solidFill>
                  <a:srgbClr val="142C42"/>
                </a:solidFill>
                <a:latin typeface="Arial"/>
                <a:ea typeface="Arial"/>
                <a:cs typeface="Arial"/>
              </a:rPr>
              <a:t>Connected processing</a:t>
            </a:r>
          </a:p>
        </p:txBody>
      </p:sp>
      <p:sp>
        <p:nvSpPr>
          <p:cNvPr id="8" name="">
            <a:extLst xmlns:a="http://schemas.openxmlformats.org/drawingml/2006/main">
              <a:ext uri="{FF2B5EF4-FFF2-40B4-BE49-F238E27FC236}">
                <a16:creationId xmlns:a16="http://schemas.microsoft.com/office/drawing/2014/main" id="{6DD4FA3C-F6DB-4950-B9D9-36F8CD227090}"/>
              </a:ext>
            </a:extLst>
          </p:cNvPr>
          <p:cNvSpPr>
            <a:spLocks xmlns:a="http://schemas.openxmlformats.org/drawingml/2006/main" noGrp="1"/>
          </p:cNvSpPr>
          <p:nvPr/>
        </p:nvSpPr>
        <p:spPr>
          <a:xfrm xmlns:a="http://schemas.openxmlformats.org/drawingml/2006/main">
            <a:off x="1524000" y="3457575"/>
            <a:ext cx="971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679"/>
                </a:solidFill>
                <a:latin typeface="Arial"/>
                <a:ea typeface="Arial"/>
                <a:cs typeface="Arial"/>
              </a:defRPr>
            </a:defPPr>
          </a:lstStyle>
          <a:p xmlns:a="http://schemas.openxmlformats.org/drawingml/2006/main">
            <a:pPr>
              <a:buNone/>
              <a:defRPr sz="1875" b="0">
                <a:solidFill>
                  <a:srgbClr val="516679"/>
                </a:solidFill>
                <a:latin typeface="Arial"/>
                <a:ea typeface="Arial"/>
                <a:cs typeface="Arial"/>
              </a:defRPr>
            </a:pPr>
            <a:r>
              <a:rPr sz="1875" b="0">
                <a:solidFill>
                  <a:srgbClr val="516679"/>
                </a:solidFill>
                <a:latin typeface="Arial"/>
                <a:ea typeface="Arial"/>
                <a:cs typeface="Arial"/>
              </a:rPr>
              <a:t>Start at the selected stage and continue retained records through downstream stages.</a:t>
            </a:r>
          </a:p>
        </p:txBody>
      </p:sp>
      <p:sp>
        <p:nvSpPr>
          <p:cNvPr id="9" name="">
            <a:extLst xmlns:a="http://schemas.openxmlformats.org/drawingml/2006/main">
              <a:ext uri="{FF2B5EF4-FFF2-40B4-BE49-F238E27FC236}">
                <a16:creationId xmlns:a16="http://schemas.microsoft.com/office/drawing/2014/main" id="{9269C7F2-1F1D-47A3-A9E9-FD03F21E56EE}"/>
              </a:ext>
            </a:extLst>
          </p:cNvPr>
          <p:cNvSpPr>
            <a:spLocks xmlns:a="http://schemas.openxmlformats.org/drawingml/2006/main" noGrp="1"/>
          </p:cNvSpPr>
          <p:nvPr/>
        </p:nvSpPr>
        <p:spPr>
          <a:xfrm xmlns:a="http://schemas.openxmlformats.org/drawingml/2006/main">
            <a:off x="609600" y="449580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2"/>
                </a:solidFill>
                <a:latin typeface="Arial"/>
                <a:ea typeface="Arial"/>
                <a:cs typeface="Arial"/>
              </a:defRPr>
            </a:defPPr>
          </a:lstStyle>
          <a:p xmlns:a="http://schemas.openxmlformats.org/drawingml/2006/main">
            <a:pPr>
              <a:buNone/>
              <a:defRPr sz="3150" b="1">
                <a:solidFill>
                  <a:srgbClr val="087F82"/>
                </a:solidFill>
                <a:latin typeface="Arial"/>
                <a:ea typeface="Arial"/>
                <a:cs typeface="Arial"/>
              </a:defRPr>
            </a:pPr>
            <a:r>
              <a:rPr sz="3150" b="1">
                <a:solidFill>
                  <a:srgbClr val="087F82"/>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854C186-33FA-439D-9FAE-231F872ED596}"/>
              </a:ext>
            </a:extLst>
          </p:cNvPr>
          <p:cNvSpPr>
            <a:spLocks xmlns:a="http://schemas.openxmlformats.org/drawingml/2006/main" noGrp="1"/>
          </p:cNvSpPr>
          <p:nvPr/>
        </p:nvSpPr>
        <p:spPr>
          <a:xfrm xmlns:a="http://schemas.openxmlformats.org/drawingml/2006/main">
            <a:off x="1524000" y="449580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2"/>
                </a:solidFill>
                <a:latin typeface="Arial"/>
                <a:ea typeface="Arial"/>
                <a:cs typeface="Arial"/>
              </a:defRPr>
            </a:defPPr>
          </a:lstStyle>
          <a:p xmlns:a="http://schemas.openxmlformats.org/drawingml/2006/main">
            <a:pPr>
              <a:buNone/>
              <a:defRPr sz="2175" b="1">
                <a:solidFill>
                  <a:srgbClr val="142C42"/>
                </a:solidFill>
                <a:latin typeface="Arial"/>
                <a:ea typeface="Arial"/>
                <a:cs typeface="Arial"/>
              </a:defRPr>
            </a:pPr>
            <a:r>
              <a:rPr sz="2175" b="1">
                <a:solidFill>
                  <a:srgbClr val="142C42"/>
                </a:solidFill>
                <a:latin typeface="Arial"/>
                <a:ea typeface="Arial"/>
                <a:cs typeface="Arial"/>
              </a:rPr>
              <a:t>Independent reconciliation</a:t>
            </a:r>
          </a:p>
        </p:txBody>
      </p:sp>
      <p:sp>
        <p:nvSpPr>
          <p:cNvPr id="11" name="">
            <a:extLst xmlns:a="http://schemas.openxmlformats.org/drawingml/2006/main">
              <a:ext uri="{FF2B5EF4-FFF2-40B4-BE49-F238E27FC236}">
                <a16:creationId xmlns:a16="http://schemas.microsoft.com/office/drawing/2014/main" id="{9947A5BA-245A-47E9-98B6-046C9DD60BFE}"/>
              </a:ext>
            </a:extLst>
          </p:cNvPr>
          <p:cNvSpPr>
            <a:spLocks xmlns:a="http://schemas.openxmlformats.org/drawingml/2006/main" noGrp="1"/>
          </p:cNvSpPr>
          <p:nvPr/>
        </p:nvSpPr>
        <p:spPr>
          <a:xfrm xmlns:a="http://schemas.openxmlformats.org/drawingml/2006/main">
            <a:off x="1524000" y="4953000"/>
            <a:ext cx="971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679"/>
                </a:solidFill>
                <a:latin typeface="Arial"/>
                <a:ea typeface="Arial"/>
                <a:cs typeface="Arial"/>
              </a:defRPr>
            </a:defPPr>
          </a:lstStyle>
          <a:p xmlns:a="http://schemas.openxmlformats.org/drawingml/2006/main">
            <a:pPr>
              <a:buNone/>
              <a:defRPr sz="1875" b="0">
                <a:solidFill>
                  <a:srgbClr val="516679"/>
                </a:solidFill>
                <a:latin typeface="Arial"/>
                <a:ea typeface="Arial"/>
                <a:cs typeface="Arial"/>
              </a:defRPr>
            </a:pPr>
            <a:r>
              <a:rPr sz="1875" b="0">
                <a:solidFill>
                  <a:srgbClr val="516679"/>
                </a:solidFill>
                <a:latin typeface="Arial"/>
                <a:ea typeface="Arial"/>
                <a:cs typeface="Arial"/>
              </a:rPr>
              <a:t>Compare calculated decisions and values against supplied KEEP and DROP datasets.</a:t>
            </a:r>
          </a:p>
        </p:txBody>
      </p:sp>
    </p:spTree>
    <p:extLst>
      <p:ext uri="{BB962C8B-B14F-4D97-AF65-F5344CB8AC3E}">
        <p14:creationId xmlns:p14="http://schemas.microsoft.com/office/powerpoint/2010/main" val="839160770"/>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B2495F-5A32-41B6-A9CA-CC7B2B839EF1}"/>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buNone/>
              <a:defRPr sz="3300" b="1">
                <a:solidFill>
                  <a:srgbClr val="142C42"/>
                </a:solidFill>
                <a:latin typeface="Arial"/>
                <a:ea typeface="Arial"/>
                <a:cs typeface="Arial"/>
              </a:defRPr>
            </a:pPr>
            <a:r>
              <a:rPr sz="3300" b="1">
                <a:solidFill>
                  <a:srgbClr val="142C42"/>
                </a:solidFill>
                <a:latin typeface="Arial"/>
                <a:ea typeface="Arial"/>
                <a:cs typeface="Arial"/>
              </a:rPr>
              <a:t>Why delivery required additional time</a:t>
            </a:r>
          </a:p>
        </p:txBody>
      </p:sp>
      <p:sp>
        <p:nvSpPr>
          <p:cNvPr id="2" name="">
            <a:extLst xmlns:a="http://schemas.openxmlformats.org/drawingml/2006/main">
              <a:ext uri="{FF2B5EF4-FFF2-40B4-BE49-F238E27FC236}">
                <a16:creationId xmlns:a16="http://schemas.microsoft.com/office/drawing/2014/main" id="{D41988C8-BE1B-44CA-A3BE-0800453E0CCE}"/>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buNone/>
              <a:defRPr sz="1200" b="0">
                <a:solidFill>
                  <a:srgbClr val="516679"/>
                </a:solidFill>
                <a:latin typeface="Arial"/>
                <a:ea typeface="Arial"/>
                <a:cs typeface="Arial"/>
              </a:defRPr>
            </a:pPr>
            <a:r>
              <a:rPr sz="1200" b="0">
                <a:solidFill>
                  <a:srgbClr val="516679"/>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B883EDBF-9FCA-47B0-B52B-0876936A0BE5}"/>
              </a:ext>
            </a:extLst>
          </p:cNvPr>
          <p:cNvGraphicFramePr/>
          <p:nvPr/>
        </p:nvGraphicFramePr>
        <p:xfrm>
          <a:off xmlns:a="http://schemas.openxmlformats.org/drawingml/2006/main" x="609600" y="1552575"/>
          <a:ext xmlns:a="http://schemas.openxmlformats.org/drawingml/2006/main" cx="10972800" cy="3895725"/>
        </p:xfrm>
        <a:graphic xmlns:a="http://schemas.openxmlformats.org/drawingml/2006/main">
          <a:graphicData uri="http://schemas.openxmlformats.org/drawingml/2006/table">
            <a:tbl>
              <a:tblPr/>
              <a:tblGrid>
                <a:gridCol w="3476625"/>
                <a:gridCol w="7496175"/>
              </a:tblGrid>
              <a:tr h="649288">
                <a:tc>
                  <a:txBody>
                    <a:bodyPr/>
                    <a:lstStyle/>
                    <a:p>
                      <a:r>
                        <a:rPr sz="1800" b="1">
                          <a:solidFill>
                            <a:srgbClr val="FFFFFF"/>
                          </a:solidFill>
                          <a:latin typeface="Arial"/>
                          <a:ea typeface="Arial"/>
                          <a:cs typeface="Arial"/>
                        </a:rPr>
                        <a:t>Expanded requirement</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Engineering work added</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649288">
                <a:tc>
                  <a:txBody>
                    <a:bodyPr/>
                    <a:lstStyle/>
                    <a:p>
                      <a:r>
                        <a:rPr sz="1800" b="0">
                          <a:solidFill>
                            <a:srgbClr val="172B3D"/>
                          </a:solidFill>
                          <a:latin typeface="Arial"/>
                          <a:ea typeface="Arial"/>
                          <a:cs typeface="Arial"/>
                        </a:rPr>
                        <a:t>Document interpretation</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Resolve revised rules and calculation precedence</a:t>
                      </a:r>
                    </a:p>
                  </a:txBody>
                  <a:tcPr marL="91440" marR="91440" marT="45720" marB="45720">
                    <a:lnR w="9525">
                      <a:solidFill>
                        <a:srgbClr val="D9E2E9"/>
                      </a:solidFill>
                      <a:prstDash val="solid"/>
                    </a:lnR>
                    <a:lnB w="9525">
                      <a:solidFill>
                        <a:srgbClr val="D9E2E9"/>
                      </a:solidFill>
                      <a:prstDash val="solid"/>
                    </a:lnB>
                    <a:solidFill>
                      <a:srgbClr val="FFFFFF"/>
                    </a:solidFill>
                  </a:tcPr>
                </a:tc>
              </a:tr>
              <a:tr h="649288">
                <a:tc>
                  <a:txBody>
                    <a:bodyPr/>
                    <a:lstStyle/>
                    <a:p>
                      <a:r>
                        <a:rPr sz="1800" b="0">
                          <a:solidFill>
                            <a:srgbClr val="172B3D"/>
                          </a:solidFill>
                          <a:latin typeface="Arial"/>
                          <a:ea typeface="Arial"/>
                          <a:cs typeface="Arial"/>
                        </a:rPr>
                        <a:t>Production input support</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Add format handling, S3 discovery and source provenance</a:t>
                      </a:r>
                    </a:p>
                  </a:txBody>
                  <a:tcPr marL="91440" marR="91440" marT="45720" marB="45720">
                    <a:lnR w="9525">
                      <a:solidFill>
                        <a:srgbClr val="D9E2E9"/>
                      </a:solidFill>
                      <a:prstDash val="solid"/>
                    </a:lnR>
                    <a:lnB w="9525">
                      <a:solidFill>
                        <a:srgbClr val="D9E2E9"/>
                      </a:solidFill>
                      <a:prstDash val="solid"/>
                    </a:lnB>
                    <a:solidFill>
                      <a:srgbClr val="EAF0F4"/>
                    </a:solidFill>
                  </a:tcPr>
                </a:tc>
              </a:tr>
              <a:tr h="649288">
                <a:tc>
                  <a:txBody>
                    <a:bodyPr/>
                    <a:lstStyle/>
                    <a:p>
                      <a:r>
                        <a:rPr sz="1800" b="0">
                          <a:solidFill>
                            <a:srgbClr val="172B3D"/>
                          </a:solidFill>
                          <a:latin typeface="Arial"/>
                          <a:ea typeface="Arial"/>
                          <a:cs typeface="Arial"/>
                        </a:rPr>
                        <a:t>Record movement</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Generate stage outputs and reconcile handoff counts</a:t>
                      </a:r>
                    </a:p>
                  </a:txBody>
                  <a:tcPr marL="91440" marR="91440" marT="45720" marB="45720">
                    <a:lnR w="9525">
                      <a:solidFill>
                        <a:srgbClr val="D9E2E9"/>
                      </a:solidFill>
                      <a:prstDash val="solid"/>
                    </a:lnR>
                    <a:lnB w="9525">
                      <a:solidFill>
                        <a:srgbClr val="D9E2E9"/>
                      </a:solidFill>
                      <a:prstDash val="solid"/>
                    </a:lnB>
                    <a:solidFill>
                      <a:srgbClr val="FFFFFF"/>
                    </a:solidFill>
                  </a:tcPr>
                </a:tc>
              </a:tr>
              <a:tr h="649288">
                <a:tc>
                  <a:txBody>
                    <a:bodyPr/>
                    <a:lstStyle/>
                    <a:p>
                      <a:r>
                        <a:rPr sz="1800" b="0">
                          <a:solidFill>
                            <a:srgbClr val="172B3D"/>
                          </a:solidFill>
                          <a:latin typeface="Arial"/>
                          <a:ea typeface="Arial"/>
                          <a:cs typeface="Arial"/>
                        </a:rPr>
                        <a:t>Output comparison</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Search full references and explain real differences</a:t>
                      </a:r>
                    </a:p>
                  </a:txBody>
                  <a:tcPr marL="91440" marR="91440" marT="45720" marB="45720">
                    <a:lnR w="9525">
                      <a:solidFill>
                        <a:srgbClr val="D9E2E9"/>
                      </a:solidFill>
                      <a:prstDash val="solid"/>
                    </a:lnR>
                    <a:lnB w="9525">
                      <a:solidFill>
                        <a:srgbClr val="D9E2E9"/>
                      </a:solidFill>
                      <a:prstDash val="solid"/>
                    </a:lnB>
                    <a:solidFill>
                      <a:srgbClr val="EAF0F4"/>
                    </a:solidFill>
                  </a:tcPr>
                </a:tc>
              </a:tr>
              <a:tr h="649288">
                <a:tc>
                  <a:txBody>
                    <a:bodyPr/>
                    <a:lstStyle/>
                    <a:p>
                      <a:r>
                        <a:rPr sz="1800" b="0">
                          <a:solidFill>
                            <a:srgbClr val="172B3D"/>
                          </a:solidFill>
                          <a:latin typeface="Arial"/>
                          <a:ea typeface="Arial"/>
                          <a:cs typeface="Arial"/>
                        </a:rPr>
                        <a:t>Reviewable reports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Separate files, rows, checks and acceptance results</a:t>
                      </a:r>
                    </a:p>
                  </a:txBody>
                  <a:tcPr marL="91440" marR="91440" marT="45720" marB="45720">
                    <a:lnR w="9525">
                      <a:solidFill>
                        <a:srgbClr val="D9E2E9"/>
                      </a:solidFill>
                      <a:prstDash val="solid"/>
                    </a:lnR>
                    <a:lnB w="9525">
                      <a:solidFill>
                        <a:srgbClr val="D9E2E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3C79B2B-4FD0-40FB-B242-A662E21FA1AE}"/>
              </a:ext>
            </a:extLst>
          </p:cNvPr>
          <p:cNvSpPr>
            <a:spLocks xmlns:a="http://schemas.openxmlformats.org/drawingml/2006/main" noGrp="1"/>
          </p:cNvSpPr>
          <p:nvPr/>
        </p:nvSpPr>
        <p:spPr>
          <a:xfrm xmlns:a="http://schemas.openxmlformats.org/drawingml/2006/main">
            <a:off x="609600" y="57721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2"/>
                </a:solidFill>
                <a:latin typeface="Arial"/>
                <a:ea typeface="Arial"/>
                <a:cs typeface="Arial"/>
              </a:defRPr>
            </a:defPPr>
          </a:lstStyle>
          <a:p xmlns:a="http://schemas.openxmlformats.org/drawingml/2006/main">
            <a:pPr>
              <a:buNone/>
              <a:defRPr sz="2175" b="1">
                <a:solidFill>
                  <a:srgbClr val="087F82"/>
                </a:solidFill>
                <a:latin typeface="Arial"/>
                <a:ea typeface="Arial"/>
                <a:cs typeface="Arial"/>
              </a:defRPr>
            </a:pPr>
            <a:r>
              <a:rPr sz="2175" b="1">
                <a:solidFill>
                  <a:srgbClr val="087F82"/>
                </a:solidFill>
                <a:latin typeface="Arial"/>
                <a:ea typeface="Arial"/>
                <a:cs typeface="Arial"/>
              </a:rPr>
              <a:t>The delivery scope grew from rule tests to a usable analysis workflow.</a:t>
            </a:r>
          </a:p>
        </p:txBody>
      </p:sp>
    </p:spTree>
    <p:extLst>
      <p:ext uri="{BB962C8B-B14F-4D97-AF65-F5344CB8AC3E}">
        <p14:creationId xmlns:p14="http://schemas.microsoft.com/office/powerpoint/2010/main" val="337610065"/>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A4B039-E537-4A81-A906-196B113CA818}"/>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buNone/>
              <a:defRPr sz="3300" b="1">
                <a:solidFill>
                  <a:srgbClr val="142C42"/>
                </a:solidFill>
                <a:latin typeface="Arial"/>
                <a:ea typeface="Arial"/>
                <a:cs typeface="Arial"/>
              </a:defRPr>
            </a:pPr>
            <a:r>
              <a:rPr sz="3300" b="1">
                <a:solidFill>
                  <a:srgbClr val="142C42"/>
                </a:solidFill>
                <a:latin typeface="Arial"/>
                <a:ea typeface="Arial"/>
                <a:cs typeface="Arial"/>
              </a:rPr>
              <a:t>One configuration controls the input</a:t>
            </a:r>
          </a:p>
        </p:txBody>
      </p:sp>
      <p:sp>
        <p:nvSpPr>
          <p:cNvPr id="2" name="">
            <a:extLst xmlns:a="http://schemas.openxmlformats.org/drawingml/2006/main">
              <a:ext uri="{FF2B5EF4-FFF2-40B4-BE49-F238E27FC236}">
                <a16:creationId xmlns:a16="http://schemas.microsoft.com/office/drawing/2014/main" id="{CB4DF814-1F25-4902-AFE8-4468D951D490}"/>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buNone/>
              <a:defRPr sz="1200" b="0">
                <a:solidFill>
                  <a:srgbClr val="516679"/>
                </a:solidFill>
                <a:latin typeface="Arial"/>
                <a:ea typeface="Arial"/>
                <a:cs typeface="Arial"/>
              </a:defRPr>
            </a:pPr>
            <a:r>
              <a:rPr sz="1200" b="0">
                <a:solidFill>
                  <a:srgbClr val="516679"/>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017CC9C2-FADC-40FC-BB13-6FED696139E7}"/>
              </a:ext>
            </a:extLst>
          </p:cNvPr>
          <p:cNvGraphicFramePr/>
          <p:nvPr/>
        </p:nvGraphicFramePr>
        <p:xfrm>
          <a:off xmlns:a="http://schemas.openxmlformats.org/drawingml/2006/main" x="609600" y="1543050"/>
          <a:ext xmlns:a="http://schemas.openxmlformats.org/drawingml/2006/main" cx="10972800" cy="3657600"/>
        </p:xfrm>
        <a:graphic xmlns:a="http://schemas.openxmlformats.org/drawingml/2006/main">
          <a:graphicData uri="http://schemas.openxmlformats.org/drawingml/2006/table">
            <a:tbl>
              <a:tblPr/>
              <a:tblGrid>
                <a:gridCol w="2857500"/>
                <a:gridCol w="8115300"/>
              </a:tblGrid>
              <a:tr h="609600">
                <a:tc>
                  <a:txBody>
                    <a:bodyPr/>
                    <a:lstStyle/>
                    <a:p>
                      <a:r>
                        <a:rPr sz="1800" b="1">
                          <a:solidFill>
                            <a:srgbClr val="FFFFFF"/>
                          </a:solidFill>
                          <a:latin typeface="Arial"/>
                          <a:ea typeface="Arial"/>
                          <a:cs typeface="Arial"/>
                        </a:rPr>
                        <a:t>Configuration</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Available choices</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609600">
                <a:tc>
                  <a:txBody>
                    <a:bodyPr/>
                    <a:lstStyle/>
                    <a:p>
                      <a:r>
                        <a:rPr sz="1800" b="0">
                          <a:solidFill>
                            <a:srgbClr val="172B3D"/>
                          </a:solidFill>
                          <a:latin typeface="Arial"/>
                          <a:ea typeface="Arial"/>
                          <a:cs typeface="Arial"/>
                        </a:rPr>
                        <a:t>Source</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Local or S3, selected through source_type</a:t>
                      </a:r>
                    </a:p>
                  </a:txBody>
                  <a:tcPr marL="91440" marR="91440" marT="45720" marB="45720">
                    <a:lnR w="9525">
                      <a:solidFill>
                        <a:srgbClr val="D9E2E9"/>
                      </a:solidFill>
                      <a:prstDash val="solid"/>
                    </a:lnR>
                    <a:lnB w="9525">
                      <a:solidFill>
                        <a:srgbClr val="D9E2E9"/>
                      </a:solidFill>
                      <a:prstDash val="solid"/>
                    </a:lnB>
                    <a:solidFill>
                      <a:srgbClr val="FFFFFF"/>
                    </a:solidFill>
                  </a:tcPr>
                </a:tc>
              </a:tr>
              <a:tr h="609600">
                <a:tc>
                  <a:txBody>
                    <a:bodyPr/>
                    <a:lstStyle/>
                    <a:p>
                      <a:r>
                        <a:rPr sz="1800" b="0">
                          <a:solidFill>
                            <a:srgbClr val="172B3D"/>
                          </a:solidFill>
                          <a:latin typeface="Arial"/>
                          <a:ea typeface="Arial"/>
                          <a:cs typeface="Arial"/>
                        </a:rPr>
                        <a:t>Paths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Files, multiple files, folders or multiple folders</a:t>
                      </a:r>
                    </a:p>
                  </a:txBody>
                  <a:tcPr marL="91440" marR="91440" marT="45720" marB="45720">
                    <a:lnR w="9525">
                      <a:solidFill>
                        <a:srgbClr val="D9E2E9"/>
                      </a:solidFill>
                      <a:prstDash val="solid"/>
                    </a:lnR>
                    <a:lnB w="9525">
                      <a:solidFill>
                        <a:srgbClr val="D9E2E9"/>
                      </a:solidFill>
                      <a:prstDash val="solid"/>
                    </a:lnB>
                    <a:solidFill>
                      <a:srgbClr val="EAF0F4"/>
                    </a:solidFill>
                  </a:tcPr>
                </a:tc>
              </a:tr>
              <a:tr h="609600">
                <a:tc>
                  <a:txBody>
                    <a:bodyPr/>
                    <a:lstStyle/>
                    <a:p>
                      <a:r>
                        <a:rPr sz="1800" b="0">
                          <a:solidFill>
                            <a:srgbClr val="172B3D"/>
                          </a:solidFill>
                          <a:latin typeface="Arial"/>
                          <a:ea typeface="Arial"/>
                          <a:cs typeface="Arial"/>
                        </a:rPr>
                        <a:t>Formats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JSON and Parquet, including extensionless S3 objects</a:t>
                      </a:r>
                    </a:p>
                  </a:txBody>
                  <a:tcPr marL="91440" marR="91440" marT="45720" marB="45720">
                    <a:lnR w="9525">
                      <a:solidFill>
                        <a:srgbClr val="D9E2E9"/>
                      </a:solidFill>
                      <a:prstDash val="solid"/>
                    </a:lnR>
                    <a:lnB w="9525">
                      <a:solidFill>
                        <a:srgbClr val="D9E2E9"/>
                      </a:solidFill>
                      <a:prstDash val="solid"/>
                    </a:lnB>
                    <a:solidFill>
                      <a:srgbClr val="FFFFFF"/>
                    </a:solidFill>
                  </a:tcPr>
                </a:tc>
              </a:tr>
              <a:tr h="609600">
                <a:tc>
                  <a:txBody>
                    <a:bodyPr/>
                    <a:lstStyle/>
                    <a:p>
                      <a:r>
                        <a:rPr sz="1800" b="0">
                          <a:solidFill>
                            <a:srgbClr val="172B3D"/>
                          </a:solidFill>
                          <a:latin typeface="Arial"/>
                          <a:ea typeface="Arial"/>
                          <a:cs typeface="Arial"/>
                        </a:rPr>
                        <a:t>Datasets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Original source with optional KEEP and DROP references</a:t>
                      </a:r>
                    </a:p>
                  </a:txBody>
                  <a:tcPr marL="91440" marR="91440" marT="45720" marB="45720">
                    <a:lnR w="9525">
                      <a:solidFill>
                        <a:srgbClr val="D9E2E9"/>
                      </a:solidFill>
                      <a:prstDash val="solid"/>
                    </a:lnR>
                    <a:lnB w="9525">
                      <a:solidFill>
                        <a:srgbClr val="D9E2E9"/>
                      </a:solidFill>
                      <a:prstDash val="solid"/>
                    </a:lnB>
                    <a:solidFill>
                      <a:srgbClr val="EAF0F4"/>
                    </a:solidFill>
                  </a:tcPr>
                </a:tc>
              </a:tr>
              <a:tr h="609600">
                <a:tc>
                  <a:txBody>
                    <a:bodyPr/>
                    <a:lstStyle/>
                    <a:p>
                      <a:r>
                        <a:rPr sz="1800" b="0">
                          <a:solidFill>
                            <a:srgbClr val="172B3D"/>
                          </a:solidFill>
                          <a:latin typeface="Arial"/>
                          <a:ea typeface="Arial"/>
                          <a:cs typeface="Arial"/>
                        </a:rPr>
                        <a:t>Entry point</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One selected stage or all configured stage entries</a:t>
                      </a:r>
                    </a:p>
                  </a:txBody>
                  <a:tcPr marL="91440" marR="91440" marT="45720" marB="45720">
                    <a:lnR w="9525">
                      <a:solidFill>
                        <a:srgbClr val="D9E2E9"/>
                      </a:solidFill>
                      <a:prstDash val="solid"/>
                    </a:lnR>
                    <a:lnB w="9525">
                      <a:solidFill>
                        <a:srgbClr val="D9E2E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1CBBF02-645B-43BB-8256-7237B9E4B5DB}"/>
              </a:ext>
            </a:extLst>
          </p:cNvPr>
          <p:cNvSpPr>
            <a:spLocks xmlns:a="http://schemas.openxmlformats.org/drawingml/2006/main" noGrp="1"/>
          </p:cNvSpPr>
          <p:nvPr/>
        </p:nvSpPr>
        <p:spPr>
          <a:xfrm xmlns:a="http://schemas.openxmlformats.org/drawingml/2006/main">
            <a:off x="609600" y="55054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F82"/>
                </a:solidFill>
                <a:latin typeface="Arial"/>
                <a:ea typeface="Arial"/>
                <a:cs typeface="Arial"/>
              </a:defRPr>
            </a:defPPr>
          </a:lstStyle>
          <a:p xmlns:a="http://schemas.openxmlformats.org/drawingml/2006/main">
            <a:pPr>
              <a:buNone/>
              <a:defRPr sz="2250" b="1">
                <a:solidFill>
                  <a:srgbClr val="087F82"/>
                </a:solidFill>
                <a:latin typeface="Arial"/>
                <a:ea typeface="Arial"/>
                <a:cs typeface="Arial"/>
              </a:defRPr>
            </a:pPr>
            <a:r>
              <a:rPr sz="2250" b="1">
                <a:solidFill>
                  <a:srgbClr val="087F82"/>
                </a:solidFill>
                <a:latin typeface="Arial"/>
                <a:ea typeface="Arial"/>
                <a:cs typeface="Arial"/>
              </a:rPr>
              <a:t>SOURCE_RUN in run_commands.py</a:t>
            </a:r>
          </a:p>
        </p:txBody>
      </p:sp>
      <p:sp>
        <p:nvSpPr>
          <p:cNvPr id="5" name="">
            <a:extLst xmlns:a="http://schemas.openxmlformats.org/drawingml/2006/main">
              <a:ext uri="{FF2B5EF4-FFF2-40B4-BE49-F238E27FC236}">
                <a16:creationId xmlns:a16="http://schemas.microsoft.com/office/drawing/2014/main" id="{575194A9-199E-4250-B7D3-03CF7AB8B7DC}"/>
              </a:ext>
            </a:extLst>
          </p:cNvPr>
          <p:cNvSpPr>
            <a:spLocks xmlns:a="http://schemas.openxmlformats.org/drawingml/2006/main" noGrp="1"/>
          </p:cNvSpPr>
          <p:nvPr/>
        </p:nvSpPr>
        <p:spPr>
          <a:xfrm xmlns:a="http://schemas.openxmlformats.org/drawingml/2006/main">
            <a:off x="609600" y="59531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16679"/>
                </a:solidFill>
                <a:latin typeface="Arial"/>
                <a:ea typeface="Arial"/>
                <a:cs typeface="Arial"/>
              </a:defRPr>
            </a:defPPr>
          </a:lstStyle>
          <a:p xmlns:a="http://schemas.openxmlformats.org/drawingml/2006/main">
            <a:pPr>
              <a:buNone/>
              <a:defRPr sz="1725" b="0">
                <a:solidFill>
                  <a:srgbClr val="516679"/>
                </a:solidFill>
                <a:latin typeface="Arial"/>
                <a:ea typeface="Arial"/>
                <a:cs typeface="Arial"/>
              </a:defRPr>
            </a:pPr>
            <a:r>
              <a:rPr sz="1725" b="0">
                <a:solidFill>
                  <a:srgbClr val="516679"/>
                </a:solidFill>
                <a:latin typeface="Arial"/>
                <a:ea typeface="Arial"/>
                <a:cs typeface="Arial"/>
              </a:rPr>
              <a:t>S3 objects download to a local cache for reading and traceable evidence.</a:t>
            </a:r>
          </a:p>
        </p:txBody>
      </p:sp>
    </p:spTree>
    <p:extLst>
      <p:ext uri="{BB962C8B-B14F-4D97-AF65-F5344CB8AC3E}">
        <p14:creationId xmlns:p14="http://schemas.microsoft.com/office/powerpoint/2010/main" val="895660070"/>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988CA5-11FE-4506-83C5-10A2EA9F2EAC}"/>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buNone/>
              <a:defRPr sz="3300" b="1">
                <a:solidFill>
                  <a:srgbClr val="142C42"/>
                </a:solidFill>
                <a:latin typeface="Arial"/>
                <a:ea typeface="Arial"/>
                <a:cs typeface="Arial"/>
              </a:defRPr>
            </a:pPr>
            <a:r>
              <a:rPr sz="3300" b="1">
                <a:solidFill>
                  <a:srgbClr val="142C42"/>
                </a:solidFill>
                <a:latin typeface="Arial"/>
                <a:ea typeface="Arial"/>
                <a:cs typeface="Arial"/>
              </a:rPr>
              <a:t>Five stages with distinct responsibilities</a:t>
            </a:r>
          </a:p>
        </p:txBody>
      </p:sp>
      <p:sp>
        <p:nvSpPr>
          <p:cNvPr id="2" name="">
            <a:extLst xmlns:a="http://schemas.openxmlformats.org/drawingml/2006/main">
              <a:ext uri="{FF2B5EF4-FFF2-40B4-BE49-F238E27FC236}">
                <a16:creationId xmlns:a16="http://schemas.microsoft.com/office/drawing/2014/main" id="{6B37C897-2A66-4E93-9729-3400333C465C}"/>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buNone/>
              <a:defRPr sz="1200" b="0">
                <a:solidFill>
                  <a:srgbClr val="516679"/>
                </a:solidFill>
                <a:latin typeface="Arial"/>
                <a:ea typeface="Arial"/>
                <a:cs typeface="Arial"/>
              </a:defRPr>
            </a:pPr>
            <a:r>
              <a:rPr sz="1200" b="0">
                <a:solidFill>
                  <a:srgbClr val="516679"/>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5AEF67A3-B6C3-43B5-9C8B-F824D4153DBB}"/>
              </a:ext>
            </a:extLst>
          </p:cNvPr>
          <p:cNvGraphicFramePr/>
          <p:nvPr/>
        </p:nvGraphicFramePr>
        <p:xfrm>
          <a:off xmlns:a="http://schemas.openxmlformats.org/drawingml/2006/main" x="609600" y="1533525"/>
          <a:ext xmlns:a="http://schemas.openxmlformats.org/drawingml/2006/main" cx="10972800" cy="3781425"/>
        </p:xfrm>
        <a:graphic xmlns:a="http://schemas.openxmlformats.org/drawingml/2006/main">
          <a:graphicData uri="http://schemas.openxmlformats.org/drawingml/2006/table">
            <a:tbl>
              <a:tblPr/>
              <a:tblGrid>
                <a:gridCol w="2571750"/>
                <a:gridCol w="8401050"/>
              </a:tblGrid>
              <a:tr h="630238">
                <a:tc>
                  <a:txBody>
                    <a:bodyPr/>
                    <a:lstStyle/>
                    <a:p>
                      <a:r>
                        <a:rPr sz="1800" b="1">
                          <a:solidFill>
                            <a:srgbClr val="FFFFFF"/>
                          </a:solidFill>
                          <a:latin typeface="Arial"/>
                          <a:ea typeface="Arial"/>
                          <a:cs typeface="Arial"/>
                        </a:rPr>
                        <a:t>Stage</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Main regression responsibility</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630238">
                <a:tc>
                  <a:txBody>
                    <a:bodyPr/>
                    <a:lstStyle/>
                    <a:p>
                      <a:r>
                        <a:rPr sz="1800" b="0">
                          <a:solidFill>
                            <a:srgbClr val="172B3D"/>
                          </a:solidFill>
                          <a:latin typeface="Arial"/>
                          <a:ea typeface="Arial"/>
                          <a:cs typeface="Arial"/>
                        </a:rPr>
                        <a:t>Final Action</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Apply revised claim routing and ICN cancellation rules</a:t>
                      </a:r>
                    </a:p>
                  </a:txBody>
                  <a:tcPr marL="91440" marR="91440" marT="45720" marB="45720">
                    <a:lnR w="9525">
                      <a:solidFill>
                        <a:srgbClr val="D9E2E9"/>
                      </a:solidFill>
                      <a:prstDash val="solid"/>
                    </a:lnR>
                    <a:lnB w="9525">
                      <a:solidFill>
                        <a:srgbClr val="D9E2E9"/>
                      </a:solidFill>
                      <a:prstDash val="solid"/>
                    </a:lnB>
                    <a:solidFill>
                      <a:srgbClr val="FFFFFF"/>
                    </a:solidFill>
                  </a:tcPr>
                </a:tc>
              </a:tr>
              <a:tr h="630238">
                <a:tc>
                  <a:txBody>
                    <a:bodyPr/>
                    <a:lstStyle/>
                    <a:p>
                      <a:r>
                        <a:rPr sz="1800" b="0">
                          <a:solidFill>
                            <a:srgbClr val="172B3D"/>
                          </a:solidFill>
                          <a:latin typeface="Arial"/>
                          <a:ea typeface="Arial"/>
                          <a:cs typeface="Arial"/>
                        </a:rPr>
                        <a:t>Split</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Apply transaction eligibility and the four-year window</a:t>
                      </a:r>
                    </a:p>
                  </a:txBody>
                  <a:tcPr marL="91440" marR="91440" marT="45720" marB="45720">
                    <a:lnR w="9525">
                      <a:solidFill>
                        <a:srgbClr val="D9E2E9"/>
                      </a:solidFill>
                      <a:prstDash val="solid"/>
                    </a:lnR>
                    <a:lnB w="9525">
                      <a:solidFill>
                        <a:srgbClr val="D9E2E9"/>
                      </a:solidFill>
                      <a:prstDash val="solid"/>
                    </a:lnB>
                    <a:solidFill>
                      <a:srgbClr val="EAF0F4"/>
                    </a:solidFill>
                  </a:tcPr>
                </a:tc>
              </a:tr>
              <a:tr h="630238">
                <a:tc>
                  <a:txBody>
                    <a:bodyPr/>
                    <a:lstStyle/>
                    <a:p>
                      <a:r>
                        <a:rPr sz="1800" b="0">
                          <a:solidFill>
                            <a:srgbClr val="172B3D"/>
                          </a:solidFill>
                          <a:latin typeface="Arial"/>
                          <a:ea typeface="Arial"/>
                          <a:cs typeface="Arial"/>
                        </a:rPr>
                        <a:t>Stay</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Group related bills and verify merge calculations</a:t>
                      </a:r>
                    </a:p>
                  </a:txBody>
                  <a:tcPr marL="91440" marR="91440" marT="45720" marB="45720">
                    <a:lnR w="9525">
                      <a:solidFill>
                        <a:srgbClr val="D9E2E9"/>
                      </a:solidFill>
                      <a:prstDash val="solid"/>
                    </a:lnR>
                    <a:lnB w="9525">
                      <a:solidFill>
                        <a:srgbClr val="D9E2E9"/>
                      </a:solidFill>
                      <a:prstDash val="solid"/>
                    </a:lnB>
                    <a:solidFill>
                      <a:srgbClr val="FFFFFF"/>
                    </a:solidFill>
                  </a:tcPr>
                </a:tc>
              </a:tr>
              <a:tr h="630238">
                <a:tc>
                  <a:txBody>
                    <a:bodyPr/>
                    <a:lstStyle/>
                    <a:p>
                      <a:r>
                        <a:rPr sz="1800" b="0">
                          <a:solidFill>
                            <a:srgbClr val="172B3D"/>
                          </a:solidFill>
                          <a:latin typeface="Arial"/>
                          <a:ea typeface="Arial"/>
                          <a:cs typeface="Arial"/>
                        </a:rPr>
                        <a:t>Intermediate</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Validate derived fields and documented calculations</a:t>
                      </a:r>
                    </a:p>
                  </a:txBody>
                  <a:tcPr marL="91440" marR="91440" marT="45720" marB="45720">
                    <a:lnR w="9525">
                      <a:solidFill>
                        <a:srgbClr val="D9E2E9"/>
                      </a:solidFill>
                      <a:prstDash val="solid"/>
                    </a:lnR>
                    <a:lnB w="9525">
                      <a:solidFill>
                        <a:srgbClr val="D9E2E9"/>
                      </a:solidFill>
                      <a:prstDash val="solid"/>
                    </a:lnB>
                    <a:solidFill>
                      <a:srgbClr val="EAF0F4"/>
                    </a:solidFill>
                  </a:tcPr>
                </a:tc>
              </a:tr>
              <a:tr h="630238">
                <a:tc>
                  <a:txBody>
                    <a:bodyPr/>
                    <a:lstStyle/>
                    <a:p>
                      <a:r>
                        <a:rPr sz="1800" b="0">
                          <a:solidFill>
                            <a:srgbClr val="172B3D"/>
                          </a:solidFill>
                          <a:latin typeface="Arial"/>
                          <a:ea typeface="Arial"/>
                          <a:cs typeface="Arial"/>
                        </a:rPr>
                        <a:t>Final MEDPAR</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Validate classification, configured layout and export readiness</a:t>
                      </a:r>
                    </a:p>
                  </a:txBody>
                  <a:tcPr marL="91440" marR="91440" marT="45720" marB="45720">
                    <a:lnR w="9525">
                      <a:solidFill>
                        <a:srgbClr val="D9E2E9"/>
                      </a:solidFill>
                      <a:prstDash val="solid"/>
                    </a:lnR>
                    <a:lnB w="9525">
                      <a:solidFill>
                        <a:srgbClr val="D9E2E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814C698-E586-4F2D-BC13-1EE33AF4070A}"/>
              </a:ext>
            </a:extLst>
          </p:cNvPr>
          <p:cNvSpPr>
            <a:spLocks xmlns:a="http://schemas.openxmlformats.org/drawingml/2006/main" noGrp="1"/>
          </p:cNvSpPr>
          <p:nvPr/>
        </p:nvSpPr>
        <p:spPr>
          <a:xfrm xmlns:a="http://schemas.openxmlformats.org/drawingml/2006/main">
            <a:off x="609600" y="57245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2"/>
                </a:solidFill>
                <a:latin typeface="Arial"/>
                <a:ea typeface="Arial"/>
                <a:cs typeface="Arial"/>
              </a:defRPr>
            </a:defPPr>
          </a:lstStyle>
          <a:p xmlns:a="http://schemas.openxmlformats.org/drawingml/2006/main">
            <a:pPr>
              <a:buNone/>
              <a:defRPr sz="2100" b="1">
                <a:solidFill>
                  <a:srgbClr val="087F82"/>
                </a:solidFill>
                <a:latin typeface="Arial"/>
                <a:ea typeface="Arial"/>
                <a:cs typeface="Arial"/>
              </a:defRPr>
            </a:pPr>
            <a:r>
              <a:rPr sz="2100" b="1">
                <a:solidFill>
                  <a:srgbClr val="087F82"/>
                </a:solidFill>
                <a:latin typeface="Arial"/>
                <a:ea typeface="Arial"/>
                <a:cs typeface="Arial"/>
              </a:rPr>
              <a:t>A run can begin at any stage. Retained records continue from that point.</a:t>
            </a:r>
          </a:p>
        </p:txBody>
      </p:sp>
    </p:spTree>
    <p:extLst>
      <p:ext uri="{BB962C8B-B14F-4D97-AF65-F5344CB8AC3E}">
        <p14:creationId xmlns:p14="http://schemas.microsoft.com/office/powerpoint/2010/main" val="417929330"/>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DC2B335-262C-4983-B4FC-EE85434E183D}"/>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buNone/>
              <a:defRPr sz="3300" b="1">
                <a:solidFill>
                  <a:srgbClr val="142C42"/>
                </a:solidFill>
                <a:latin typeface="Arial"/>
                <a:ea typeface="Arial"/>
                <a:cs typeface="Arial"/>
              </a:defRPr>
            </a:pPr>
            <a:r>
              <a:rPr sz="3300" b="1">
                <a:solidFill>
                  <a:srgbClr val="142C42"/>
                </a:solidFill>
                <a:latin typeface="Arial"/>
                <a:ea typeface="Arial"/>
                <a:cs typeface="Arial"/>
              </a:rPr>
              <a:t>Architecture and regression responsibilities</a:t>
            </a:r>
          </a:p>
        </p:txBody>
      </p:sp>
      <p:sp>
        <p:nvSpPr>
          <p:cNvPr id="2" name="">
            <a:extLst xmlns:a="http://schemas.openxmlformats.org/drawingml/2006/main">
              <a:ext uri="{FF2B5EF4-FFF2-40B4-BE49-F238E27FC236}">
                <a16:creationId xmlns:a16="http://schemas.microsoft.com/office/drawing/2014/main" id="{86B7BD59-6BAB-495E-BBB7-01BE6C08CD7F}"/>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buNone/>
              <a:defRPr sz="1200" b="0">
                <a:solidFill>
                  <a:srgbClr val="516679"/>
                </a:solidFill>
                <a:latin typeface="Arial"/>
                <a:ea typeface="Arial"/>
                <a:cs typeface="Arial"/>
              </a:defRPr>
            </a:pPr>
            <a:r>
              <a:rPr sz="1200" b="0">
                <a:solidFill>
                  <a:srgbClr val="516679"/>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BE5968A-30A1-4463-8E72-3B0B6E1C91C8}"/>
              </a:ext>
            </a:extLst>
          </p:cNvPr>
          <p:cNvSpPr>
            <a:spLocks xmlns:a="http://schemas.openxmlformats.org/drawingml/2006/main" noGrp="1"/>
          </p:cNvSpPr>
          <p:nvPr/>
        </p:nvSpPr>
        <p:spPr>
          <a:xfrm xmlns:a="http://schemas.openxmlformats.org/drawingml/2006/main">
            <a:off x="609600" y="1809750"/>
            <a:ext cx="2057400" cy="1428750"/>
          </a:xfrm>
          <a:prstGeom xmlns:a="http://schemas.openxmlformats.org/drawingml/2006/main" prst="rect">
            <a:avLst/>
          </a:prstGeom>
          <a:solidFill xmlns:a="http://schemas.openxmlformats.org/drawingml/2006/main">
            <a:srgbClr val="142C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CC935E-1AE3-4B07-8267-05F3DC53B5C7}"/>
              </a:ext>
            </a:extLst>
          </p:cNvPr>
          <p:cNvSpPr>
            <a:spLocks xmlns:a="http://schemas.openxmlformats.org/drawingml/2006/main" noGrp="1"/>
          </p:cNvSpPr>
          <p:nvPr/>
        </p:nvSpPr>
        <p:spPr>
          <a:xfrm xmlns:a="http://schemas.openxmlformats.org/drawingml/2006/main">
            <a:off x="733425" y="20097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FFFFF"/>
                </a:solidFill>
                <a:latin typeface="Arial"/>
                <a:ea typeface="Arial"/>
                <a:cs typeface="Arial"/>
              </a:defRPr>
            </a:defPPr>
          </a:lstStyle>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Configuration</a:t>
            </a:r>
          </a:p>
        </p:txBody>
      </p:sp>
      <p:sp>
        <p:nvSpPr>
          <p:cNvPr id="5" name="">
            <a:extLst xmlns:a="http://schemas.openxmlformats.org/drawingml/2006/main">
              <a:ext uri="{FF2B5EF4-FFF2-40B4-BE49-F238E27FC236}">
                <a16:creationId xmlns:a16="http://schemas.microsoft.com/office/drawing/2014/main" id="{A367CAE5-B22E-4A9F-B3DB-170F5E6805C8}"/>
              </a:ext>
            </a:extLst>
          </p:cNvPr>
          <p:cNvSpPr>
            <a:spLocks xmlns:a="http://schemas.openxmlformats.org/drawingml/2006/main" noGrp="1"/>
          </p:cNvSpPr>
          <p:nvPr/>
        </p:nvSpPr>
        <p:spPr>
          <a:xfrm xmlns:a="http://schemas.openxmlformats.org/drawingml/2006/main">
            <a:off x="733425" y="261937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stStyle>
          <a:p xmlns:a="http://schemas.openxmlformats.org/drawingml/2006/main">
            <a:pPr>
              <a:buNone/>
              <a:defRPr sz="1350" b="0">
                <a:solidFill>
                  <a:srgbClr val="FFFFFF"/>
                </a:solidFill>
                <a:latin typeface="Arial"/>
                <a:ea typeface="Arial"/>
                <a:cs typeface="Arial"/>
              </a:defRPr>
            </a:pPr>
            <a:r>
              <a:rPr sz="1350" b="0">
                <a:solidFill>
                  <a:srgbClr val="FFFFFF"/>
                </a:solidFill>
                <a:latin typeface="Arial"/>
                <a:ea typeface="Arial"/>
                <a:cs typeface="Arial"/>
              </a:rPr>
              <a:t>run_commands.py</a:t>
            </a:r>
          </a:p>
        </p:txBody>
      </p:sp>
      <p:sp>
        <p:nvSpPr>
          <p:cNvPr id="6" name="">
            <a:extLst xmlns:a="http://schemas.openxmlformats.org/drawingml/2006/main">
              <a:ext uri="{FF2B5EF4-FFF2-40B4-BE49-F238E27FC236}">
                <a16:creationId xmlns:a16="http://schemas.microsoft.com/office/drawing/2014/main" id="{513066F4-000B-4E18-91A9-F9F88492561B}"/>
              </a:ext>
            </a:extLst>
          </p:cNvPr>
          <p:cNvSpPr>
            <a:spLocks xmlns:a="http://schemas.openxmlformats.org/drawingml/2006/main" noGrp="1"/>
          </p:cNvSpPr>
          <p:nvPr/>
        </p:nvSpPr>
        <p:spPr>
          <a:xfrm xmlns:a="http://schemas.openxmlformats.org/drawingml/2006/main">
            <a:off x="2667000" y="2238375"/>
            <a:ext cx="171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2"/>
                </a:solidFill>
                <a:latin typeface="Arial"/>
                <a:ea typeface="Arial"/>
                <a:cs typeface="Arial"/>
              </a:defRPr>
            </a:defPPr>
          </a:lstStyle>
          <a:p xmlns:a="http://schemas.openxmlformats.org/drawingml/2006/main">
            <a:pPr>
              <a:buNone/>
              <a:defRPr sz="2025" b="1">
                <a:solidFill>
                  <a:srgbClr val="087F82"/>
                </a:solidFill>
                <a:latin typeface="Arial"/>
                <a:ea typeface="Arial"/>
                <a:cs typeface="Arial"/>
              </a:defRPr>
            </a:pPr>
            <a:r>
              <a:rPr sz="2025" b="1">
                <a:solidFill>
                  <a:srgbClr val="087F82"/>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F8A778A2-6C4F-4B25-8136-340FD702E0E3}"/>
              </a:ext>
            </a:extLst>
          </p:cNvPr>
          <p:cNvSpPr>
            <a:spLocks xmlns:a="http://schemas.openxmlformats.org/drawingml/2006/main" noGrp="1"/>
          </p:cNvSpPr>
          <p:nvPr/>
        </p:nvSpPr>
        <p:spPr>
          <a:xfrm xmlns:a="http://schemas.openxmlformats.org/drawingml/2006/main">
            <a:off x="2838450" y="1809750"/>
            <a:ext cx="2057400" cy="1428750"/>
          </a:xfrm>
          <a:prstGeom xmlns:a="http://schemas.openxmlformats.org/drawingml/2006/main" prst="rect">
            <a:avLst/>
          </a:prstGeom>
          <a:solidFill xmlns:a="http://schemas.openxmlformats.org/drawingml/2006/main">
            <a:srgbClr val="142C4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1AB07B7-5035-4748-8735-AA15B4E6D1FC}"/>
              </a:ext>
            </a:extLst>
          </p:cNvPr>
          <p:cNvSpPr>
            <a:spLocks xmlns:a="http://schemas.openxmlformats.org/drawingml/2006/main" noGrp="1"/>
          </p:cNvSpPr>
          <p:nvPr/>
        </p:nvSpPr>
        <p:spPr>
          <a:xfrm xmlns:a="http://schemas.openxmlformats.org/drawingml/2006/main">
            <a:off x="2962275" y="20097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FFFFF"/>
                </a:solidFill>
                <a:latin typeface="Arial"/>
                <a:ea typeface="Arial"/>
                <a:cs typeface="Arial"/>
              </a:defRPr>
            </a:defPPr>
          </a:lstStyle>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Input reading</a:t>
            </a:r>
          </a:p>
        </p:txBody>
      </p:sp>
      <p:sp>
        <p:nvSpPr>
          <p:cNvPr id="9" name="">
            <a:extLst xmlns:a="http://schemas.openxmlformats.org/drawingml/2006/main">
              <a:ext uri="{FF2B5EF4-FFF2-40B4-BE49-F238E27FC236}">
                <a16:creationId xmlns:a16="http://schemas.microsoft.com/office/drawing/2014/main" id="{592EC18B-FA73-4956-9B4C-493E5A444918}"/>
              </a:ext>
            </a:extLst>
          </p:cNvPr>
          <p:cNvSpPr>
            <a:spLocks xmlns:a="http://schemas.openxmlformats.org/drawingml/2006/main" noGrp="1"/>
          </p:cNvSpPr>
          <p:nvPr/>
        </p:nvSpPr>
        <p:spPr>
          <a:xfrm xmlns:a="http://schemas.openxmlformats.org/drawingml/2006/main">
            <a:off x="2962275" y="261937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stStyle>
          <a:p xmlns:a="http://schemas.openxmlformats.org/drawingml/2006/main">
            <a:pPr>
              <a:buNone/>
              <a:defRPr sz="1350" b="0">
                <a:solidFill>
                  <a:srgbClr val="FFFFFF"/>
                </a:solidFill>
                <a:latin typeface="Arial"/>
                <a:ea typeface="Arial"/>
                <a:cs typeface="Arial"/>
              </a:defRPr>
            </a:pPr>
            <a:r>
              <a:rPr sz="1350" b="0">
                <a:solidFill>
                  <a:srgbClr val="FFFFFF"/>
                </a:solidFill>
                <a:latin typeface="Arial"/>
                <a:ea typeface="Arial"/>
                <a:cs typeface="Arial"/>
              </a:rPr>
              <a:t>ingestion / normalization</a:t>
            </a:r>
          </a:p>
        </p:txBody>
      </p:sp>
      <p:sp>
        <p:nvSpPr>
          <p:cNvPr id="10" name="">
            <a:extLst xmlns:a="http://schemas.openxmlformats.org/drawingml/2006/main">
              <a:ext uri="{FF2B5EF4-FFF2-40B4-BE49-F238E27FC236}">
                <a16:creationId xmlns:a16="http://schemas.microsoft.com/office/drawing/2014/main" id="{8E242376-1031-4915-A8C6-EFCAFB1349C8}"/>
              </a:ext>
            </a:extLst>
          </p:cNvPr>
          <p:cNvSpPr>
            <a:spLocks xmlns:a="http://schemas.openxmlformats.org/drawingml/2006/main" noGrp="1"/>
          </p:cNvSpPr>
          <p:nvPr/>
        </p:nvSpPr>
        <p:spPr>
          <a:xfrm xmlns:a="http://schemas.openxmlformats.org/drawingml/2006/main">
            <a:off x="4895850" y="2238375"/>
            <a:ext cx="171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2"/>
                </a:solidFill>
                <a:latin typeface="Arial"/>
                <a:ea typeface="Arial"/>
                <a:cs typeface="Arial"/>
              </a:defRPr>
            </a:defPPr>
          </a:lstStyle>
          <a:p xmlns:a="http://schemas.openxmlformats.org/drawingml/2006/main">
            <a:pPr>
              <a:buNone/>
              <a:defRPr sz="2025" b="1">
                <a:solidFill>
                  <a:srgbClr val="087F82"/>
                </a:solidFill>
                <a:latin typeface="Arial"/>
                <a:ea typeface="Arial"/>
                <a:cs typeface="Arial"/>
              </a:defRPr>
            </a:pPr>
            <a:r>
              <a:rPr sz="2025" b="1">
                <a:solidFill>
                  <a:srgbClr val="087F82"/>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EE6E41D1-25D4-400A-A59B-2B9C974CC88E}"/>
              </a:ext>
            </a:extLst>
          </p:cNvPr>
          <p:cNvSpPr>
            <a:spLocks xmlns:a="http://schemas.openxmlformats.org/drawingml/2006/main" noGrp="1"/>
          </p:cNvSpPr>
          <p:nvPr/>
        </p:nvSpPr>
        <p:spPr>
          <a:xfrm xmlns:a="http://schemas.openxmlformats.org/drawingml/2006/main">
            <a:off x="5067300" y="1809750"/>
            <a:ext cx="2057400" cy="1428750"/>
          </a:xfrm>
          <a:prstGeom xmlns:a="http://schemas.openxmlformats.org/drawingml/2006/main" prst="rect">
            <a:avLst/>
          </a:prstGeom>
          <a:solidFill xmlns:a="http://schemas.openxmlformats.org/drawingml/2006/main">
            <a:srgbClr val="087F8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C6A4BE2-1702-47BD-B1B6-5118070F1410}"/>
              </a:ext>
            </a:extLst>
          </p:cNvPr>
          <p:cNvSpPr>
            <a:spLocks xmlns:a="http://schemas.openxmlformats.org/drawingml/2006/main" noGrp="1"/>
          </p:cNvSpPr>
          <p:nvPr/>
        </p:nvSpPr>
        <p:spPr>
          <a:xfrm xmlns:a="http://schemas.openxmlformats.org/drawingml/2006/main">
            <a:off x="5191125" y="20097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FFFFF"/>
                </a:solidFill>
                <a:latin typeface="Arial"/>
                <a:ea typeface="Arial"/>
                <a:cs typeface="Arial"/>
              </a:defRPr>
            </a:defPPr>
          </a:lstStyle>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Processing</a:t>
            </a:r>
          </a:p>
        </p:txBody>
      </p:sp>
      <p:sp>
        <p:nvSpPr>
          <p:cNvPr id="13" name="">
            <a:extLst xmlns:a="http://schemas.openxmlformats.org/drawingml/2006/main">
              <a:ext uri="{FF2B5EF4-FFF2-40B4-BE49-F238E27FC236}">
                <a16:creationId xmlns:a16="http://schemas.microsoft.com/office/drawing/2014/main" id="{B8ECDECE-2035-4203-9CF8-6ACA4F10460E}"/>
              </a:ext>
            </a:extLst>
          </p:cNvPr>
          <p:cNvSpPr>
            <a:spLocks xmlns:a="http://schemas.openxmlformats.org/drawingml/2006/main" noGrp="1"/>
          </p:cNvSpPr>
          <p:nvPr/>
        </p:nvSpPr>
        <p:spPr>
          <a:xfrm xmlns:a="http://schemas.openxmlformats.org/drawingml/2006/main">
            <a:off x="5191125" y="261937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stStyle>
          <a:p xmlns:a="http://schemas.openxmlformats.org/drawingml/2006/main">
            <a:pPr>
              <a:buNone/>
              <a:defRPr sz="1350" b="0">
                <a:solidFill>
                  <a:srgbClr val="FFFFFF"/>
                </a:solidFill>
                <a:latin typeface="Arial"/>
                <a:ea typeface="Arial"/>
                <a:cs typeface="Arial"/>
              </a:defRPr>
            </a:pPr>
            <a:r>
              <a:rPr sz="1350" b="0">
                <a:solidFill>
                  <a:srgbClr val="FFFFFF"/>
                </a:solidFill>
                <a:latin typeface="Arial"/>
                <a:ea typeface="Arial"/>
                <a:cs typeface="Arial"/>
              </a:rPr>
              <a:t>orchestration / processors</a:t>
            </a:r>
          </a:p>
        </p:txBody>
      </p:sp>
      <p:sp>
        <p:nvSpPr>
          <p:cNvPr id="14" name="">
            <a:extLst xmlns:a="http://schemas.openxmlformats.org/drawingml/2006/main">
              <a:ext uri="{FF2B5EF4-FFF2-40B4-BE49-F238E27FC236}">
                <a16:creationId xmlns:a16="http://schemas.microsoft.com/office/drawing/2014/main" id="{586F6091-99C3-402D-9042-2DC70584B318}"/>
              </a:ext>
            </a:extLst>
          </p:cNvPr>
          <p:cNvSpPr>
            <a:spLocks xmlns:a="http://schemas.openxmlformats.org/drawingml/2006/main" noGrp="1"/>
          </p:cNvSpPr>
          <p:nvPr/>
        </p:nvSpPr>
        <p:spPr>
          <a:xfrm xmlns:a="http://schemas.openxmlformats.org/drawingml/2006/main">
            <a:off x="7124700" y="2238375"/>
            <a:ext cx="171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2"/>
                </a:solidFill>
                <a:latin typeface="Arial"/>
                <a:ea typeface="Arial"/>
                <a:cs typeface="Arial"/>
              </a:defRPr>
            </a:defPPr>
          </a:lstStyle>
          <a:p xmlns:a="http://schemas.openxmlformats.org/drawingml/2006/main">
            <a:pPr>
              <a:buNone/>
              <a:defRPr sz="2025" b="1">
                <a:solidFill>
                  <a:srgbClr val="087F82"/>
                </a:solidFill>
                <a:latin typeface="Arial"/>
                <a:ea typeface="Arial"/>
                <a:cs typeface="Arial"/>
              </a:defRPr>
            </a:pPr>
            <a:r>
              <a:rPr sz="2025" b="1">
                <a:solidFill>
                  <a:srgbClr val="087F8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F759E2EE-EAB5-455E-AA84-CFBDE74BC425}"/>
              </a:ext>
            </a:extLst>
          </p:cNvPr>
          <p:cNvSpPr>
            <a:spLocks xmlns:a="http://schemas.openxmlformats.org/drawingml/2006/main" noGrp="1"/>
          </p:cNvSpPr>
          <p:nvPr/>
        </p:nvSpPr>
        <p:spPr>
          <a:xfrm xmlns:a="http://schemas.openxmlformats.org/drawingml/2006/main">
            <a:off x="7296150" y="1809750"/>
            <a:ext cx="2057400" cy="1428750"/>
          </a:xfrm>
          <a:prstGeom xmlns:a="http://schemas.openxmlformats.org/drawingml/2006/main" prst="rect">
            <a:avLst/>
          </a:prstGeom>
          <a:solidFill xmlns:a="http://schemas.openxmlformats.org/drawingml/2006/main">
            <a:srgbClr val="142C4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34D8594-3707-4856-9582-4930DB5D2F9E}"/>
              </a:ext>
            </a:extLst>
          </p:cNvPr>
          <p:cNvSpPr>
            <a:spLocks xmlns:a="http://schemas.openxmlformats.org/drawingml/2006/main" noGrp="1"/>
          </p:cNvSpPr>
          <p:nvPr/>
        </p:nvSpPr>
        <p:spPr>
          <a:xfrm xmlns:a="http://schemas.openxmlformats.org/drawingml/2006/main">
            <a:off x="7419975" y="20097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FFFFF"/>
                </a:solidFill>
                <a:latin typeface="Arial"/>
                <a:ea typeface="Arial"/>
                <a:cs typeface="Arial"/>
              </a:defRPr>
            </a:defPPr>
          </a:lstStyle>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Validation</a:t>
            </a:r>
          </a:p>
        </p:txBody>
      </p:sp>
      <p:sp>
        <p:nvSpPr>
          <p:cNvPr id="17" name="">
            <a:extLst xmlns:a="http://schemas.openxmlformats.org/drawingml/2006/main">
              <a:ext uri="{FF2B5EF4-FFF2-40B4-BE49-F238E27FC236}">
                <a16:creationId xmlns:a16="http://schemas.microsoft.com/office/drawing/2014/main" id="{99CADB50-8230-45CE-B38A-020498802E7E}"/>
              </a:ext>
            </a:extLst>
          </p:cNvPr>
          <p:cNvSpPr>
            <a:spLocks xmlns:a="http://schemas.openxmlformats.org/drawingml/2006/main" noGrp="1"/>
          </p:cNvSpPr>
          <p:nvPr/>
        </p:nvSpPr>
        <p:spPr>
          <a:xfrm xmlns:a="http://schemas.openxmlformats.org/drawingml/2006/main">
            <a:off x="7419975" y="261937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stStyle>
          <a:p xmlns:a="http://schemas.openxmlformats.org/drawingml/2006/main">
            <a:pPr>
              <a:buNone/>
              <a:defRPr sz="1350" b="0">
                <a:solidFill>
                  <a:srgbClr val="FFFFFF"/>
                </a:solidFill>
                <a:latin typeface="Arial"/>
                <a:ea typeface="Arial"/>
                <a:cs typeface="Arial"/>
              </a:defRPr>
            </a:pPr>
            <a:r>
              <a:rPr sz="1350" b="0">
                <a:solidFill>
                  <a:srgbClr val="FFFFFF"/>
                </a:solidFill>
                <a:latin typeface="Arial"/>
                <a:ea typeface="Arial"/>
                <a:cs typeface="Arial"/>
              </a:rPr>
              <a:t>stages / comparison</a:t>
            </a:r>
          </a:p>
        </p:txBody>
      </p:sp>
      <p:sp>
        <p:nvSpPr>
          <p:cNvPr id="18" name="">
            <a:extLst xmlns:a="http://schemas.openxmlformats.org/drawingml/2006/main">
              <a:ext uri="{FF2B5EF4-FFF2-40B4-BE49-F238E27FC236}">
                <a16:creationId xmlns:a16="http://schemas.microsoft.com/office/drawing/2014/main" id="{015B32C4-0A14-43A5-B503-FEF72B8BA23A}"/>
              </a:ext>
            </a:extLst>
          </p:cNvPr>
          <p:cNvSpPr>
            <a:spLocks xmlns:a="http://schemas.openxmlformats.org/drawingml/2006/main" noGrp="1"/>
          </p:cNvSpPr>
          <p:nvPr/>
        </p:nvSpPr>
        <p:spPr>
          <a:xfrm xmlns:a="http://schemas.openxmlformats.org/drawingml/2006/main">
            <a:off x="9353550" y="2238375"/>
            <a:ext cx="171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2"/>
                </a:solidFill>
                <a:latin typeface="Arial"/>
                <a:ea typeface="Arial"/>
                <a:cs typeface="Arial"/>
              </a:defRPr>
            </a:defPPr>
          </a:lstStyle>
          <a:p xmlns:a="http://schemas.openxmlformats.org/drawingml/2006/main">
            <a:pPr>
              <a:buNone/>
              <a:defRPr sz="2025" b="1">
                <a:solidFill>
                  <a:srgbClr val="087F82"/>
                </a:solidFill>
                <a:latin typeface="Arial"/>
                <a:ea typeface="Arial"/>
                <a:cs typeface="Arial"/>
              </a:defRPr>
            </a:pPr>
            <a:r>
              <a:rPr sz="2025" b="1">
                <a:solidFill>
                  <a:srgbClr val="087F82"/>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FF1DC02F-DF69-4600-A5BA-5E5588780701}"/>
              </a:ext>
            </a:extLst>
          </p:cNvPr>
          <p:cNvSpPr>
            <a:spLocks xmlns:a="http://schemas.openxmlformats.org/drawingml/2006/main" noGrp="1"/>
          </p:cNvSpPr>
          <p:nvPr/>
        </p:nvSpPr>
        <p:spPr>
          <a:xfrm xmlns:a="http://schemas.openxmlformats.org/drawingml/2006/main">
            <a:off x="9525000" y="1809750"/>
            <a:ext cx="2057400" cy="1428750"/>
          </a:xfrm>
          <a:prstGeom xmlns:a="http://schemas.openxmlformats.org/drawingml/2006/main" prst="rect">
            <a:avLst/>
          </a:prstGeom>
          <a:solidFill xmlns:a="http://schemas.openxmlformats.org/drawingml/2006/main">
            <a:srgbClr val="142C4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AF0915C-AC78-4AAB-8588-97F73FA7F007}"/>
              </a:ext>
            </a:extLst>
          </p:cNvPr>
          <p:cNvSpPr>
            <a:spLocks xmlns:a="http://schemas.openxmlformats.org/drawingml/2006/main" noGrp="1"/>
          </p:cNvSpPr>
          <p:nvPr/>
        </p:nvSpPr>
        <p:spPr>
          <a:xfrm xmlns:a="http://schemas.openxmlformats.org/drawingml/2006/main">
            <a:off x="9648825" y="20097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FFFFF"/>
                </a:solidFill>
                <a:latin typeface="Arial"/>
                <a:ea typeface="Arial"/>
                <a:cs typeface="Arial"/>
              </a:defRPr>
            </a:defPPr>
          </a:lstStyle>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Reporting</a:t>
            </a:r>
          </a:p>
        </p:txBody>
      </p:sp>
      <p:sp>
        <p:nvSpPr>
          <p:cNvPr id="21" name="">
            <a:extLst xmlns:a="http://schemas.openxmlformats.org/drawingml/2006/main">
              <a:ext uri="{FF2B5EF4-FFF2-40B4-BE49-F238E27FC236}">
                <a16:creationId xmlns:a16="http://schemas.microsoft.com/office/drawing/2014/main" id="{268699DF-9048-458B-BBC9-341107C684F1}"/>
              </a:ext>
            </a:extLst>
          </p:cNvPr>
          <p:cNvSpPr>
            <a:spLocks xmlns:a="http://schemas.openxmlformats.org/drawingml/2006/main" noGrp="1"/>
          </p:cNvSpPr>
          <p:nvPr/>
        </p:nvSpPr>
        <p:spPr>
          <a:xfrm xmlns:a="http://schemas.openxmlformats.org/drawingml/2006/main">
            <a:off x="9648825" y="261937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stStyle>
          <a:p xmlns:a="http://schemas.openxmlformats.org/drawingml/2006/main">
            <a:pPr>
              <a:buNone/>
              <a:defRPr sz="1350" b="0">
                <a:solidFill>
                  <a:srgbClr val="FFFFFF"/>
                </a:solidFill>
                <a:latin typeface="Arial"/>
                <a:ea typeface="Arial"/>
                <a:cs typeface="Arial"/>
              </a:defRPr>
            </a:pPr>
            <a:r>
              <a:rPr sz="1350" b="0">
                <a:solidFill>
                  <a:srgbClr val="FFFFFF"/>
                </a:solidFill>
                <a:latin typeface="Arial"/>
                <a:ea typeface="Arial"/>
                <a:cs typeface="Arial"/>
              </a:rPr>
              <a:t>reporting</a:t>
            </a:r>
          </a:p>
        </p:txBody>
      </p:sp>
      <p:sp>
        <p:nvSpPr>
          <p:cNvPr id="22" name="">
            <a:extLst xmlns:a="http://schemas.openxmlformats.org/drawingml/2006/main">
              <a:ext uri="{FF2B5EF4-FFF2-40B4-BE49-F238E27FC236}">
                <a16:creationId xmlns:a16="http://schemas.microsoft.com/office/drawing/2014/main" id="{92822B06-9633-4F7A-9E47-80B4CBC422B2}"/>
              </a:ext>
            </a:extLst>
          </p:cNvPr>
          <p:cNvSpPr>
            <a:spLocks xmlns:a="http://schemas.openxmlformats.org/drawingml/2006/main" noGrp="1"/>
          </p:cNvSpPr>
          <p:nvPr/>
        </p:nvSpPr>
        <p:spPr>
          <a:xfrm xmlns:a="http://schemas.openxmlformats.org/drawingml/2006/main">
            <a:off x="609600" y="35623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2C42"/>
                </a:solidFill>
                <a:latin typeface="Arial"/>
                <a:ea typeface="Arial"/>
                <a:cs typeface="Arial"/>
              </a:defRPr>
            </a:defPPr>
          </a:lstStyle>
          <a:p xmlns:a="http://schemas.openxmlformats.org/drawingml/2006/main">
            <a:pPr>
              <a:buNone/>
              <a:defRPr sz="2400" b="1">
                <a:solidFill>
                  <a:srgbClr val="142C42"/>
                </a:solidFill>
                <a:latin typeface="Arial"/>
                <a:ea typeface="Arial"/>
                <a:cs typeface="Arial"/>
              </a:defRPr>
            </a:pPr>
            <a:r>
              <a:rPr sz="2400" b="1">
                <a:solidFill>
                  <a:srgbClr val="142C42"/>
                </a:solidFill>
                <a:latin typeface="Arial"/>
                <a:ea typeface="Arial"/>
                <a:cs typeface="Arial"/>
              </a:rPr>
              <a:t>A regression developer protects both rules and the execution around them.</a:t>
            </a:r>
          </a:p>
        </p:txBody>
      </p:sp>
      <p:sp>
        <p:nvSpPr>
          <p:cNvPr id="23" name="">
            <a:extLst xmlns:a="http://schemas.openxmlformats.org/drawingml/2006/main">
              <a:ext uri="{FF2B5EF4-FFF2-40B4-BE49-F238E27FC236}">
                <a16:creationId xmlns:a16="http://schemas.microsoft.com/office/drawing/2014/main" id="{FB7B1D62-7045-4A8C-A885-6BFC22765A7C}"/>
              </a:ext>
            </a:extLst>
          </p:cNvPr>
          <p:cNvSpPr>
            <a:spLocks xmlns:a="http://schemas.openxmlformats.org/drawingml/2006/main" noGrp="1"/>
          </p:cNvSpPr>
          <p:nvPr/>
        </p:nvSpPr>
        <p:spPr>
          <a:xfrm xmlns:a="http://schemas.openxmlformats.org/drawingml/2006/main">
            <a:off x="609600" y="4533900"/>
            <a:ext cx="1038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16679"/>
                </a:solidFill>
                <a:latin typeface="Arial"/>
                <a:ea typeface="Arial"/>
                <a:cs typeface="Arial"/>
              </a:defRPr>
            </a:defPPr>
          </a:lstStyle>
          <a:p xmlns:a="http://schemas.openxmlformats.org/drawingml/2006/main">
            <a:pPr>
              <a:buNone/>
              <a:defRPr sz="2100" b="0">
                <a:solidFill>
                  <a:srgbClr val="516679"/>
                </a:solidFill>
                <a:latin typeface="Arial"/>
                <a:ea typeface="Arial"/>
                <a:cs typeface="Arial"/>
              </a:defRPr>
            </a:pPr>
            <a:r>
              <a:rPr sz="2100" b="0">
                <a:solidFill>
                  <a:srgbClr val="516679"/>
                </a:solidFill>
                <a:latin typeface="Arial"/>
                <a:ea typeface="Arial"/>
                <a:cs typeface="Arial"/>
              </a:rPr>
              <a:t>Focused fixtures prove rule branches. Integration tests cover readers, source provenance, stage handoffs and reference reconciliation.</a:t>
            </a:r>
          </a:p>
        </p:txBody>
      </p:sp>
    </p:spTree>
    <p:extLst>
      <p:ext uri="{BB962C8B-B14F-4D97-AF65-F5344CB8AC3E}">
        <p14:creationId xmlns:p14="http://schemas.microsoft.com/office/powerpoint/2010/main" val="600821788"/>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65A448-615F-435A-85D3-CC286D81AB80}"/>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buNone/>
              <a:defRPr sz="3300" b="1">
                <a:solidFill>
                  <a:srgbClr val="142C42"/>
                </a:solidFill>
                <a:latin typeface="Arial"/>
                <a:ea typeface="Arial"/>
                <a:cs typeface="Arial"/>
              </a:defRPr>
            </a:pPr>
            <a:r>
              <a:rPr sz="3300" b="1">
                <a:solidFill>
                  <a:srgbClr val="142C42"/>
                </a:solidFill>
                <a:latin typeface="Arial"/>
                <a:ea typeface="Arial"/>
                <a:cs typeface="Arial"/>
              </a:rPr>
              <a:t>Record processing and scale</a:t>
            </a:r>
          </a:p>
        </p:txBody>
      </p:sp>
      <p:sp>
        <p:nvSpPr>
          <p:cNvPr id="2" name="">
            <a:extLst xmlns:a="http://schemas.openxmlformats.org/drawingml/2006/main">
              <a:ext uri="{FF2B5EF4-FFF2-40B4-BE49-F238E27FC236}">
                <a16:creationId xmlns:a16="http://schemas.microsoft.com/office/drawing/2014/main" id="{09A716E7-CED4-48C6-94C1-572B6A94A268}"/>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buNone/>
              <a:defRPr sz="1200" b="0">
                <a:solidFill>
                  <a:srgbClr val="516679"/>
                </a:solidFill>
                <a:latin typeface="Arial"/>
                <a:ea typeface="Arial"/>
                <a:cs typeface="Arial"/>
              </a:defRPr>
            </a:pPr>
            <a:r>
              <a:rPr sz="1200" b="0">
                <a:solidFill>
                  <a:srgbClr val="516679"/>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6DE2449C-E41C-48E1-8E26-E8B2F152F2BC}"/>
              </a:ext>
            </a:extLst>
          </p:cNvPr>
          <p:cNvSpPr>
            <a:spLocks xmlns:a="http://schemas.openxmlformats.org/drawingml/2006/main" noGrp="1"/>
          </p:cNvSpPr>
          <p:nvPr/>
        </p:nvSpPr>
        <p:spPr>
          <a:xfrm xmlns:a="http://schemas.openxmlformats.org/drawingml/2006/main">
            <a:off x="609600" y="16383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1">
                <a:solidFill>
                  <a:srgbClr val="087F82"/>
                </a:solidFill>
                <a:latin typeface="Arial"/>
                <a:ea typeface="Arial"/>
                <a:cs typeface="Arial"/>
              </a:defRPr>
            </a:defPPr>
          </a:lstStyle>
          <a:p xmlns:a="http://schemas.openxmlformats.org/drawingml/2006/main">
            <a:pPr>
              <a:buNone/>
              <a:defRPr sz="6150" b="1">
                <a:solidFill>
                  <a:srgbClr val="087F82"/>
                </a:solidFill>
                <a:latin typeface="Arial"/>
                <a:ea typeface="Arial"/>
                <a:cs typeface="Arial"/>
              </a:defRPr>
            </a:pPr>
            <a:r>
              <a:rPr sz="6150" b="1">
                <a:solidFill>
                  <a:srgbClr val="087F82"/>
                </a:solidFill>
                <a:latin typeface="Arial"/>
                <a:ea typeface="Arial"/>
                <a:cs typeface="Arial"/>
              </a:rPr>
              <a:t>100,000</a:t>
            </a:r>
          </a:p>
        </p:txBody>
      </p:sp>
      <p:sp>
        <p:nvSpPr>
          <p:cNvPr id="4" name="">
            <a:extLst xmlns:a="http://schemas.openxmlformats.org/drawingml/2006/main">
              <a:ext uri="{FF2B5EF4-FFF2-40B4-BE49-F238E27FC236}">
                <a16:creationId xmlns:a16="http://schemas.microsoft.com/office/drawing/2014/main" id="{13D81D71-6228-4711-BEDA-715ADBEECD05}"/>
              </a:ext>
            </a:extLst>
          </p:cNvPr>
          <p:cNvSpPr>
            <a:spLocks xmlns:a="http://schemas.openxmlformats.org/drawingml/2006/main" noGrp="1"/>
          </p:cNvSpPr>
          <p:nvPr/>
        </p:nvSpPr>
        <p:spPr>
          <a:xfrm xmlns:a="http://schemas.openxmlformats.org/drawingml/2006/main">
            <a:off x="638175" y="27813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C42"/>
                </a:solidFill>
                <a:latin typeface="Arial"/>
                <a:ea typeface="Arial"/>
                <a:cs typeface="Arial"/>
              </a:defRPr>
            </a:defPPr>
          </a:lstStyle>
          <a:p xmlns:a="http://schemas.openxmlformats.org/drawingml/2006/main">
            <a:pPr>
              <a:buNone/>
              <a:defRPr sz="2250" b="1">
                <a:solidFill>
                  <a:srgbClr val="142C42"/>
                </a:solidFill>
                <a:latin typeface="Arial"/>
                <a:ea typeface="Arial"/>
                <a:cs typeface="Arial"/>
              </a:defRPr>
            </a:pPr>
            <a:r>
              <a:rPr sz="2250" b="1">
                <a:solidFill>
                  <a:srgbClr val="142C42"/>
                </a:solidFill>
                <a:latin typeface="Arial"/>
                <a:ea typeface="Arial"/>
                <a:cs typeface="Arial"/>
              </a:rPr>
              <a:t>source rows in the streaming selection test</a:t>
            </a:r>
          </a:p>
        </p:txBody>
      </p:sp>
      <p:sp>
        <p:nvSpPr>
          <p:cNvPr id="5" name="">
            <a:extLst xmlns:a="http://schemas.openxmlformats.org/drawingml/2006/main">
              <a:ext uri="{FF2B5EF4-FFF2-40B4-BE49-F238E27FC236}">
                <a16:creationId xmlns:a16="http://schemas.microsoft.com/office/drawing/2014/main" id="{97BF1164-EF15-4A8B-8217-7ABB0A305166}"/>
              </a:ext>
            </a:extLst>
          </p:cNvPr>
          <p:cNvSpPr>
            <a:spLocks xmlns:a="http://schemas.openxmlformats.org/drawingml/2006/main" noGrp="1"/>
          </p:cNvSpPr>
          <p:nvPr/>
        </p:nvSpPr>
        <p:spPr>
          <a:xfrm xmlns:a="http://schemas.openxmlformats.org/drawingml/2006/main">
            <a:off x="6477000" y="16478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2C42"/>
                </a:solidFill>
                <a:latin typeface="Arial"/>
                <a:ea typeface="Arial"/>
                <a:cs typeface="Arial"/>
              </a:defRPr>
            </a:defPPr>
          </a:lstStyle>
          <a:p xmlns:a="http://schemas.openxmlformats.org/drawingml/2006/main">
            <a:pPr>
              <a:buNone/>
              <a:defRPr sz="2325" b="1">
                <a:solidFill>
                  <a:srgbClr val="142C42"/>
                </a:solidFill>
                <a:latin typeface="Arial"/>
                <a:ea typeface="Arial"/>
                <a:cs typeface="Arial"/>
              </a:defRPr>
            </a:pPr>
            <a:r>
              <a:rPr sz="2325" b="1">
                <a:solidFill>
                  <a:srgbClr val="142C42"/>
                </a:solidFill>
                <a:latin typeface="Arial"/>
                <a:ea typeface="Arial"/>
                <a:cs typeface="Arial"/>
              </a:rPr>
              <a:t>Sampling</a:t>
            </a:r>
          </a:p>
        </p:txBody>
      </p:sp>
      <p:sp>
        <p:nvSpPr>
          <p:cNvPr id="6" name="">
            <a:extLst xmlns:a="http://schemas.openxmlformats.org/drawingml/2006/main">
              <a:ext uri="{FF2B5EF4-FFF2-40B4-BE49-F238E27FC236}">
                <a16:creationId xmlns:a16="http://schemas.microsoft.com/office/drawing/2014/main" id="{B73BB7E9-D33C-40D7-A13F-D3CF2CC6C571}"/>
              </a:ext>
            </a:extLst>
          </p:cNvPr>
          <p:cNvSpPr>
            <a:spLocks xmlns:a="http://schemas.openxmlformats.org/drawingml/2006/main" noGrp="1"/>
          </p:cNvSpPr>
          <p:nvPr/>
        </p:nvSpPr>
        <p:spPr>
          <a:xfrm xmlns:a="http://schemas.openxmlformats.org/drawingml/2006/main">
            <a:off x="6477000" y="2209800"/>
            <a:ext cx="4619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16679"/>
                </a:solidFill>
                <a:latin typeface="Arial"/>
                <a:ea typeface="Arial"/>
                <a:cs typeface="Arial"/>
              </a:defRPr>
            </a:defPPr>
          </a:lstStyle>
          <a:p xmlns:a="http://schemas.openxmlformats.org/drawingml/2006/main">
            <a:pPr>
              <a:buNone/>
              <a:defRPr sz="2025" b="0">
                <a:solidFill>
                  <a:srgbClr val="516679"/>
                </a:solidFill>
                <a:latin typeface="Arial"/>
                <a:ea typeface="Arial"/>
                <a:cs typeface="Arial"/>
              </a:defRPr>
            </a:pPr>
            <a:r>
              <a:rPr sz="2025" b="0">
                <a:solidFill>
                  <a:srgbClr val="516679"/>
                </a:solidFill>
                <a:latin typeface="Arial"/>
                <a:ea typeface="Arial"/>
                <a:cs typeface="Arial"/>
              </a:rPr>
              <a:t>Current demonstration selects up to five top-level rows per original file. It adds no context rows.</a:t>
            </a:r>
          </a:p>
        </p:txBody>
      </p:sp>
      <p:sp>
        <p:nvSpPr>
          <p:cNvPr id="7" name="">
            <a:extLst xmlns:a="http://schemas.openxmlformats.org/drawingml/2006/main">
              <a:ext uri="{FF2B5EF4-FFF2-40B4-BE49-F238E27FC236}">
                <a16:creationId xmlns:a16="http://schemas.microsoft.com/office/drawing/2014/main" id="{D2711D49-B604-4198-8208-CE929DC018BE}"/>
              </a:ext>
            </a:extLst>
          </p:cNvPr>
          <p:cNvSpPr>
            <a:spLocks xmlns:a="http://schemas.openxmlformats.org/drawingml/2006/main" noGrp="1"/>
          </p:cNvSpPr>
          <p:nvPr/>
        </p:nvSpPr>
        <p:spPr>
          <a:xfrm xmlns:a="http://schemas.openxmlformats.org/drawingml/2006/main">
            <a:off x="6477000" y="39433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2C42"/>
                </a:solidFill>
                <a:latin typeface="Arial"/>
                <a:ea typeface="Arial"/>
                <a:cs typeface="Arial"/>
              </a:defRPr>
            </a:defPPr>
          </a:lstStyle>
          <a:p xmlns:a="http://schemas.openxmlformats.org/drawingml/2006/main">
            <a:pPr>
              <a:buNone/>
              <a:defRPr sz="2325" b="1">
                <a:solidFill>
                  <a:srgbClr val="142C42"/>
                </a:solidFill>
                <a:latin typeface="Arial"/>
                <a:ea typeface="Arial"/>
                <a:cs typeface="Arial"/>
              </a:defRPr>
            </a:pPr>
            <a:r>
              <a:rPr sz="2325" b="1">
                <a:solidFill>
                  <a:srgbClr val="142C42"/>
                </a:solidFill>
                <a:latin typeface="Arial"/>
                <a:ea typeface="Arial"/>
                <a:cs typeface="Arial"/>
              </a:rPr>
              <a:t>Full input</a:t>
            </a:r>
          </a:p>
        </p:txBody>
      </p:sp>
      <p:sp>
        <p:nvSpPr>
          <p:cNvPr id="8" name="">
            <a:extLst xmlns:a="http://schemas.openxmlformats.org/drawingml/2006/main">
              <a:ext uri="{FF2B5EF4-FFF2-40B4-BE49-F238E27FC236}">
                <a16:creationId xmlns:a16="http://schemas.microsoft.com/office/drawing/2014/main" id="{F9DC162C-8A5C-48B0-A5CE-72CBD5981555}"/>
              </a:ext>
            </a:extLst>
          </p:cNvPr>
          <p:cNvSpPr>
            <a:spLocks xmlns:a="http://schemas.openxmlformats.org/drawingml/2006/main" noGrp="1"/>
          </p:cNvSpPr>
          <p:nvPr/>
        </p:nvSpPr>
        <p:spPr>
          <a:xfrm xmlns:a="http://schemas.openxmlformats.org/drawingml/2006/main">
            <a:off x="6477000" y="4505325"/>
            <a:ext cx="4619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16679"/>
                </a:solidFill>
                <a:latin typeface="Arial"/>
                <a:ea typeface="Arial"/>
                <a:cs typeface="Arial"/>
              </a:defRPr>
            </a:defPPr>
          </a:lstStyle>
          <a:p xmlns:a="http://schemas.openxmlformats.org/drawingml/2006/main">
            <a:pPr>
              <a:buNone/>
              <a:defRPr sz="2025" b="0">
                <a:solidFill>
                  <a:srgbClr val="516679"/>
                </a:solidFill>
                <a:latin typeface="Arial"/>
                <a:ea typeface="Arial"/>
                <a:cs typeface="Arial"/>
              </a:defRPr>
            </a:pPr>
            <a:r>
              <a:rPr sz="2025" b="0">
                <a:solidFill>
                  <a:srgbClr val="516679"/>
                </a:solidFill>
                <a:latin typeface="Arial"/>
                <a:ea typeface="Arial"/>
                <a:cs typeface="Arial"/>
              </a:rPr>
              <a:t>mode="all" selects every input row. Reference searches always inspect all supplied reference rows.</a:t>
            </a:r>
          </a:p>
        </p:txBody>
      </p:sp>
      <p:sp>
        <p:nvSpPr>
          <p:cNvPr id="9" name="">
            <a:extLst xmlns:a="http://schemas.openxmlformats.org/drawingml/2006/main">
              <a:ext uri="{FF2B5EF4-FFF2-40B4-BE49-F238E27FC236}">
                <a16:creationId xmlns:a16="http://schemas.microsoft.com/office/drawing/2014/main" id="{5676CDFF-EDF2-4660-B196-5C1063D85B45}"/>
              </a:ext>
            </a:extLst>
          </p:cNvPr>
          <p:cNvSpPr>
            <a:spLocks xmlns:a="http://schemas.openxmlformats.org/drawingml/2006/main" noGrp="1"/>
          </p:cNvSpPr>
          <p:nvPr/>
        </p:nvSpPr>
        <p:spPr>
          <a:xfrm xmlns:a="http://schemas.openxmlformats.org/drawingml/2006/main">
            <a:off x="6096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16679"/>
                </a:solidFill>
                <a:latin typeface="Arial"/>
                <a:ea typeface="Arial"/>
                <a:cs typeface="Arial"/>
              </a:defRPr>
            </a:defPPr>
          </a:lstStyle>
          <a:p xmlns:a="http://schemas.openxmlformats.org/drawingml/2006/main">
            <a:pPr>
              <a:buNone/>
              <a:defRPr sz="1725" b="0">
                <a:solidFill>
                  <a:srgbClr val="516679"/>
                </a:solidFill>
                <a:latin typeface="Arial"/>
                <a:ea typeface="Arial"/>
                <a:cs typeface="Arial"/>
              </a:defRPr>
            </a:pPr>
            <a:r>
              <a:rPr sz="1725" b="0">
                <a:solidFill>
                  <a:srgbClr val="516679"/>
                </a:solidFill>
                <a:latin typeface="Arial"/>
                <a:ea typeface="Arial"/>
                <a:cs typeface="Arial"/>
              </a:rPr>
              <a:t>Streaming selection evidence does not establish full-pipeline throughput at lakh scale.</a:t>
            </a:r>
          </a:p>
        </p:txBody>
      </p:sp>
    </p:spTree>
    <p:extLst>
      <p:ext uri="{BB962C8B-B14F-4D97-AF65-F5344CB8AC3E}">
        <p14:creationId xmlns:p14="http://schemas.microsoft.com/office/powerpoint/2010/main" val="1500389827"/>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FF43BC-A5E3-4D8E-8E2D-704DB1480EE4}"/>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buNone/>
              <a:defRPr sz="3300" b="1">
                <a:solidFill>
                  <a:srgbClr val="142C42"/>
                </a:solidFill>
                <a:latin typeface="Arial"/>
                <a:ea typeface="Arial"/>
                <a:cs typeface="Arial"/>
              </a:defRPr>
            </a:pPr>
            <a:r>
              <a:rPr sz="3300" b="1">
                <a:solidFill>
                  <a:srgbClr val="142C42"/>
                </a:solidFill>
                <a:latin typeface="Arial"/>
                <a:ea typeface="Arial"/>
                <a:cs typeface="Arial"/>
              </a:rPr>
              <a:t>Worked comparison with real row evidence</a:t>
            </a:r>
          </a:p>
        </p:txBody>
      </p:sp>
      <p:sp>
        <p:nvSpPr>
          <p:cNvPr id="2" name="">
            <a:extLst xmlns:a="http://schemas.openxmlformats.org/drawingml/2006/main">
              <a:ext uri="{FF2B5EF4-FFF2-40B4-BE49-F238E27FC236}">
                <a16:creationId xmlns:a16="http://schemas.microsoft.com/office/drawing/2014/main" id="{7B41DBEB-EA48-4683-BF75-4E2082A69BF7}"/>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buNone/>
              <a:defRPr sz="1200" b="0">
                <a:solidFill>
                  <a:srgbClr val="516679"/>
                </a:solidFill>
                <a:latin typeface="Arial"/>
                <a:ea typeface="Arial"/>
                <a:cs typeface="Arial"/>
              </a:defRPr>
            </a:pPr>
            <a:r>
              <a:rPr sz="1200" b="0">
                <a:solidFill>
                  <a:srgbClr val="516679"/>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1A2A18D4-24F4-41A1-B65D-42A85D547218}"/>
              </a:ext>
            </a:extLst>
          </p:cNvPr>
          <p:cNvSpPr>
            <a:spLocks xmlns:a="http://schemas.openxmlformats.org/drawingml/2006/main" noGrp="1"/>
          </p:cNvSpPr>
          <p:nvPr/>
        </p:nvSpPr>
        <p:spPr>
          <a:xfrm xmlns:a="http://schemas.openxmlformats.org/drawingml/2006/main">
            <a:off x="609600" y="1285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2"/>
                </a:solidFill>
                <a:latin typeface="Arial"/>
                <a:ea typeface="Arial"/>
                <a:cs typeface="Arial"/>
              </a:defRPr>
            </a:defPPr>
          </a:lstStyle>
          <a:p xmlns:a="http://schemas.openxmlformats.org/drawingml/2006/main">
            <a:pPr>
              <a:buNone/>
              <a:defRPr sz="2175" b="1">
                <a:solidFill>
                  <a:srgbClr val="087F82"/>
                </a:solidFill>
                <a:latin typeface="Arial"/>
                <a:ea typeface="Arial"/>
                <a:cs typeface="Arial"/>
              </a:defRPr>
            </a:pPr>
            <a:r>
              <a:rPr sz="2175" b="1">
                <a:solidFill>
                  <a:srgbClr val="087F82"/>
                </a:solidFill>
                <a:latin typeface="Arial"/>
                <a:ea typeface="Arial"/>
                <a:cs typeface="Arial"/>
              </a:rPr>
              <a:t>Four calculated KEEP rows: all four found with equivalent data</a:t>
            </a:r>
          </a:p>
        </p:txBody>
      </p:sp>
      <p:graphicFrame>
        <p:nvGraphicFramePr>
          <p:cNvPr id="4" name="">
            <a:extLst xmlns:a="http://schemas.openxmlformats.org/drawingml/2006/main">
              <a:ext uri="{FF2B5EF4-FFF2-40B4-BE49-F238E27FC236}">
                <a16:creationId xmlns:a16="http://schemas.microsoft.com/office/drawing/2014/main" id="{B844E9F2-434F-4461-BABC-605AFE62F933}"/>
              </a:ext>
            </a:extLst>
          </p:cNvPr>
          <p:cNvGraphicFramePr/>
          <p:nvPr/>
        </p:nvGraphicFramePr>
        <p:xfrm>
          <a:off xmlns:a="http://schemas.openxmlformats.org/drawingml/2006/main" x="609600" y="2114550"/>
          <a:ext xmlns:a="http://schemas.openxmlformats.org/drawingml/2006/main" cx="10972800" cy="2857500"/>
        </p:xfrm>
        <a:graphic xmlns:a="http://schemas.openxmlformats.org/drawingml/2006/main">
          <a:graphicData uri="http://schemas.openxmlformats.org/drawingml/2006/table">
            <a:tbl>
              <a:tblPr/>
              <a:tblGrid>
                <a:gridCol w="1952625"/>
                <a:gridCol w="2714625"/>
                <a:gridCol w="2714625"/>
                <a:gridCol w="3590925"/>
              </a:tblGrid>
              <a:tr h="571500">
                <a:tc>
                  <a:txBody>
                    <a:bodyPr/>
                    <a:lstStyle/>
                    <a:p>
                      <a:r>
                        <a:rPr sz="1800" b="1">
                          <a:solidFill>
                            <a:srgbClr val="FFFFFF"/>
                          </a:solidFill>
                          <a:latin typeface="Arial"/>
                          <a:ea typeface="Arial"/>
                          <a:cs typeface="Arial"/>
                        </a:rPr>
                        <a:t>Source row</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KEEP occurrences</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DROP occurrences</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Data-equivalent KEEP</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571500">
                <a:tc>
                  <a:txBody>
                    <a:bodyPr/>
                    <a:lstStyle/>
                    <a:p>
                      <a:r>
                        <a:rPr sz="1800" b="0">
                          <a:solidFill>
                            <a:srgbClr val="172B3D"/>
                          </a:solidFill>
                          <a:latin typeface="Arial"/>
                          <a:ea typeface="Arial"/>
                          <a:cs typeface="Arial"/>
                        </a:rPr>
                        <a:t>1</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3</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3</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3</a:t>
                      </a:r>
                    </a:p>
                  </a:txBody>
                  <a:tcPr marL="91440" marR="91440" marT="45720" marB="45720">
                    <a:lnR w="9525">
                      <a:solidFill>
                        <a:srgbClr val="D9E2E9"/>
                      </a:solidFill>
                      <a:prstDash val="solid"/>
                    </a:lnR>
                    <a:lnB w="9525">
                      <a:solidFill>
                        <a:srgbClr val="D9E2E9"/>
                      </a:solidFill>
                      <a:prstDash val="solid"/>
                    </a:lnB>
                    <a:solidFill>
                      <a:srgbClr val="FFFFFF"/>
                    </a:solidFill>
                  </a:tcPr>
                </a:tc>
              </a:tr>
              <a:tr h="571500">
                <a:tc>
                  <a:txBody>
                    <a:bodyPr/>
                    <a:lstStyle/>
                    <a:p>
                      <a:r>
                        <a:rPr sz="1800" b="0">
                          <a:solidFill>
                            <a:srgbClr val="172B3D"/>
                          </a:solidFill>
                          <a:latin typeface="Arial"/>
                          <a:ea typeface="Arial"/>
                          <a:cs typeface="Arial"/>
                        </a:rPr>
                        <a:t>3</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1</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11</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1</a:t>
                      </a:r>
                    </a:p>
                  </a:txBody>
                  <a:tcPr marL="91440" marR="91440" marT="45720" marB="45720">
                    <a:lnR w="9525">
                      <a:solidFill>
                        <a:srgbClr val="D9E2E9"/>
                      </a:solidFill>
                      <a:prstDash val="solid"/>
                    </a:lnR>
                    <a:lnB w="9525">
                      <a:solidFill>
                        <a:srgbClr val="D9E2E9"/>
                      </a:solidFill>
                      <a:prstDash val="solid"/>
                    </a:lnB>
                    <a:solidFill>
                      <a:srgbClr val="EAF0F4"/>
                    </a:solidFill>
                  </a:tcPr>
                </a:tc>
              </a:tr>
              <a:tr h="571500">
                <a:tc>
                  <a:txBody>
                    <a:bodyPr/>
                    <a:lstStyle/>
                    <a:p>
                      <a:r>
                        <a:rPr sz="1800" b="0">
                          <a:solidFill>
                            <a:srgbClr val="172B3D"/>
                          </a:solidFill>
                          <a:latin typeface="Arial"/>
                          <a:ea typeface="Arial"/>
                          <a:cs typeface="Arial"/>
                        </a:rPr>
                        <a:t>4</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3</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3</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3</a:t>
                      </a:r>
                    </a:p>
                  </a:txBody>
                  <a:tcPr marL="91440" marR="91440" marT="45720" marB="45720">
                    <a:lnR w="9525">
                      <a:solidFill>
                        <a:srgbClr val="D9E2E9"/>
                      </a:solidFill>
                      <a:prstDash val="solid"/>
                    </a:lnR>
                    <a:lnB w="9525">
                      <a:solidFill>
                        <a:srgbClr val="D9E2E9"/>
                      </a:solidFill>
                      <a:prstDash val="solid"/>
                    </a:lnB>
                    <a:solidFill>
                      <a:srgbClr val="FFFFFF"/>
                    </a:solidFill>
                  </a:tcPr>
                </a:tc>
              </a:tr>
              <a:tr h="571500">
                <a:tc>
                  <a:txBody>
                    <a:bodyPr/>
                    <a:lstStyle/>
                    <a:p>
                      <a:r>
                        <a:rPr sz="1800" b="0">
                          <a:solidFill>
                            <a:srgbClr val="172B3D"/>
                          </a:solidFill>
                          <a:latin typeface="Arial"/>
                          <a:ea typeface="Arial"/>
                          <a:cs typeface="Arial"/>
                        </a:rPr>
                        <a:t>5</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1</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5</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1</a:t>
                      </a:r>
                    </a:p>
                  </a:txBody>
                  <a:tcPr marL="91440" marR="91440" marT="45720" marB="45720">
                    <a:lnR w="9525">
                      <a:solidFill>
                        <a:srgbClr val="D9E2E9"/>
                      </a:solidFill>
                      <a:prstDash val="solid"/>
                    </a:lnR>
                    <a:lnB w="9525">
                      <a:solidFill>
                        <a:srgbClr val="D9E2E9"/>
                      </a:solidFill>
                      <a:prstDash val="solid"/>
                    </a:lnB>
                    <a:solidFill>
                      <a:srgbClr val="EAF0F4"/>
                    </a:solidFill>
                  </a:tcPr>
                </a:tc>
              </a:tr>
            </a:tbl>
          </a:graphicData>
        </a:graphic>
      </p:graphicFrame>
      <p:sp>
        <p:nvSpPr>
          <p:cNvPr id="5" name="">
            <a:extLst xmlns:a="http://schemas.openxmlformats.org/drawingml/2006/main">
              <a:ext uri="{FF2B5EF4-FFF2-40B4-BE49-F238E27FC236}">
                <a16:creationId xmlns:a16="http://schemas.microsoft.com/office/drawing/2014/main" id="{A9D3C8D2-F6A5-435C-B3BE-E1F0CBD22205}"/>
              </a:ext>
            </a:extLst>
          </p:cNvPr>
          <p:cNvSpPr>
            <a:spLocks xmlns:a="http://schemas.openxmlformats.org/drawingml/2006/main" noGrp="1"/>
          </p:cNvSpPr>
          <p:nvPr/>
        </p:nvSpPr>
        <p:spPr>
          <a:xfrm xmlns:a="http://schemas.openxmlformats.org/drawingml/2006/main">
            <a:off x="609600" y="53244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2C42"/>
                </a:solidFill>
                <a:latin typeface="Arial"/>
                <a:ea typeface="Arial"/>
                <a:cs typeface="Arial"/>
              </a:defRPr>
            </a:defPPr>
          </a:lstStyle>
          <a:p xmlns:a="http://schemas.openxmlformats.org/drawingml/2006/main">
            <a:pPr>
              <a:buNone/>
              <a:defRPr sz="2325" b="1">
                <a:solidFill>
                  <a:srgbClr val="142C42"/>
                </a:solidFill>
                <a:latin typeface="Arial"/>
                <a:ea typeface="Arial"/>
                <a:cs typeface="Arial"/>
              </a:defRPr>
            </a:pPr>
            <a:r>
              <a:rPr sz="2325" b="1">
                <a:solidFill>
                  <a:srgbClr val="142C42"/>
                </a:solidFill>
                <a:latin typeface="Arial"/>
                <a:ea typeface="Arial"/>
                <a:cs typeface="Arial"/>
              </a:rPr>
              <a:t>The remaining result is an output-membership conflict.</a:t>
            </a:r>
          </a:p>
        </p:txBody>
      </p:sp>
      <p:sp>
        <p:nvSpPr>
          <p:cNvPr id="6" name="">
            <a:extLst xmlns:a="http://schemas.openxmlformats.org/drawingml/2006/main">
              <a:ext uri="{FF2B5EF4-FFF2-40B4-BE49-F238E27FC236}">
                <a16:creationId xmlns:a16="http://schemas.microsoft.com/office/drawing/2014/main" id="{3FACDBFB-CACB-4973-BBEB-CC31A37BE1DA}"/>
              </a:ext>
            </a:extLst>
          </p:cNvPr>
          <p:cNvSpPr>
            <a:spLocks xmlns:a="http://schemas.openxmlformats.org/drawingml/2006/main" noGrp="1"/>
          </p:cNvSpPr>
          <p:nvPr/>
        </p:nvSpPr>
        <p:spPr>
          <a:xfrm xmlns:a="http://schemas.openxmlformats.org/drawingml/2006/main">
            <a:off x="609600" y="5876925"/>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679"/>
                </a:solidFill>
                <a:latin typeface="Arial"/>
                <a:ea typeface="Arial"/>
                <a:cs typeface="Arial"/>
              </a:defRPr>
            </a:defPPr>
          </a:lstStyle>
          <a:p xmlns:a="http://schemas.openxmlformats.org/drawingml/2006/main">
            <a:pPr>
              <a:buNone/>
              <a:defRPr sz="1800" b="0">
                <a:solidFill>
                  <a:srgbClr val="516679"/>
                </a:solidFill>
                <a:latin typeface="Arial"/>
                <a:ea typeface="Arial"/>
                <a:cs typeface="Arial"/>
              </a:defRPr>
            </a:pPr>
            <a:r>
              <a:rPr sz="1800" b="0">
                <a:solidFill>
                  <a:srgbClr val="516679"/>
                </a:solidFill>
                <a:latin typeface="Arial"/>
                <a:ea typeface="Arial"/>
                <a:cs typeface="Arial"/>
              </a:rPr>
              <a:t>Found records and accepted decisions are different measures. Evidence identifies both output locations.</a:t>
            </a:r>
          </a:p>
        </p:txBody>
      </p:sp>
    </p:spTree>
    <p:extLst>
      <p:ext uri="{BB962C8B-B14F-4D97-AF65-F5344CB8AC3E}">
        <p14:creationId xmlns:p14="http://schemas.microsoft.com/office/powerpoint/2010/main" val="539735476"/>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954F49-B66D-4721-A085-D473A98E33F3}"/>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buNone/>
              <a:defRPr sz="3300" b="1">
                <a:solidFill>
                  <a:srgbClr val="142C42"/>
                </a:solidFill>
                <a:latin typeface="Arial"/>
                <a:ea typeface="Arial"/>
                <a:cs typeface="Arial"/>
              </a:defRPr>
            </a:pPr>
            <a:r>
              <a:rPr sz="3300" b="1">
                <a:solidFill>
                  <a:srgbClr val="142C42"/>
                </a:solidFill>
                <a:latin typeface="Arial"/>
                <a:ea typeface="Arial"/>
                <a:cs typeface="Arial"/>
              </a:rPr>
              <a:t>Actual report: files and their row results</a:t>
            </a:r>
          </a:p>
        </p:txBody>
      </p:sp>
      <p:sp>
        <p:nvSpPr>
          <p:cNvPr id="2" name="">
            <a:extLst xmlns:a="http://schemas.openxmlformats.org/drawingml/2006/main">
              <a:ext uri="{FF2B5EF4-FFF2-40B4-BE49-F238E27FC236}">
                <a16:creationId xmlns:a16="http://schemas.microsoft.com/office/drawing/2014/main" id="{7D001F59-D055-4185-BEA7-BD729F3D6F30}"/>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buNone/>
              <a:defRPr sz="1200" b="0">
                <a:solidFill>
                  <a:srgbClr val="516679"/>
                </a:solidFill>
                <a:latin typeface="Arial"/>
                <a:ea typeface="Arial"/>
                <a:cs typeface="Arial"/>
              </a:defRPr>
            </a:pPr>
            <a:r>
              <a:rPr sz="1200" b="0">
                <a:solidFill>
                  <a:srgbClr val="516679"/>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E991E9C6-88A9-4C03-A727-2721E01D58C4}"/>
              </a:ext>
            </a:extLst>
          </p:cNvPr>
          <p:cNvPicPr>
            <a:picLocks xmlns:a="http://schemas.openxmlformats.org/drawingml/2006/main" noChangeAspect="1"/>
          </p:cNvPicPr>
          <p:nvPr/>
        </p:nvPicPr>
        <p:blipFill>
          <a:blip xmlns:r="http://schemas.openxmlformats.org/officeDocument/2006/relationships" xmlns:a="http://schemas.openxmlformats.org/drawingml/2006/main" r:embed="R2e5468c15d5c4ebc"/>
          <a:stretch xmlns:a="http://schemas.openxmlformats.org/drawingml/2006/main"/>
        </p:blipFill>
        <p:spPr>
          <a:xfrm xmlns:a="http://schemas.openxmlformats.org/drawingml/2006/main">
            <a:off x="609600" y="1477701"/>
            <a:ext cx="10972800" cy="482652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DAA2EDC-8BDE-4469-B00F-744CC38A36EC}"/>
              </a:ext>
            </a:extLst>
          </p:cNvPr>
          <p:cNvSpPr>
            <a:spLocks xmlns:a="http://schemas.openxmlformats.org/drawingml/2006/main" noGrp="1"/>
          </p:cNvSpPr>
          <p:nvPr/>
        </p:nvSpPr>
        <p:spPr>
          <a:xfrm xmlns:a="http://schemas.openxmlformats.org/drawingml/2006/main">
            <a:off x="609600" y="641032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16679"/>
                </a:solidFill>
                <a:latin typeface="Arial"/>
                <a:ea typeface="Arial"/>
                <a:cs typeface="Arial"/>
              </a:defRPr>
            </a:defPPr>
          </a:lstStyle>
          <a:p xmlns:a="http://schemas.openxmlformats.org/drawingml/2006/main">
            <a:pPr>
              <a:buNone/>
              <a:defRPr sz="1275" b="0">
                <a:solidFill>
                  <a:srgbClr val="516679"/>
                </a:solidFill>
                <a:latin typeface="Arial"/>
                <a:ea typeface="Arial"/>
                <a:cs typeface="Arial"/>
              </a:defRPr>
            </a:pPr>
            <a:r>
              <a:rPr sz="1275" b="0">
                <a:solidFill>
                  <a:srgbClr val="516679"/>
                </a:solidFill>
                <a:latin typeface="Arial"/>
                <a:ea typeface="Arial"/>
                <a:cs typeface="Arial"/>
              </a:rPr>
              <a:t>Actual development capture, 15 October. The current view also adds KEEP/DROP comparison evidence.</a:t>
            </a:r>
          </a:p>
        </p:txBody>
      </p:sp>
    </p:spTree>
    <p:extLst>
      <p:ext uri="{BB962C8B-B14F-4D97-AF65-F5344CB8AC3E}">
        <p14:creationId xmlns:p14="http://schemas.microsoft.com/office/powerpoint/2010/main" val="692471199"/>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3A9EBE2-37EC-4688-8AD3-496C484DBD38}"/>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How reviewers navigate the evidence</a:t>
            </a:r>
          </a:p>
        </p:txBody>
      </p:sp>
      <p:sp>
        <p:nvSpPr>
          <p:cNvPr id="2" name="">
            <a:extLst xmlns:a="http://schemas.openxmlformats.org/drawingml/2006/main">
              <a:ext uri="{FF2B5EF4-FFF2-40B4-BE49-F238E27FC236}">
                <a16:creationId xmlns:a16="http://schemas.microsoft.com/office/drawing/2014/main" id="{612EB0D0-F3F6-44EE-BEA7-FFD71436C08B}"/>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64B1B1E3-C68B-4F49-912B-9C397C19DD2C}"/>
              </a:ext>
            </a:extLst>
          </p:cNvPr>
          <p:cNvSpPr>
            <a:spLocks xmlns:a="http://schemas.openxmlformats.org/drawingml/2006/main" noGrp="1"/>
          </p:cNvSpPr>
          <p:nvPr/>
        </p:nvSpPr>
        <p:spPr>
          <a:xfrm xmlns:a="http://schemas.openxmlformats.org/drawingml/2006/main">
            <a:off x="609600" y="152400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2"/>
                </a:solidFill>
                <a:latin typeface="Arial"/>
                <a:ea typeface="Arial"/>
                <a:cs typeface="Arial"/>
              </a:defRPr>
            </a:defPPr>
          </a:lstStyle>
          <a:p xmlns:a="http://schemas.openxmlformats.org/drawingml/2006/main">
            <a:pPr>
              <a:defRPr sz="3150" b="1">
                <a:solidFill>
                  <a:srgbClr val="087F82"/>
                </a:solidFill>
                <a:latin typeface="Arial"/>
                <a:ea typeface="Arial"/>
                <a:cs typeface="Arial"/>
              </a:defRPr>
            </a:pPr>
            <a:r>
              <a:rPr sz="3150" b="1">
                <a:solidFill>
                  <a:srgbClr val="087F82"/>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54334C9-D9CA-484E-A37E-222D568F14E7}"/>
              </a:ext>
            </a:extLst>
          </p:cNvPr>
          <p:cNvSpPr>
            <a:spLocks xmlns:a="http://schemas.openxmlformats.org/drawingml/2006/main" noGrp="1"/>
          </p:cNvSpPr>
          <p:nvPr/>
        </p:nvSpPr>
        <p:spPr>
          <a:xfrm xmlns:a="http://schemas.openxmlformats.org/drawingml/2006/main">
            <a:off x="1524000" y="152400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2"/>
                </a:solidFill>
                <a:latin typeface="Arial"/>
                <a:ea typeface="Arial"/>
                <a:cs typeface="Arial"/>
              </a:defRPr>
            </a:defPPr>
          </a:lstStyle>
          <a:p xmlns:a="http://schemas.openxmlformats.org/drawingml/2006/main">
            <a:pPr>
              <a:defRPr sz="2175" b="1">
                <a:solidFill>
                  <a:srgbClr val="142C42"/>
                </a:solidFill>
                <a:latin typeface="Arial"/>
                <a:ea typeface="Arial"/>
                <a:cs typeface="Arial"/>
              </a:defRPr>
            </a:pPr>
            <a:r>
              <a:rPr sz="2175" b="1">
                <a:solidFill>
                  <a:srgbClr val="142C42"/>
                </a:solidFill>
                <a:latin typeface="Arial"/>
                <a:ea typeface="Arial"/>
                <a:cs typeface="Arial"/>
              </a:rPr>
              <a:t>Stage and input file</a:t>
            </a:r>
          </a:p>
        </p:txBody>
      </p:sp>
      <p:sp>
        <p:nvSpPr>
          <p:cNvPr id="5" name="">
            <a:extLst xmlns:a="http://schemas.openxmlformats.org/drawingml/2006/main">
              <a:ext uri="{FF2B5EF4-FFF2-40B4-BE49-F238E27FC236}">
                <a16:creationId xmlns:a16="http://schemas.microsoft.com/office/drawing/2014/main" id="{7EACD869-C265-4E84-B2AD-C9A800632C97}"/>
              </a:ext>
            </a:extLst>
          </p:cNvPr>
          <p:cNvSpPr>
            <a:spLocks xmlns:a="http://schemas.openxmlformats.org/drawingml/2006/main" noGrp="1"/>
          </p:cNvSpPr>
          <p:nvPr/>
        </p:nvSpPr>
        <p:spPr>
          <a:xfrm xmlns:a="http://schemas.openxmlformats.org/drawingml/2006/main">
            <a:off x="1524000" y="1981200"/>
            <a:ext cx="971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679"/>
                </a:solidFill>
                <a:latin typeface="Arial"/>
                <a:ea typeface="Arial"/>
                <a:cs typeface="Arial"/>
              </a:defRPr>
            </a:defPPr>
          </a:lstStyle>
          <a:p xmlns:a="http://schemas.openxmlformats.org/drawingml/2006/main">
            <a:pPr>
              <a:defRPr sz="1875" b="0">
                <a:solidFill>
                  <a:srgbClr val="516679"/>
                </a:solidFill>
                <a:latin typeface="Arial"/>
                <a:ea typeface="Arial"/>
                <a:cs typeface="Arial"/>
              </a:defRPr>
            </a:pPr>
            <a:r>
              <a:rPr sz="1875" b="0">
                <a:solidFill>
                  <a:srgbClr val="516679"/>
                </a:solidFill>
                <a:latin typeface="Arial"/>
                <a:ea typeface="Arial"/>
                <a:cs typeface="Arial"/>
              </a:rPr>
              <a:t>See the source files, rows taken, KEEP, DROP and stopped decisions.</a:t>
            </a:r>
          </a:p>
        </p:txBody>
      </p:sp>
      <p:sp>
        <p:nvSpPr>
          <p:cNvPr id="6" name="">
            <a:extLst xmlns:a="http://schemas.openxmlformats.org/drawingml/2006/main">
              <a:ext uri="{FF2B5EF4-FFF2-40B4-BE49-F238E27FC236}">
                <a16:creationId xmlns:a16="http://schemas.microsoft.com/office/drawing/2014/main" id="{CB57C85F-A092-4180-AAEC-735D1CF1E322}"/>
              </a:ext>
            </a:extLst>
          </p:cNvPr>
          <p:cNvSpPr>
            <a:spLocks xmlns:a="http://schemas.openxmlformats.org/drawingml/2006/main" noGrp="1"/>
          </p:cNvSpPr>
          <p:nvPr/>
        </p:nvSpPr>
        <p:spPr>
          <a:xfrm xmlns:a="http://schemas.openxmlformats.org/drawingml/2006/main">
            <a:off x="609600" y="301942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2"/>
                </a:solidFill>
                <a:latin typeface="Arial"/>
                <a:ea typeface="Arial"/>
                <a:cs typeface="Arial"/>
              </a:defRPr>
            </a:defPPr>
          </a:lstStyle>
          <a:p xmlns:a="http://schemas.openxmlformats.org/drawingml/2006/main">
            <a:pPr>
              <a:defRPr sz="3150" b="1">
                <a:solidFill>
                  <a:srgbClr val="087F82"/>
                </a:solidFill>
                <a:latin typeface="Arial"/>
                <a:ea typeface="Arial"/>
                <a:cs typeface="Arial"/>
              </a:defRPr>
            </a:pPr>
            <a:r>
              <a:rPr sz="3150" b="1">
                <a:solidFill>
                  <a:srgbClr val="087F8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3E5F1C4-5EB9-42F7-8744-A6BEAA9D2CE9}"/>
              </a:ext>
            </a:extLst>
          </p:cNvPr>
          <p:cNvSpPr>
            <a:spLocks xmlns:a="http://schemas.openxmlformats.org/drawingml/2006/main" noGrp="1"/>
          </p:cNvSpPr>
          <p:nvPr/>
        </p:nvSpPr>
        <p:spPr>
          <a:xfrm xmlns:a="http://schemas.openxmlformats.org/drawingml/2006/main">
            <a:off x="1524000" y="301942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2"/>
                </a:solidFill>
                <a:latin typeface="Arial"/>
                <a:ea typeface="Arial"/>
                <a:cs typeface="Arial"/>
              </a:defRPr>
            </a:defPPr>
          </a:lstStyle>
          <a:p xmlns:a="http://schemas.openxmlformats.org/drawingml/2006/main">
            <a:pPr>
              <a:defRPr sz="2175" b="1">
                <a:solidFill>
                  <a:srgbClr val="142C42"/>
                </a:solidFill>
                <a:latin typeface="Arial"/>
                <a:ea typeface="Arial"/>
                <a:cs typeface="Arial"/>
              </a:defRPr>
            </a:pPr>
            <a:r>
              <a:rPr sz="2175" b="1">
                <a:solidFill>
                  <a:srgbClr val="142C42"/>
                </a:solidFill>
                <a:latin typeface="Arial"/>
                <a:ea typeface="Arial"/>
                <a:cs typeface="Arial"/>
              </a:rPr>
              <a:t>Individual source row</a:t>
            </a:r>
          </a:p>
        </p:txBody>
      </p:sp>
      <p:sp>
        <p:nvSpPr>
          <p:cNvPr id="8" name="">
            <a:extLst xmlns:a="http://schemas.openxmlformats.org/drawingml/2006/main">
              <a:ext uri="{FF2B5EF4-FFF2-40B4-BE49-F238E27FC236}">
                <a16:creationId xmlns:a16="http://schemas.microsoft.com/office/drawing/2014/main" id="{38736885-8A7C-4320-B8F5-57CE82449913}"/>
              </a:ext>
            </a:extLst>
          </p:cNvPr>
          <p:cNvSpPr>
            <a:spLocks xmlns:a="http://schemas.openxmlformats.org/drawingml/2006/main" noGrp="1"/>
          </p:cNvSpPr>
          <p:nvPr/>
        </p:nvSpPr>
        <p:spPr>
          <a:xfrm xmlns:a="http://schemas.openxmlformats.org/drawingml/2006/main">
            <a:off x="1524000" y="3476625"/>
            <a:ext cx="971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679"/>
                </a:solidFill>
                <a:latin typeface="Arial"/>
                <a:ea typeface="Arial"/>
                <a:cs typeface="Arial"/>
              </a:defRPr>
            </a:defPPr>
          </a:lstStyle>
          <a:p xmlns:a="http://schemas.openxmlformats.org/drawingml/2006/main">
            <a:pPr>
              <a:defRPr sz="1875" b="0">
                <a:solidFill>
                  <a:srgbClr val="516679"/>
                </a:solidFill>
                <a:latin typeface="Arial"/>
                <a:ea typeface="Arial"/>
                <a:cs typeface="Arial"/>
              </a:defRPr>
            </a:pPr>
            <a:r>
              <a:rPr sz="1875" b="0">
                <a:solidFill>
                  <a:srgbClr val="516679"/>
                </a:solidFill>
                <a:latin typeface="Arial"/>
                <a:ea typeface="Arial"/>
                <a:cs typeface="Arial"/>
              </a:rPr>
              <a:t>Open the row to see its decision, checks and expected versus observed values.</a:t>
            </a:r>
          </a:p>
        </p:txBody>
      </p:sp>
      <p:sp>
        <p:nvSpPr>
          <p:cNvPr id="9" name="">
            <a:extLst xmlns:a="http://schemas.openxmlformats.org/drawingml/2006/main">
              <a:ext uri="{FF2B5EF4-FFF2-40B4-BE49-F238E27FC236}">
                <a16:creationId xmlns:a16="http://schemas.microsoft.com/office/drawing/2014/main" id="{068C202E-2267-47E7-B744-22AC86581127}"/>
              </a:ext>
            </a:extLst>
          </p:cNvPr>
          <p:cNvSpPr>
            <a:spLocks xmlns:a="http://schemas.openxmlformats.org/drawingml/2006/main" noGrp="1"/>
          </p:cNvSpPr>
          <p:nvPr/>
        </p:nvSpPr>
        <p:spPr>
          <a:xfrm xmlns:a="http://schemas.openxmlformats.org/drawingml/2006/main">
            <a:off x="609600" y="451485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2"/>
                </a:solidFill>
                <a:latin typeface="Arial"/>
                <a:ea typeface="Arial"/>
                <a:cs typeface="Arial"/>
              </a:defRPr>
            </a:defPPr>
          </a:lstStyle>
          <a:p xmlns:a="http://schemas.openxmlformats.org/drawingml/2006/main">
            <a:pPr>
              <a:defRPr sz="3150" b="1">
                <a:solidFill>
                  <a:srgbClr val="087F82"/>
                </a:solidFill>
                <a:latin typeface="Arial"/>
                <a:ea typeface="Arial"/>
                <a:cs typeface="Arial"/>
              </a:defRPr>
            </a:pPr>
            <a:r>
              <a:rPr sz="3150" b="1">
                <a:solidFill>
                  <a:srgbClr val="087F82"/>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271E6528-6542-4574-AE69-AE4E3C9DE485}"/>
              </a:ext>
            </a:extLst>
          </p:cNvPr>
          <p:cNvSpPr>
            <a:spLocks xmlns:a="http://schemas.openxmlformats.org/drawingml/2006/main" noGrp="1"/>
          </p:cNvSpPr>
          <p:nvPr/>
        </p:nvSpPr>
        <p:spPr>
          <a:xfrm xmlns:a="http://schemas.openxmlformats.org/drawingml/2006/main">
            <a:off x="1524000" y="45148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2"/>
                </a:solidFill>
                <a:latin typeface="Arial"/>
                <a:ea typeface="Arial"/>
                <a:cs typeface="Arial"/>
              </a:defRPr>
            </a:defPPr>
          </a:lstStyle>
          <a:p xmlns:a="http://schemas.openxmlformats.org/drawingml/2006/main">
            <a:pPr>
              <a:defRPr sz="2175" b="1">
                <a:solidFill>
                  <a:srgbClr val="142C42"/>
                </a:solidFill>
                <a:latin typeface="Arial"/>
                <a:ea typeface="Arial"/>
                <a:cs typeface="Arial"/>
              </a:defRPr>
            </a:pPr>
            <a:r>
              <a:rPr sz="2175" b="1">
                <a:solidFill>
                  <a:srgbClr val="142C42"/>
                </a:solidFill>
                <a:latin typeface="Arial"/>
                <a:ea typeface="Arial"/>
                <a:cs typeface="Arial"/>
              </a:rPr>
              <a:t>Reference proof</a:t>
            </a:r>
          </a:p>
        </p:txBody>
      </p:sp>
      <p:sp>
        <p:nvSpPr>
          <p:cNvPr id="11" name="">
            <a:extLst xmlns:a="http://schemas.openxmlformats.org/drawingml/2006/main">
              <a:ext uri="{FF2B5EF4-FFF2-40B4-BE49-F238E27FC236}">
                <a16:creationId xmlns:a16="http://schemas.microsoft.com/office/drawing/2014/main" id="{D69803A8-01E6-4579-9BF2-3B8BEBD81B07}"/>
              </a:ext>
            </a:extLst>
          </p:cNvPr>
          <p:cNvSpPr>
            <a:spLocks xmlns:a="http://schemas.openxmlformats.org/drawingml/2006/main" noGrp="1"/>
          </p:cNvSpPr>
          <p:nvPr/>
        </p:nvSpPr>
        <p:spPr>
          <a:xfrm xmlns:a="http://schemas.openxmlformats.org/drawingml/2006/main">
            <a:off x="1524000" y="4972050"/>
            <a:ext cx="971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679"/>
                </a:solidFill>
                <a:latin typeface="Arial"/>
                <a:ea typeface="Arial"/>
                <a:cs typeface="Arial"/>
              </a:defRPr>
            </a:defPPr>
          </a:lstStyle>
          <a:p xmlns:a="http://schemas.openxmlformats.org/drawingml/2006/main">
            <a:pPr>
              <a:defRPr sz="1875" b="0">
                <a:solidFill>
                  <a:srgbClr val="516679"/>
                </a:solidFill>
                <a:latin typeface="Arial"/>
                <a:ea typeface="Arial"/>
                <a:cs typeface="Arial"/>
              </a:defRPr>
            </a:pPr>
            <a:r>
              <a:rPr sz="1875" b="0">
                <a:solidFill>
                  <a:srgbClr val="516679"/>
                </a:solidFill>
                <a:latin typeface="Arial"/>
                <a:ea typeface="Arial"/>
                <a:cs typeface="Arial"/>
              </a:rPr>
              <a:t>Open matching reference locations and the reason for a missing, conflicting or unverified result.</a:t>
            </a:r>
          </a:p>
        </p:txBody>
      </p:sp>
    </p:spTree>
    <p:extLst>
      <p:ext uri="{BB962C8B-B14F-4D97-AF65-F5344CB8AC3E}">
        <p14:creationId xmlns:p14="http://schemas.microsoft.com/office/powerpoint/2010/main" val="554685781"/>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58DBD2-6A43-4C01-849F-34AD7314EF5A}"/>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Input engineering behind a single run</a:t>
            </a:r>
          </a:p>
        </p:txBody>
      </p:sp>
      <p:sp>
        <p:nvSpPr>
          <p:cNvPr id="2" name="">
            <a:extLst xmlns:a="http://schemas.openxmlformats.org/drawingml/2006/main">
              <a:ext uri="{FF2B5EF4-FFF2-40B4-BE49-F238E27FC236}">
                <a16:creationId xmlns:a16="http://schemas.microsoft.com/office/drawing/2014/main" id="{0A72DA56-D36D-4286-929E-C11DAA9FB997}"/>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A2E86CBD-D59B-4E51-979A-8A140A29F8BB}"/>
              </a:ext>
            </a:extLst>
          </p:cNvPr>
          <p:cNvGraphicFramePr/>
          <p:nvPr/>
        </p:nvGraphicFramePr>
        <p:xfrm>
          <a:off xmlns:a="http://schemas.openxmlformats.org/drawingml/2006/main" x="609600" y="1600200"/>
          <a:ext xmlns:a="http://schemas.openxmlformats.org/drawingml/2006/main" cx="10972800" cy="3886200"/>
        </p:xfrm>
        <a:graphic xmlns:a="http://schemas.openxmlformats.org/drawingml/2006/main">
          <a:graphicData uri="http://schemas.openxmlformats.org/drawingml/2006/table">
            <a:tbl>
              <a:tblPr/>
              <a:tblGrid>
                <a:gridCol w="2667000"/>
                <a:gridCol w="4381500"/>
                <a:gridCol w="3924300"/>
              </a:tblGrid>
              <a:tr h="777240">
                <a:tc>
                  <a:txBody>
                    <a:bodyPr/>
                    <a:lstStyle/>
                    <a:p>
                      <a:r>
                        <a:rPr sz="1725" b="1">
                          <a:solidFill>
                            <a:srgbClr val="FFFFFF"/>
                          </a:solidFill>
                          <a:latin typeface="Arial"/>
                          <a:ea typeface="Arial"/>
                          <a:cs typeface="Arial"/>
                        </a:rPr>
                        <a:t>Challenge</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725" b="1">
                          <a:solidFill>
                            <a:srgbClr val="FFFFFF"/>
                          </a:solidFill>
                          <a:latin typeface="Arial"/>
                          <a:ea typeface="Arial"/>
                          <a:cs typeface="Arial"/>
                        </a:rPr>
                        <a:t>Implemented behavior</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725" b="1">
                          <a:solidFill>
                            <a:srgbClr val="FFFFFF"/>
                          </a:solidFill>
                          <a:latin typeface="Arial"/>
                          <a:ea typeface="Arial"/>
                          <a:cs typeface="Arial"/>
                        </a:rPr>
                        <a:t>Why it matters</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777240">
                <a:tc>
                  <a:txBody>
                    <a:bodyPr/>
                    <a:lstStyle/>
                    <a:p>
                      <a:r>
                        <a:rPr sz="1725" b="0">
                          <a:solidFill>
                            <a:srgbClr val="172B3D"/>
                          </a:solidFill>
                          <a:latin typeface="Arial"/>
                          <a:ea typeface="Arial"/>
                          <a:cs typeface="Arial"/>
                        </a:rPr>
                        <a:t>S3 objects or folders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725" b="0">
                          <a:solidFill>
                            <a:srgbClr val="172B3D"/>
                          </a:solidFill>
                          <a:latin typeface="Arial"/>
                          <a:ea typeface="Arial"/>
                          <a:cs typeface="Arial"/>
                        </a:rPr>
                        <a:t>Resolve object URLs and paginated prefix listings</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725" b="0">
                          <a:solidFill>
                            <a:srgbClr val="172B3D"/>
                          </a:solidFill>
                          <a:latin typeface="Arial"/>
                          <a:ea typeface="Arial"/>
                          <a:cs typeface="Arial"/>
                        </a:rPr>
                        <a:t>Handle one object or a complete supplied prefix</a:t>
                      </a:r>
                    </a:p>
                  </a:txBody>
                  <a:tcPr marL="91440" marR="91440" marT="45720" marB="45720">
                    <a:lnR w="9525">
                      <a:solidFill>
                        <a:srgbClr val="D9E2E9"/>
                      </a:solidFill>
                      <a:prstDash val="solid"/>
                    </a:lnR>
                    <a:lnB w="9525">
                      <a:solidFill>
                        <a:srgbClr val="D9E2E9"/>
                      </a:solidFill>
                      <a:prstDash val="solid"/>
                    </a:lnB>
                    <a:solidFill>
                      <a:srgbClr val="FFFFFF"/>
                    </a:solidFill>
                  </a:tcPr>
                </a:tc>
              </a:tr>
              <a:tr h="777240">
                <a:tc>
                  <a:txBody>
                    <a:bodyPr/>
                    <a:lstStyle/>
                    <a:p>
                      <a:r>
                        <a:rPr sz="1725" b="0">
                          <a:solidFill>
                            <a:srgbClr val="172B3D"/>
                          </a:solidFill>
                          <a:latin typeface="Arial"/>
                          <a:ea typeface="Arial"/>
                          <a:cs typeface="Arial"/>
                        </a:rPr>
                        <a:t>Missing file extensions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725" b="0">
                          <a:solidFill>
                            <a:srgbClr val="172B3D"/>
                          </a:solidFill>
                          <a:latin typeface="Arial"/>
                          <a:ea typeface="Arial"/>
                          <a:cs typeface="Arial"/>
                        </a:rPr>
                        <a:t>Detect JSON or Parquet from object content</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725" b="0">
                          <a:solidFill>
                            <a:srgbClr val="172B3D"/>
                          </a:solidFill>
                          <a:latin typeface="Arial"/>
                          <a:ea typeface="Arial"/>
                          <a:cs typeface="Arial"/>
                        </a:rPr>
                        <a:t>Read extensionless source objects correctly</a:t>
                      </a:r>
                    </a:p>
                  </a:txBody>
                  <a:tcPr marL="91440" marR="91440" marT="45720" marB="45720">
                    <a:lnR w="9525">
                      <a:solidFill>
                        <a:srgbClr val="D9E2E9"/>
                      </a:solidFill>
                      <a:prstDash val="solid"/>
                    </a:lnR>
                    <a:lnB w="9525">
                      <a:solidFill>
                        <a:srgbClr val="D9E2E9"/>
                      </a:solidFill>
                      <a:prstDash val="solid"/>
                    </a:lnB>
                    <a:solidFill>
                      <a:srgbClr val="EAF0F4"/>
                    </a:solidFill>
                  </a:tcPr>
                </a:tc>
              </a:tr>
              <a:tr h="777240">
                <a:tc>
                  <a:txBody>
                    <a:bodyPr/>
                    <a:lstStyle/>
                    <a:p>
                      <a:r>
                        <a:rPr sz="1725" b="0">
                          <a:solidFill>
                            <a:srgbClr val="172B3D"/>
                          </a:solidFill>
                          <a:latin typeface="Arial"/>
                          <a:ea typeface="Arial"/>
                          <a:cs typeface="Arial"/>
                        </a:rPr>
                        <a:t>Source traceability</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725" b="0">
                          <a:solidFill>
                            <a:srgbClr val="172B3D"/>
                          </a:solidFill>
                          <a:latin typeface="Arial"/>
                          <a:ea typeface="Arial"/>
                          <a:cs typeface="Arial"/>
                        </a:rPr>
                        <a:t>Cache downloads and record origin, row and SHA-256</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725" b="0">
                          <a:solidFill>
                            <a:srgbClr val="172B3D"/>
                          </a:solidFill>
                          <a:latin typeface="Arial"/>
                          <a:ea typeface="Arial"/>
                          <a:cs typeface="Arial"/>
                        </a:rPr>
                        <a:t>Locate the data used by each validation</a:t>
                      </a:r>
                    </a:p>
                  </a:txBody>
                  <a:tcPr marL="91440" marR="91440" marT="45720" marB="45720">
                    <a:lnR w="9525">
                      <a:solidFill>
                        <a:srgbClr val="D9E2E9"/>
                      </a:solidFill>
                      <a:prstDash val="solid"/>
                    </a:lnR>
                    <a:lnB w="9525">
                      <a:solidFill>
                        <a:srgbClr val="D9E2E9"/>
                      </a:solidFill>
                      <a:prstDash val="solid"/>
                    </a:lnB>
                    <a:solidFill>
                      <a:srgbClr val="FFFFFF"/>
                    </a:solidFill>
                  </a:tcPr>
                </a:tc>
              </a:tr>
              <a:tr h="777240">
                <a:tc>
                  <a:txBody>
                    <a:bodyPr/>
                    <a:lstStyle/>
                    <a:p>
                      <a:r>
                        <a:rPr sz="1725" b="0">
                          <a:solidFill>
                            <a:srgbClr val="172B3D"/>
                          </a:solidFill>
                          <a:latin typeface="Arial"/>
                          <a:ea typeface="Arial"/>
                          <a:cs typeface="Arial"/>
                        </a:rPr>
                        <a:t>Nested claim structures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725" b="0">
                          <a:solidFill>
                            <a:srgbClr val="172B3D"/>
                          </a:solidFill>
                          <a:latin typeface="Arial"/>
                          <a:ea typeface="Arial"/>
                          <a:cs typeface="Arial"/>
                        </a:rPr>
                        <a:t>Count top-level records and preserve inner arrays</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725" b="0">
                          <a:solidFill>
                            <a:srgbClr val="172B3D"/>
                          </a:solidFill>
                          <a:latin typeface="Arial"/>
                          <a:ea typeface="Arial"/>
                          <a:cs typeface="Arial"/>
                        </a:rPr>
                        <a:t>Avoid inflating row totals with diagnosis or revenue lines</a:t>
                      </a:r>
                    </a:p>
                  </a:txBody>
                  <a:tcPr marL="91440" marR="91440" marT="45720" marB="45720">
                    <a:lnR w="9525">
                      <a:solidFill>
                        <a:srgbClr val="D9E2E9"/>
                      </a:solidFill>
                      <a:prstDash val="solid"/>
                    </a:lnR>
                    <a:lnB w="9525">
                      <a:solidFill>
                        <a:srgbClr val="D9E2E9"/>
                      </a:solidFill>
                      <a:prstDash val="solid"/>
                    </a:lnB>
                    <a:solidFill>
                      <a:srgbClr val="EAF0F4"/>
                    </a:solidFill>
                  </a:tcPr>
                </a:tc>
              </a:tr>
            </a:tbl>
          </a:graphicData>
        </a:graphic>
      </p:graphicFrame>
      <p:sp>
        <p:nvSpPr>
          <p:cNvPr id="4" name="">
            <a:extLst xmlns:a="http://schemas.openxmlformats.org/drawingml/2006/main">
              <a:ext uri="{FF2B5EF4-FFF2-40B4-BE49-F238E27FC236}">
                <a16:creationId xmlns:a16="http://schemas.microsoft.com/office/drawing/2014/main" id="{156BF05A-6BA8-47E6-A235-8D4AD4AE2D7C}"/>
              </a:ext>
            </a:extLst>
          </p:cNvPr>
          <p:cNvSpPr>
            <a:spLocks xmlns:a="http://schemas.openxmlformats.org/drawingml/2006/main" noGrp="1"/>
          </p:cNvSpPr>
          <p:nvPr/>
        </p:nvSpPr>
        <p:spPr>
          <a:xfrm xmlns:a="http://schemas.openxmlformats.org/drawingml/2006/main">
            <a:off x="609600" y="58293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2"/>
                </a:solidFill>
                <a:latin typeface="Arial"/>
                <a:ea typeface="Arial"/>
                <a:cs typeface="Arial"/>
              </a:defRPr>
            </a:defPPr>
          </a:lstStyle>
          <a:p xmlns:a="http://schemas.openxmlformats.org/drawingml/2006/main">
            <a:pPr>
              <a:defRPr sz="2100" b="1">
                <a:solidFill>
                  <a:srgbClr val="087F82"/>
                </a:solidFill>
                <a:latin typeface="Arial"/>
                <a:ea typeface="Arial"/>
                <a:cs typeface="Arial"/>
              </a:defRPr>
            </a:pPr>
            <a:r>
              <a:rPr sz="2100" b="1">
                <a:solidFill>
                  <a:srgbClr val="087F82"/>
                </a:solidFill>
                <a:latin typeface="Arial"/>
                <a:ea typeface="Arial"/>
                <a:cs typeface="Arial"/>
              </a:rPr>
              <a:t>Shared readers support the same validation flow for local and S3 inputs.</a:t>
            </a:r>
          </a:p>
        </p:txBody>
      </p:sp>
    </p:spTree>
    <p:extLst>
      <p:ext uri="{BB962C8B-B14F-4D97-AF65-F5344CB8AC3E}">
        <p14:creationId xmlns:p14="http://schemas.microsoft.com/office/powerpoint/2010/main" val="297583865"/>
      </p:ext>
    </p:extLst>
  </p:cSld>
</p:sld>
</file>

<file path=ppt/slides/slide1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864388-FA83-4A6E-84C1-CBC063F62EBA}"/>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Record movement and count integrity</a:t>
            </a:r>
          </a:p>
        </p:txBody>
      </p:sp>
      <p:sp>
        <p:nvSpPr>
          <p:cNvPr id="2" name="">
            <a:extLst xmlns:a="http://schemas.openxmlformats.org/drawingml/2006/main">
              <a:ext uri="{FF2B5EF4-FFF2-40B4-BE49-F238E27FC236}">
                <a16:creationId xmlns:a16="http://schemas.microsoft.com/office/drawing/2014/main" id="{89BF6156-B999-470F-99B7-AEF699B6337F}"/>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968B8CD5-B726-4016-ABC7-B69980801590}"/>
              </a:ext>
            </a:extLst>
          </p:cNvPr>
          <p:cNvSpPr>
            <a:spLocks xmlns:a="http://schemas.openxmlformats.org/drawingml/2006/main" noGrp="1"/>
          </p:cNvSpPr>
          <p:nvPr/>
        </p:nvSpPr>
        <p:spPr>
          <a:xfrm xmlns:a="http://schemas.openxmlformats.org/drawingml/2006/main">
            <a:off x="609600" y="1476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87F82"/>
                </a:solidFill>
                <a:latin typeface="Arial"/>
                <a:ea typeface="Arial"/>
                <a:cs typeface="Arial"/>
              </a:defRPr>
            </a:defPPr>
          </a:lstStyle>
          <a:p xmlns:a="http://schemas.openxmlformats.org/drawingml/2006/main">
            <a:pPr>
              <a:defRPr sz="2925" b="1">
                <a:solidFill>
                  <a:srgbClr val="087F82"/>
                </a:solidFill>
                <a:latin typeface="Arial"/>
                <a:ea typeface="Arial"/>
                <a:cs typeface="Arial"/>
              </a:defRPr>
            </a:pPr>
            <a:r>
              <a:rPr sz="2925" b="1">
                <a:solidFill>
                  <a:srgbClr val="087F82"/>
                </a:solidFill>
                <a:latin typeface="Arial"/>
                <a:ea typeface="Arial"/>
                <a:cs typeface="Arial"/>
              </a:rPr>
              <a:t>Input rows = KEEP + DROP + STOPPED</a:t>
            </a:r>
          </a:p>
        </p:txBody>
      </p:sp>
      <p:graphicFrame>
        <p:nvGraphicFramePr>
          <p:cNvPr id="4" name="">
            <a:extLst xmlns:a="http://schemas.openxmlformats.org/drawingml/2006/main">
              <a:ext uri="{FF2B5EF4-FFF2-40B4-BE49-F238E27FC236}">
                <a16:creationId xmlns:a16="http://schemas.microsoft.com/office/drawing/2014/main" id="{7CE310A6-7F84-4232-BE5F-9E9AE850127A}"/>
              </a:ext>
            </a:extLst>
          </p:cNvPr>
          <p:cNvGraphicFramePr/>
          <p:nvPr/>
        </p:nvGraphicFramePr>
        <p:xfrm>
          <a:off xmlns:a="http://schemas.openxmlformats.org/drawingml/2006/main" x="609600" y="2476500"/>
          <a:ext xmlns:a="http://schemas.openxmlformats.org/drawingml/2006/main" cx="10972800" cy="2876550"/>
        </p:xfrm>
        <a:graphic xmlns:a="http://schemas.openxmlformats.org/drawingml/2006/main">
          <a:graphicData uri="http://schemas.openxmlformats.org/drawingml/2006/table">
            <a:tbl>
              <a:tblPr/>
              <a:tblGrid>
                <a:gridCol w="3476625"/>
                <a:gridCol w="7496175"/>
              </a:tblGrid>
              <a:tr h="575310">
                <a:tc>
                  <a:txBody>
                    <a:bodyPr/>
                    <a:lstStyle/>
                    <a:p>
                      <a:r>
                        <a:rPr sz="1800" b="1">
                          <a:solidFill>
                            <a:srgbClr val="FFFFFF"/>
                          </a:solidFill>
                          <a:latin typeface="Arial"/>
                          <a:ea typeface="Arial"/>
                          <a:cs typeface="Arial"/>
                        </a:rPr>
                        <a:t>Separate measures</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What the framework accounts for</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575310">
                <a:tc>
                  <a:txBody>
                    <a:bodyPr/>
                    <a:lstStyle/>
                    <a:p>
                      <a:r>
                        <a:rPr sz="1800" b="0">
                          <a:solidFill>
                            <a:srgbClr val="172B3D"/>
                          </a:solidFill>
                          <a:latin typeface="Arial"/>
                          <a:ea typeface="Arial"/>
                          <a:cs typeface="Arial"/>
                        </a:rPr>
                        <a:t>Supplied source rows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Rows selected from the configured original files</a:t>
                      </a:r>
                    </a:p>
                  </a:txBody>
                  <a:tcPr marL="91440" marR="91440" marT="45720" marB="45720">
                    <a:lnR w="9525">
                      <a:solidFill>
                        <a:srgbClr val="D9E2E9"/>
                      </a:solidFill>
                      <a:prstDash val="solid"/>
                    </a:lnR>
                    <a:lnB w="9525">
                      <a:solidFill>
                        <a:srgbClr val="D9E2E9"/>
                      </a:solidFill>
                      <a:prstDash val="solid"/>
                    </a:lnB>
                    <a:solidFill>
                      <a:srgbClr val="FFFFFF"/>
                    </a:solidFill>
                  </a:tcPr>
                </a:tc>
              </a:tr>
              <a:tr h="575310">
                <a:tc>
                  <a:txBody>
                    <a:bodyPr/>
                    <a:lstStyle/>
                    <a:p>
                      <a:r>
                        <a:rPr sz="1800" b="0">
                          <a:solidFill>
                            <a:srgbClr val="172B3D"/>
                          </a:solidFill>
                          <a:latin typeface="Arial"/>
                          <a:ea typeface="Arial"/>
                          <a:cs typeface="Arial"/>
                        </a:rPr>
                        <a:t>Source decisions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KEEP, DROP and stopped or exception outcomes</a:t>
                      </a:r>
                    </a:p>
                  </a:txBody>
                  <a:tcPr marL="91440" marR="91440" marT="45720" marB="45720">
                    <a:lnR w="9525">
                      <a:solidFill>
                        <a:srgbClr val="D9E2E9"/>
                      </a:solidFill>
                      <a:prstDash val="solid"/>
                    </a:lnR>
                    <a:lnB w="9525">
                      <a:solidFill>
                        <a:srgbClr val="D9E2E9"/>
                      </a:solidFill>
                      <a:prstDash val="solid"/>
                    </a:lnB>
                    <a:solidFill>
                      <a:srgbClr val="EAF0F4"/>
                    </a:solidFill>
                  </a:tcPr>
                </a:tc>
              </a:tr>
              <a:tr h="575310">
                <a:tc>
                  <a:txBody>
                    <a:bodyPr/>
                    <a:lstStyle/>
                    <a:p>
                      <a:r>
                        <a:rPr sz="1800" b="0">
                          <a:solidFill>
                            <a:srgbClr val="172B3D"/>
                          </a:solidFill>
                          <a:latin typeface="Arial"/>
                          <a:ea typeface="Arial"/>
                          <a:cs typeface="Arial"/>
                        </a:rPr>
                        <a:t>Generated output rows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Rows after grouping, merging or transformation</a:t>
                      </a:r>
                    </a:p>
                  </a:txBody>
                  <a:tcPr marL="91440" marR="91440" marT="45720" marB="45720">
                    <a:lnR w="9525">
                      <a:solidFill>
                        <a:srgbClr val="D9E2E9"/>
                      </a:solidFill>
                      <a:prstDash val="solid"/>
                    </a:lnR>
                    <a:lnB w="9525">
                      <a:solidFill>
                        <a:srgbClr val="D9E2E9"/>
                      </a:solidFill>
                      <a:prstDash val="solid"/>
                    </a:lnB>
                    <a:solidFill>
                      <a:srgbClr val="FFFFFF"/>
                    </a:solidFill>
                  </a:tcPr>
                </a:tc>
              </a:tr>
              <a:tr h="575310">
                <a:tc>
                  <a:txBody>
                    <a:bodyPr/>
                    <a:lstStyle/>
                    <a:p>
                      <a:r>
                        <a:rPr sz="1800" b="0">
                          <a:solidFill>
                            <a:srgbClr val="172B3D"/>
                          </a:solidFill>
                          <a:latin typeface="Arial"/>
                          <a:ea typeface="Arial"/>
                          <a:cs typeface="Arial"/>
                        </a:rPr>
                        <a:t>Received downstream rows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Generated rows actually read by the next stage</a:t>
                      </a:r>
                    </a:p>
                  </a:txBody>
                  <a:tcPr marL="91440" marR="91440" marT="45720" marB="45720">
                    <a:lnR w="9525">
                      <a:solidFill>
                        <a:srgbClr val="D9E2E9"/>
                      </a:solidFill>
                      <a:prstDash val="solid"/>
                    </a:lnR>
                    <a:lnB w="9525">
                      <a:solidFill>
                        <a:srgbClr val="D9E2E9"/>
                      </a:solidFill>
                      <a:prstDash val="solid"/>
                    </a:lnB>
                    <a:solidFill>
                      <a:srgbClr val="EAF0F4"/>
                    </a:solidFill>
                  </a:tcPr>
                </a:tc>
              </a:tr>
            </a:tbl>
          </a:graphicData>
        </a:graphic>
      </p:graphicFrame>
      <p:sp>
        <p:nvSpPr>
          <p:cNvPr id="5" name="">
            <a:extLst xmlns:a="http://schemas.openxmlformats.org/drawingml/2006/main">
              <a:ext uri="{FF2B5EF4-FFF2-40B4-BE49-F238E27FC236}">
                <a16:creationId xmlns:a16="http://schemas.microsoft.com/office/drawing/2014/main" id="{A86DAFD9-AD96-425B-9B55-3FA938BD4EC5}"/>
              </a:ext>
            </a:extLst>
          </p:cNvPr>
          <p:cNvSpPr>
            <a:spLocks xmlns:a="http://schemas.openxmlformats.org/drawingml/2006/main" noGrp="1"/>
          </p:cNvSpPr>
          <p:nvPr/>
        </p:nvSpPr>
        <p:spPr>
          <a:xfrm xmlns:a="http://schemas.openxmlformats.org/drawingml/2006/main">
            <a:off x="609600" y="57721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C42"/>
                </a:solidFill>
                <a:latin typeface="Arial"/>
                <a:ea typeface="Arial"/>
                <a:cs typeface="Arial"/>
              </a:defRPr>
            </a:defPPr>
          </a:lstStyle>
          <a:p xmlns:a="http://schemas.openxmlformats.org/drawingml/2006/main">
            <a:pPr>
              <a:defRPr sz="2100" b="1">
                <a:solidFill>
                  <a:srgbClr val="142C42"/>
                </a:solidFill>
                <a:latin typeface="Arial"/>
                <a:ea typeface="Arial"/>
                <a:cs typeface="Arial"/>
              </a:defRPr>
            </a:pPr>
            <a:r>
              <a:rPr sz="2100" b="1">
                <a:solidFill>
                  <a:srgbClr val="142C42"/>
                </a:solidFill>
                <a:latin typeface="Arial"/>
                <a:ea typeface="Arial"/>
                <a:cs typeface="Arial"/>
              </a:rPr>
              <a:t>Illustrative merge: three kept source rows can produce one output row.</a:t>
            </a:r>
          </a:p>
        </p:txBody>
      </p:sp>
    </p:spTree>
    <p:extLst>
      <p:ext uri="{BB962C8B-B14F-4D97-AF65-F5344CB8AC3E}">
        <p14:creationId xmlns:p14="http://schemas.microsoft.com/office/powerpoint/2010/main" val="1253230067"/>
      </p:ext>
    </p:extLst>
  </p:cSld>
</p:sld>
</file>

<file path=ppt/slides/slide1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395358-BF20-4978-856C-63924F69A8ED}"/>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Comparison defects we resolved</a:t>
            </a:r>
          </a:p>
        </p:txBody>
      </p:sp>
      <p:sp>
        <p:nvSpPr>
          <p:cNvPr id="2" name="">
            <a:extLst xmlns:a="http://schemas.openxmlformats.org/drawingml/2006/main">
              <a:ext uri="{FF2B5EF4-FFF2-40B4-BE49-F238E27FC236}">
                <a16:creationId xmlns:a16="http://schemas.microsoft.com/office/drawing/2014/main" id="{86DCED58-54E4-4DCD-8EC3-5BED6D66969D}"/>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A5BDE560-6C1C-43F0-8766-B22A0BAA82F0}"/>
              </a:ext>
            </a:extLst>
          </p:cNvPr>
          <p:cNvGraphicFramePr/>
          <p:nvPr/>
        </p:nvGraphicFramePr>
        <p:xfrm>
          <a:off xmlns:a="http://schemas.openxmlformats.org/drawingml/2006/main" x="609600" y="1619250"/>
          <a:ext xmlns:a="http://schemas.openxmlformats.org/drawingml/2006/main" cx="10972800" cy="3924300"/>
        </p:xfrm>
        <a:graphic xmlns:a="http://schemas.openxmlformats.org/drawingml/2006/main">
          <a:graphicData uri="http://schemas.openxmlformats.org/drawingml/2006/table">
            <a:tbl>
              <a:tblPr/>
              <a:tblGrid>
                <a:gridCol w="3143250"/>
                <a:gridCol w="4143375"/>
                <a:gridCol w="3686175"/>
              </a:tblGrid>
              <a:tr h="784860">
                <a:tc>
                  <a:txBody>
                    <a:bodyPr/>
                    <a:lstStyle/>
                    <a:p>
                      <a:r>
                        <a:rPr sz="1725" b="1">
                          <a:solidFill>
                            <a:srgbClr val="FFFFFF"/>
                          </a:solidFill>
                          <a:latin typeface="Arial"/>
                          <a:ea typeface="Arial"/>
                          <a:cs typeface="Arial"/>
                        </a:rPr>
                        <a:t>Problem exposed</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725" b="1">
                          <a:solidFill>
                            <a:srgbClr val="FFFFFF"/>
                          </a:solidFill>
                          <a:latin typeface="Arial"/>
                          <a:ea typeface="Arial"/>
                          <a:cs typeface="Arial"/>
                        </a:rPr>
                        <a:t>Engineering change</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725" b="1">
                          <a:solidFill>
                            <a:srgbClr val="FFFFFF"/>
                          </a:solidFill>
                          <a:latin typeface="Arial"/>
                          <a:ea typeface="Arial"/>
                          <a:cs typeface="Arial"/>
                        </a:rPr>
                        <a:t>Visible evidence</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784860">
                <a:tc>
                  <a:txBody>
                    <a:bodyPr/>
                    <a:lstStyle/>
                    <a:p>
                      <a:r>
                        <a:rPr sz="1725" b="0">
                          <a:solidFill>
                            <a:srgbClr val="172B3D"/>
                          </a:solidFill>
                          <a:latin typeface="Arial"/>
                          <a:ea typeface="Arial"/>
                          <a:cs typeface="Arial"/>
                        </a:rPr>
                        <a:t>Correct row after earlier candidates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725" b="0">
                          <a:solidFill>
                            <a:srgbClr val="172B3D"/>
                          </a:solidFill>
                          <a:latin typeface="Arial"/>
                          <a:ea typeface="Arial"/>
                          <a:cs typeface="Arial"/>
                        </a:rPr>
                        <a:t>Evaluate every candidate with the configured identity</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725" b="0">
                          <a:solidFill>
                            <a:srgbClr val="172B3D"/>
                          </a:solidFill>
                          <a:latin typeface="Arial"/>
                          <a:ea typeface="Arial"/>
                          <a:cs typeface="Arial"/>
                        </a:rPr>
                        <a:t>Selected location and data-equivalent candidates</a:t>
                      </a:r>
                    </a:p>
                  </a:txBody>
                  <a:tcPr marL="91440" marR="91440" marT="45720" marB="45720">
                    <a:lnR w="9525">
                      <a:solidFill>
                        <a:srgbClr val="D9E2E9"/>
                      </a:solidFill>
                      <a:prstDash val="solid"/>
                    </a:lnR>
                    <a:lnB w="9525">
                      <a:solidFill>
                        <a:srgbClr val="D9E2E9"/>
                      </a:solidFill>
                      <a:prstDash val="solid"/>
                    </a:lnB>
                    <a:solidFill>
                      <a:srgbClr val="FFFFFF"/>
                    </a:solidFill>
                  </a:tcPr>
                </a:tc>
              </a:tr>
              <a:tr h="784860">
                <a:tc>
                  <a:txBody>
                    <a:bodyPr/>
                    <a:lstStyle/>
                    <a:p>
                      <a:r>
                        <a:rPr sz="1725" b="0">
                          <a:solidFill>
                            <a:srgbClr val="172B3D"/>
                          </a:solidFill>
                          <a:latin typeface="Arial"/>
                          <a:ea typeface="Arial"/>
                          <a:cs typeface="Arial"/>
                        </a:rPr>
                        <a:t>Repeated identities blocked comparison</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725" b="0">
                          <a:solidFill>
                            <a:srgbClr val="172B3D"/>
                          </a:solidFill>
                          <a:latin typeface="Arial"/>
                          <a:ea typeface="Arial"/>
                          <a:cs typeface="Arial"/>
                        </a:rPr>
                        <a:t>Separate presence, data agreement and population counts</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725" b="0">
                          <a:solidFill>
                            <a:srgbClr val="172B3D"/>
                          </a:solidFill>
                          <a:latin typeface="Arial"/>
                          <a:ea typeface="Arial"/>
                          <a:cs typeface="Arial"/>
                        </a:rPr>
                        <a:t>Duplicates and opposite-output conflicts remain explicit</a:t>
                      </a:r>
                    </a:p>
                  </a:txBody>
                  <a:tcPr marL="91440" marR="91440" marT="45720" marB="45720">
                    <a:lnR w="9525">
                      <a:solidFill>
                        <a:srgbClr val="D9E2E9"/>
                      </a:solidFill>
                      <a:prstDash val="solid"/>
                    </a:lnR>
                    <a:lnB w="9525">
                      <a:solidFill>
                        <a:srgbClr val="D9E2E9"/>
                      </a:solidFill>
                      <a:prstDash val="solid"/>
                    </a:lnB>
                    <a:solidFill>
                      <a:srgbClr val="EAF0F4"/>
                    </a:solidFill>
                  </a:tcPr>
                </a:tc>
              </a:tr>
              <a:tr h="784860">
                <a:tc>
                  <a:txBody>
                    <a:bodyPr/>
                    <a:lstStyle/>
                    <a:p>
                      <a:r>
                        <a:rPr sz="1725" b="0">
                          <a:solidFill>
                            <a:srgbClr val="172B3D"/>
                          </a:solidFill>
                          <a:latin typeface="Arial"/>
                          <a:ea typeface="Arial"/>
                          <a:cs typeface="Arial"/>
                        </a:rPr>
                        <a:t>Numeric 1 versus text "1"</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725" b="0">
                          <a:solidFill>
                            <a:srgbClr val="172B3D"/>
                          </a:solidFill>
                          <a:latin typeface="Arial"/>
                          <a:ea typeface="Arial"/>
                          <a:cs typeface="Arial"/>
                        </a:rPr>
                        <a:t>Normalize lossless representations and preserve leading zeros</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725" b="0">
                          <a:solidFill>
                            <a:srgbClr val="172B3D"/>
                          </a:solidFill>
                          <a:latin typeface="Arial"/>
                          <a:ea typeface="Arial"/>
                          <a:cs typeface="Arial"/>
                        </a:rPr>
                        <a:t>Raw values and normalization method</a:t>
                      </a:r>
                    </a:p>
                  </a:txBody>
                  <a:tcPr marL="91440" marR="91440" marT="45720" marB="45720">
                    <a:lnR w="9525">
                      <a:solidFill>
                        <a:srgbClr val="D9E2E9"/>
                      </a:solidFill>
                      <a:prstDash val="solid"/>
                    </a:lnR>
                    <a:lnB w="9525">
                      <a:solidFill>
                        <a:srgbClr val="D9E2E9"/>
                      </a:solidFill>
                      <a:prstDash val="solid"/>
                    </a:lnB>
                    <a:solidFill>
                      <a:srgbClr val="FFFFFF"/>
                    </a:solidFill>
                  </a:tcPr>
                </a:tc>
              </a:tr>
              <a:tr h="784860">
                <a:tc>
                  <a:txBody>
                    <a:bodyPr/>
                    <a:lstStyle/>
                    <a:p>
                      <a:r>
                        <a:rPr sz="1725" b="0">
                          <a:solidFill>
                            <a:srgbClr val="172B3D"/>
                          </a:solidFill>
                          <a:latin typeface="Arial"/>
                          <a:ea typeface="Arial"/>
                          <a:cs typeface="Arial"/>
                        </a:rPr>
                        <a:t>Source sampling confused reference scope</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725" b="0">
                          <a:solidFill>
                            <a:srgbClr val="172B3D"/>
                          </a:solidFill>
                          <a:latin typeface="Arial"/>
                          <a:ea typeface="Arial"/>
                          <a:cs typeface="Arial"/>
                        </a:rPr>
                        <a:t>Search all rows in every supplied reference file</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725" b="0">
                          <a:solidFill>
                            <a:srgbClr val="172B3D"/>
                          </a:solidFill>
                          <a:latin typeface="Arial"/>
                          <a:ea typeface="Arial"/>
                          <a:cs typeface="Arial"/>
                        </a:rPr>
                        <a:t>Reference inventory, row locations and reasons</a:t>
                      </a:r>
                    </a:p>
                  </a:txBody>
                  <a:tcPr marL="91440" marR="91440" marT="45720" marB="45720">
                    <a:lnR w="9525">
                      <a:solidFill>
                        <a:srgbClr val="D9E2E9"/>
                      </a:solidFill>
                      <a:prstDash val="solid"/>
                    </a:lnR>
                    <a:lnB w="9525">
                      <a:solidFill>
                        <a:srgbClr val="D9E2E9"/>
                      </a:solidFill>
                      <a:prstDash val="solid"/>
                    </a:lnB>
                    <a:solidFill>
                      <a:srgbClr val="EAF0F4"/>
                    </a:solidFill>
                  </a:tcPr>
                </a:tc>
              </a:tr>
            </a:tbl>
          </a:graphicData>
        </a:graphic>
      </p:graphicFrame>
      <p:sp>
        <p:nvSpPr>
          <p:cNvPr id="4" name="">
            <a:extLst xmlns:a="http://schemas.openxmlformats.org/drawingml/2006/main">
              <a:ext uri="{FF2B5EF4-FFF2-40B4-BE49-F238E27FC236}">
                <a16:creationId xmlns:a16="http://schemas.microsoft.com/office/drawing/2014/main" id="{B922418D-8F64-4EBB-8C11-E6BE1984ABEE}"/>
              </a:ext>
            </a:extLst>
          </p:cNvPr>
          <p:cNvSpPr>
            <a:spLocks xmlns:a="http://schemas.openxmlformats.org/drawingml/2006/main" noGrp="1"/>
          </p:cNvSpPr>
          <p:nvPr/>
        </p:nvSpPr>
        <p:spPr>
          <a:xfrm xmlns:a="http://schemas.openxmlformats.org/drawingml/2006/main">
            <a:off x="609600" y="5857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2"/>
                </a:solidFill>
                <a:latin typeface="Arial"/>
                <a:ea typeface="Arial"/>
                <a:cs typeface="Arial"/>
              </a:defRPr>
            </a:defPPr>
          </a:lstStyle>
          <a:p xmlns:a="http://schemas.openxmlformats.org/drawingml/2006/main">
            <a:pPr>
              <a:defRPr sz="2175" b="1">
                <a:solidFill>
                  <a:srgbClr val="087F82"/>
                </a:solidFill>
                <a:latin typeface="Arial"/>
                <a:ea typeface="Arial"/>
                <a:cs typeface="Arial"/>
              </a:defRPr>
            </a:pPr>
            <a:r>
              <a:rPr sz="2175" b="1">
                <a:solidFill>
                  <a:srgbClr val="087F82"/>
                </a:solidFill>
                <a:latin typeface="Arial"/>
                <a:ea typeface="Arial"/>
                <a:cs typeface="Arial"/>
              </a:rPr>
              <a:t>A found row still needs the correct decision and matching data.</a:t>
            </a:r>
          </a:p>
        </p:txBody>
      </p:sp>
    </p:spTree>
    <p:extLst>
      <p:ext uri="{BB962C8B-B14F-4D97-AF65-F5344CB8AC3E}">
        <p14:creationId xmlns:p14="http://schemas.microsoft.com/office/powerpoint/2010/main" val="1700991868"/>
      </p:ext>
    </p:extLst>
  </p:cSld>
</p:sld>
</file>

<file path=ppt/slides/slide1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AAABCC-3DB5-462F-BDFC-9A65B1B5EC7D}"/>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Report engineering and portability</a:t>
            </a:r>
          </a:p>
        </p:txBody>
      </p:sp>
      <p:sp>
        <p:nvSpPr>
          <p:cNvPr id="2" name="">
            <a:extLst xmlns:a="http://schemas.openxmlformats.org/drawingml/2006/main">
              <a:ext uri="{FF2B5EF4-FFF2-40B4-BE49-F238E27FC236}">
                <a16:creationId xmlns:a16="http://schemas.microsoft.com/office/drawing/2014/main" id="{6691842E-2D14-401E-BC5A-1BF56491BD3A}"/>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0F87626A-9D25-4566-A73D-117C12FA2D6E}"/>
              </a:ext>
            </a:extLst>
          </p:cNvPr>
          <p:cNvGraphicFramePr/>
          <p:nvPr/>
        </p:nvGraphicFramePr>
        <p:xfrm>
          <a:off xmlns:a="http://schemas.openxmlformats.org/drawingml/2006/main" x="609600" y="1581150"/>
          <a:ext xmlns:a="http://schemas.openxmlformats.org/drawingml/2006/main" cx="10972800" cy="3905250"/>
        </p:xfrm>
        <a:graphic xmlns:a="http://schemas.openxmlformats.org/drawingml/2006/main">
          <a:graphicData uri="http://schemas.openxmlformats.org/drawingml/2006/table">
            <a:tbl>
              <a:tblPr/>
              <a:tblGrid>
                <a:gridCol w="4333875"/>
                <a:gridCol w="6638925"/>
              </a:tblGrid>
              <a:tr h="650875">
                <a:tc>
                  <a:txBody>
                    <a:bodyPr/>
                    <a:lstStyle/>
                    <a:p>
                      <a:r>
                        <a:rPr sz="1725" b="1">
                          <a:solidFill>
                            <a:srgbClr val="FFFFFF"/>
                          </a:solidFill>
                          <a:latin typeface="Arial"/>
                          <a:ea typeface="Arial"/>
                          <a:cs typeface="Arial"/>
                        </a:rPr>
                        <a:t>Review or runtime issue</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725" b="1">
                          <a:solidFill>
                            <a:srgbClr val="FFFFFF"/>
                          </a:solidFill>
                          <a:latin typeface="Arial"/>
                          <a:ea typeface="Arial"/>
                          <a:cs typeface="Arial"/>
                        </a:rPr>
                        <a:t>Implemented safeguard</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650875">
                <a:tc>
                  <a:txBody>
                    <a:bodyPr/>
                    <a:lstStyle/>
                    <a:p>
                      <a:r>
                        <a:rPr sz="1725" b="0">
                          <a:solidFill>
                            <a:srgbClr val="172B3D"/>
                          </a:solidFill>
                          <a:latin typeface="Arial"/>
                          <a:ea typeface="Arial"/>
                          <a:cs typeface="Arial"/>
                        </a:rPr>
                        <a:t>Files, rows and checks looked interchangeable</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725" b="0">
                          <a:solidFill>
                            <a:srgbClr val="172B3D"/>
                          </a:solidFill>
                          <a:latin typeface="Arial"/>
                          <a:ea typeface="Arial"/>
                          <a:cs typeface="Arial"/>
                        </a:rPr>
                        <a:t>Separate units and keep per-row comparison denominators</a:t>
                      </a:r>
                    </a:p>
                  </a:txBody>
                  <a:tcPr marL="91440" marR="91440" marT="45720" marB="45720">
                    <a:lnR w="9525">
                      <a:solidFill>
                        <a:srgbClr val="D9E2E9"/>
                      </a:solidFill>
                      <a:prstDash val="solid"/>
                    </a:lnR>
                    <a:lnB w="9525">
                      <a:solidFill>
                        <a:srgbClr val="D9E2E9"/>
                      </a:solidFill>
                      <a:prstDash val="solid"/>
                    </a:lnB>
                    <a:solidFill>
                      <a:srgbClr val="FFFFFF"/>
                    </a:solidFill>
                  </a:tcPr>
                </a:tc>
              </a:tr>
              <a:tr h="650875">
                <a:tc>
                  <a:txBody>
                    <a:bodyPr/>
                    <a:lstStyle/>
                    <a:p>
                      <a:r>
                        <a:rPr sz="1725" b="0">
                          <a:solidFill>
                            <a:srgbClr val="172B3D"/>
                          </a:solidFill>
                          <a:latin typeface="Arial"/>
                          <a:ea typeface="Arial"/>
                          <a:cs typeface="Arial"/>
                        </a:rPr>
                        <a:t>Too many physical HTML files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725" b="0">
                          <a:solidFill>
                            <a:srgbClr val="172B3D"/>
                          </a:solidFill>
                          <a:latin typeface="Arial"/>
                          <a:ea typeface="Arial"/>
                          <a:cs typeface="Arial"/>
                        </a:rPr>
                        <a:t>Package inner screens into master and stage HTML wrappers</a:t>
                      </a:r>
                    </a:p>
                  </a:txBody>
                  <a:tcPr marL="91440" marR="91440" marT="45720" marB="45720">
                    <a:lnR w="9525">
                      <a:solidFill>
                        <a:srgbClr val="D9E2E9"/>
                      </a:solidFill>
                      <a:prstDash val="solid"/>
                    </a:lnR>
                    <a:lnB w="9525">
                      <a:solidFill>
                        <a:srgbClr val="D9E2E9"/>
                      </a:solidFill>
                      <a:prstDash val="solid"/>
                    </a:lnB>
                    <a:solidFill>
                      <a:srgbClr val="EAF0F4"/>
                    </a:solidFill>
                  </a:tcPr>
                </a:tc>
              </a:tr>
              <a:tr h="650875">
                <a:tc>
                  <a:txBody>
                    <a:bodyPr/>
                    <a:lstStyle/>
                    <a:p>
                      <a:r>
                        <a:rPr sz="1725" b="0">
                          <a:solidFill>
                            <a:srgbClr val="172B3D"/>
                          </a:solidFill>
                          <a:latin typeface="Arial"/>
                          <a:ea typeface="Arial"/>
                          <a:cs typeface="Arial"/>
                        </a:rPr>
                        <a:t>Large row details overwhelmed the page</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725" b="0">
                          <a:solidFill>
                            <a:srgbClr val="172B3D"/>
                          </a:solidFill>
                          <a:latin typeface="Arial"/>
                          <a:ea typeface="Arial"/>
                          <a:cs typeface="Arial"/>
                        </a:rPr>
                        <a:t>Render row details lazily with pagination</a:t>
                      </a:r>
                    </a:p>
                  </a:txBody>
                  <a:tcPr marL="91440" marR="91440" marT="45720" marB="45720">
                    <a:lnR w="9525">
                      <a:solidFill>
                        <a:srgbClr val="D9E2E9"/>
                      </a:solidFill>
                      <a:prstDash val="solid"/>
                    </a:lnR>
                    <a:lnB w="9525">
                      <a:solidFill>
                        <a:srgbClr val="D9E2E9"/>
                      </a:solidFill>
                      <a:prstDash val="solid"/>
                    </a:lnB>
                    <a:solidFill>
                      <a:srgbClr val="FFFFFF"/>
                    </a:solidFill>
                  </a:tcPr>
                </a:tc>
              </a:tr>
              <a:tr h="650875">
                <a:tc>
                  <a:txBody>
                    <a:bodyPr/>
                    <a:lstStyle/>
                    <a:p>
                      <a:r>
                        <a:rPr sz="1725" b="0">
                          <a:solidFill>
                            <a:srgbClr val="172B3D"/>
                          </a:solidFill>
                          <a:latin typeface="Arial"/>
                          <a:ea typeface="Arial"/>
                          <a:cs typeface="Arial"/>
                        </a:rPr>
                        <a:t>Windows HTML encoding failure</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725" b="0">
                          <a:solidFill>
                            <a:srgbClr val="172B3D"/>
                          </a:solidFill>
                          <a:latin typeface="Arial"/>
                          <a:ea typeface="Arial"/>
                          <a:cs typeface="Arial"/>
                        </a:rPr>
                        <a:t>Decode supported encodings before compacting reports</a:t>
                      </a:r>
                    </a:p>
                  </a:txBody>
                  <a:tcPr marL="91440" marR="91440" marT="45720" marB="45720">
                    <a:lnR w="9525">
                      <a:solidFill>
                        <a:srgbClr val="D9E2E9"/>
                      </a:solidFill>
                      <a:prstDash val="solid"/>
                    </a:lnR>
                    <a:lnB w="9525">
                      <a:solidFill>
                        <a:srgbClr val="D9E2E9"/>
                      </a:solidFill>
                      <a:prstDash val="solid"/>
                    </a:lnB>
                    <a:solidFill>
                      <a:srgbClr val="EAF0F4"/>
                    </a:solidFill>
                  </a:tcPr>
                </a:tc>
              </a:tr>
              <a:tr h="650875">
                <a:tc>
                  <a:txBody>
                    <a:bodyPr/>
                    <a:lstStyle/>
                    <a:p>
                      <a:r>
                        <a:rPr sz="1725" b="0">
                          <a:solidFill>
                            <a:srgbClr val="172B3D"/>
                          </a:solidFill>
                          <a:latin typeface="Arial"/>
                          <a:ea typeface="Arial"/>
                          <a:cs typeface="Arial"/>
                        </a:rPr>
                        <a:t>Evidence links broke after packaging</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725" b="0">
                          <a:solidFill>
                            <a:srgbClr val="172B3D"/>
                          </a:solidFill>
                          <a:latin typeface="Arial"/>
                          <a:ea typeface="Arial"/>
                          <a:cs typeface="Arial"/>
                        </a:rPr>
                        <a:t>Resolve embedded routes and open the linked evidence section</a:t>
                      </a:r>
                    </a:p>
                  </a:txBody>
                  <a:tcPr marL="91440" marR="91440" marT="45720" marB="45720">
                    <a:lnR w="9525">
                      <a:solidFill>
                        <a:srgbClr val="D9E2E9"/>
                      </a:solidFill>
                      <a:prstDash val="solid"/>
                    </a:lnR>
                    <a:lnB w="9525">
                      <a:solidFill>
                        <a:srgbClr val="D9E2E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CA15943-1B02-481D-BBE7-3566103C2B7F}"/>
              </a:ext>
            </a:extLst>
          </p:cNvPr>
          <p:cNvSpPr>
            <a:spLocks xmlns:a="http://schemas.openxmlformats.org/drawingml/2006/main" noGrp="1"/>
          </p:cNvSpPr>
          <p:nvPr/>
        </p:nvSpPr>
        <p:spPr>
          <a:xfrm xmlns:a="http://schemas.openxmlformats.org/drawingml/2006/main">
            <a:off x="609600" y="58197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2"/>
                </a:solidFill>
                <a:latin typeface="Arial"/>
                <a:ea typeface="Arial"/>
                <a:cs typeface="Arial"/>
              </a:defRPr>
            </a:defPPr>
          </a:lstStyle>
          <a:p xmlns:a="http://schemas.openxmlformats.org/drawingml/2006/main">
            <a:pPr>
              <a:defRPr sz="2175" b="1">
                <a:solidFill>
                  <a:srgbClr val="087F82"/>
                </a:solidFill>
                <a:latin typeface="Arial"/>
                <a:ea typeface="Arial"/>
                <a:cs typeface="Arial"/>
              </a:defRPr>
            </a:pPr>
            <a:r>
              <a:rPr sz="2175" b="1">
                <a:solidFill>
                  <a:srgbClr val="087F82"/>
                </a:solidFill>
                <a:latin typeface="Arial"/>
                <a:ea typeface="Arial"/>
                <a:cs typeface="Arial"/>
              </a:rPr>
              <a:t>Readable summaries retain access to detailed evidence.</a:t>
            </a:r>
          </a:p>
        </p:txBody>
      </p:sp>
    </p:spTree>
    <p:extLst>
      <p:ext uri="{BB962C8B-B14F-4D97-AF65-F5344CB8AC3E}">
        <p14:creationId xmlns:p14="http://schemas.microsoft.com/office/powerpoint/2010/main" val="2013933230"/>
      </p:ext>
    </p:extLst>
  </p:cSld>
</p:sld>
</file>

<file path=ppt/slides/slide16.xml><?xml version="1.0" encoding="utf-8"?>
<p:sld xmlns:p="http://schemas.openxmlformats.org/presentationml/2006/main">
  <p:cSld>
    <p:bg>
      <p:bgPr>
        <a:solidFill xmlns:a="http://schemas.openxmlformats.org/drawingml/2006/main">
          <a:srgbClr val="142C4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9AD1CA-856A-41E6-BC97-48F2B00EE934}"/>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Current readiness and next acceptance steps</a:t>
            </a:r>
          </a:p>
        </p:txBody>
      </p:sp>
      <p:sp>
        <p:nvSpPr>
          <p:cNvPr id="2" name="">
            <a:extLst xmlns:a="http://schemas.openxmlformats.org/drawingml/2006/main">
              <a:ext uri="{FF2B5EF4-FFF2-40B4-BE49-F238E27FC236}">
                <a16:creationId xmlns:a16="http://schemas.microsoft.com/office/drawing/2014/main" id="{6238E0F5-667B-4993-A5BD-B2A69BCCADA2}"/>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6D8CD"/>
                </a:solidFill>
                <a:latin typeface="Arial"/>
                <a:ea typeface="Arial"/>
                <a:cs typeface="Arial"/>
              </a:defRPr>
            </a:defPPr>
          </a:lstStyle>
          <a:p xmlns:a="http://schemas.openxmlformats.org/drawingml/2006/main">
            <a:pPr>
              <a:buNone/>
              <a:defRPr sz="1200" b="0">
                <a:solidFill>
                  <a:srgbClr val="76D8CD"/>
                </a:solidFill>
                <a:latin typeface="Arial"/>
                <a:ea typeface="Arial"/>
                <a:cs typeface="Arial"/>
              </a:defRPr>
            </a:pPr>
            <a:r>
              <a:rPr sz="1200" b="0">
                <a:solidFill>
                  <a:srgbClr val="76D8CD"/>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73562C58-23D3-4253-8361-00628EFAB7EF}"/>
              </a:ext>
            </a:extLst>
          </p:cNvPr>
          <p:cNvSpPr>
            <a:spLocks xmlns:a="http://schemas.openxmlformats.org/drawingml/2006/main" noGrp="1"/>
          </p:cNvSpPr>
          <p:nvPr/>
        </p:nvSpPr>
        <p:spPr>
          <a:xfrm xmlns:a="http://schemas.openxmlformats.org/drawingml/2006/main">
            <a:off x="609600" y="14859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76D8CD"/>
                </a:solidFill>
                <a:latin typeface="Arial"/>
                <a:ea typeface="Arial"/>
                <a:cs typeface="Arial"/>
              </a:defRPr>
            </a:defPPr>
          </a:lstStyle>
          <a:p xmlns:a="http://schemas.openxmlformats.org/drawingml/2006/main">
            <a:pPr>
              <a:buNone/>
              <a:defRPr sz="3300" b="1">
                <a:solidFill>
                  <a:srgbClr val="76D8CD"/>
                </a:solidFill>
                <a:latin typeface="Arial"/>
                <a:ea typeface="Arial"/>
                <a:cs typeface="Arial"/>
              </a:defRPr>
            </a:pPr>
            <a:r>
              <a:rPr sz="3300" b="1">
                <a:solidFill>
                  <a:srgbClr val="76D8CD"/>
                </a:solidFill>
                <a:latin typeface="Arial"/>
                <a:ea typeface="Arial"/>
                <a:cs typeface="Arial"/>
              </a:rPr>
              <a:t>Ready for controlled production-data analysis</a:t>
            </a:r>
          </a:p>
          <a:p xmlns:a="http://schemas.openxmlformats.org/drawingml/2006/main">
            <a:pPr>
              <a:buNone/>
              <a:defRPr sz="3300" b="1">
                <a:solidFill>
                  <a:srgbClr val="76D8CD"/>
                </a:solidFill>
                <a:latin typeface="Arial"/>
                <a:ea typeface="Arial"/>
                <a:cs typeface="Arial"/>
              </a:defRPr>
            </a:pPr>
            <a:r>
              <a:rPr sz="3300" b="1">
                <a:solidFill>
                  <a:srgbClr val="76D8CD"/>
                </a:solidFill>
                <a:latin typeface="Arial"/>
                <a:ea typeface="Arial"/>
                <a:cs typeface="Arial"/>
              </a:rPr>
              <a:t>and regression validation</a:t>
            </a:r>
          </a:p>
        </p:txBody>
      </p:sp>
      <p:sp>
        <p:nvSpPr>
          <p:cNvPr id="4" name="">
            <a:extLst xmlns:a="http://schemas.openxmlformats.org/drawingml/2006/main">
              <a:ext uri="{FF2B5EF4-FFF2-40B4-BE49-F238E27FC236}">
                <a16:creationId xmlns:a16="http://schemas.microsoft.com/office/drawing/2014/main" id="{439F8B84-5845-4B89-9EE4-6C79B17EDBE2}"/>
              </a:ext>
            </a:extLst>
          </p:cNvPr>
          <p:cNvSpPr>
            <a:spLocks xmlns:a="http://schemas.openxmlformats.org/drawingml/2006/main" noGrp="1"/>
          </p:cNvSpPr>
          <p:nvPr/>
        </p:nvSpPr>
        <p:spPr>
          <a:xfrm xmlns:a="http://schemas.openxmlformats.org/drawingml/2006/main">
            <a:off x="609600" y="31623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FFFF"/>
                </a:solidFill>
                <a:latin typeface="Arial"/>
                <a:ea typeface="Arial"/>
                <a:cs typeface="Arial"/>
              </a:defRPr>
            </a:defPPr>
          </a:lstStyle>
          <a:p xmlns:a="http://schemas.openxmlformats.org/drawingml/2006/main">
            <a:pPr>
              <a:buNone/>
              <a:defRPr sz="2250" b="1">
                <a:solidFill>
                  <a:srgbClr val="FFFFFF"/>
                </a:solidFill>
                <a:latin typeface="Arial"/>
                <a:ea typeface="Arial"/>
                <a:cs typeface="Arial"/>
              </a:defRPr>
            </a:pPr>
            <a:r>
              <a:rPr sz="2250" b="1">
                <a:solidFill>
                  <a:srgbClr val="FFFFFF"/>
                </a:solidFill>
                <a:latin typeface="Arial"/>
                <a:ea typeface="Arial"/>
                <a:cs typeface="Arial"/>
              </a:rPr>
              <a:t>Demonstrate now</a:t>
            </a:r>
          </a:p>
        </p:txBody>
      </p:sp>
      <p:sp>
        <p:nvSpPr>
          <p:cNvPr id="5" name="">
            <a:extLst xmlns:a="http://schemas.openxmlformats.org/drawingml/2006/main">
              <a:ext uri="{FF2B5EF4-FFF2-40B4-BE49-F238E27FC236}">
                <a16:creationId xmlns:a16="http://schemas.microsoft.com/office/drawing/2014/main" id="{5ED09439-1C11-47BB-8C9B-DCA7FB67CF85}"/>
              </a:ext>
            </a:extLst>
          </p:cNvPr>
          <p:cNvSpPr>
            <a:spLocks xmlns:a="http://schemas.openxmlformats.org/drawingml/2006/main" noGrp="1"/>
          </p:cNvSpPr>
          <p:nvPr/>
        </p:nvSpPr>
        <p:spPr>
          <a:xfrm xmlns:a="http://schemas.openxmlformats.org/drawingml/2006/main">
            <a:off x="609600" y="3771900"/>
            <a:ext cx="5000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Arial"/>
                <a:ea typeface="Arial"/>
                <a:cs typeface="Arial"/>
              </a:defRPr>
            </a:defPPr>
          </a:lstStyle>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Configure a source and run the stages. Trace each decision to its row and reference evidence.</a:t>
            </a:r>
          </a:p>
        </p:txBody>
      </p:sp>
      <p:sp>
        <p:nvSpPr>
          <p:cNvPr id="6" name="">
            <a:extLst xmlns:a="http://schemas.openxmlformats.org/drawingml/2006/main">
              <a:ext uri="{FF2B5EF4-FFF2-40B4-BE49-F238E27FC236}">
                <a16:creationId xmlns:a16="http://schemas.microsoft.com/office/drawing/2014/main" id="{B870638B-F80E-41FE-922F-4C85650B3E04}"/>
              </a:ext>
            </a:extLst>
          </p:cNvPr>
          <p:cNvSpPr>
            <a:spLocks xmlns:a="http://schemas.openxmlformats.org/drawingml/2006/main" noGrp="1"/>
          </p:cNvSpPr>
          <p:nvPr/>
        </p:nvSpPr>
        <p:spPr>
          <a:xfrm xmlns:a="http://schemas.openxmlformats.org/drawingml/2006/main">
            <a:off x="6610350" y="31623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FFFF"/>
                </a:solidFill>
                <a:latin typeface="Arial"/>
                <a:ea typeface="Arial"/>
                <a:cs typeface="Arial"/>
              </a:defRPr>
            </a:defPPr>
          </a:lstStyle>
          <a:p xmlns:a="http://schemas.openxmlformats.org/drawingml/2006/main">
            <a:pPr>
              <a:buNone/>
              <a:defRPr sz="2250" b="1">
                <a:solidFill>
                  <a:srgbClr val="FFFFFF"/>
                </a:solidFill>
                <a:latin typeface="Arial"/>
                <a:ea typeface="Arial"/>
                <a:cs typeface="Arial"/>
              </a:defRPr>
            </a:pPr>
            <a:r>
              <a:rPr sz="2250" b="1">
                <a:solidFill>
                  <a:srgbClr val="FFFFFF"/>
                </a:solidFill>
                <a:latin typeface="Arial"/>
                <a:ea typeface="Arial"/>
                <a:cs typeface="Arial"/>
              </a:rPr>
              <a:t>Complete acceptance</a:t>
            </a:r>
          </a:p>
        </p:txBody>
      </p:sp>
      <p:sp>
        <p:nvSpPr>
          <p:cNvPr id="7" name="">
            <a:extLst xmlns:a="http://schemas.openxmlformats.org/drawingml/2006/main">
              <a:ext uri="{FF2B5EF4-FFF2-40B4-BE49-F238E27FC236}">
                <a16:creationId xmlns:a16="http://schemas.microsoft.com/office/drawing/2014/main" id="{01D5C204-14FE-4240-8F8F-C92EAEB00303}"/>
              </a:ext>
            </a:extLst>
          </p:cNvPr>
          <p:cNvSpPr>
            <a:spLocks xmlns:a="http://schemas.openxmlformats.org/drawingml/2006/main" noGrp="1"/>
          </p:cNvSpPr>
          <p:nvPr/>
        </p:nvSpPr>
        <p:spPr>
          <a:xfrm xmlns:a="http://schemas.openxmlformats.org/drawingml/2006/main">
            <a:off x="6610350" y="3771900"/>
            <a:ext cx="4857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Verify live AWS and representative loads. Align references and approve the final layout, required feeds and golden outputs.</a:t>
            </a:r>
          </a:p>
        </p:txBody>
      </p:sp>
      <p:sp>
        <p:nvSpPr>
          <p:cNvPr id="8" name="">
            <a:extLst xmlns:a="http://schemas.openxmlformats.org/drawingml/2006/main">
              <a:ext uri="{FF2B5EF4-FFF2-40B4-BE49-F238E27FC236}">
                <a16:creationId xmlns:a16="http://schemas.microsoft.com/office/drawing/2014/main" id="{494E8BDE-77FE-4E05-9AA7-FE7F2B5B114B}"/>
              </a:ext>
            </a:extLst>
          </p:cNvPr>
          <p:cNvSpPr>
            <a:spLocks xmlns:a="http://schemas.openxmlformats.org/drawingml/2006/main" noGrp="1"/>
          </p:cNvSpPr>
          <p:nvPr/>
        </p:nvSpPr>
        <p:spPr>
          <a:xfrm xmlns:a="http://schemas.openxmlformats.org/drawingml/2006/main">
            <a:off x="609600" y="58674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6D8CD"/>
                </a:solidFill>
                <a:latin typeface="Arial"/>
                <a:ea typeface="Arial"/>
                <a:cs typeface="Arial"/>
              </a:defRPr>
            </a:defPPr>
          </a:lstStyle>
          <a:p xmlns:a="http://schemas.openxmlformats.org/drawingml/2006/main">
            <a:pPr>
              <a:buNone/>
              <a:defRPr sz="2175" b="1">
                <a:solidFill>
                  <a:srgbClr val="76D8CD"/>
                </a:solidFill>
                <a:latin typeface="Arial"/>
                <a:ea typeface="Arial"/>
                <a:cs typeface="Arial"/>
              </a:defRPr>
            </a:pPr>
            <a:r>
              <a:rPr sz="2175" b="1">
                <a:solidFill>
                  <a:srgbClr val="76D8CD"/>
                </a:solidFill>
                <a:latin typeface="Arial"/>
                <a:ea typeface="Arial"/>
                <a:cs typeface="Arial"/>
              </a:rPr>
              <a:t>The delivered value: repeatable analysis with an explanation for each result.</a:t>
            </a:r>
          </a:p>
        </p:txBody>
      </p:sp>
    </p:spTree>
    <p:extLst>
      <p:ext uri="{BB962C8B-B14F-4D97-AF65-F5344CB8AC3E}">
        <p14:creationId xmlns:p14="http://schemas.microsoft.com/office/powerpoint/2010/main" val="6537037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2026-10-15T20:43:09.1860000Z</dcterms:created>
  <dcterms:modified xsi:type="dcterms:W3CDTF">2026-10-15T20:43:09.1860000Z</dcterms:modified>
</coreProperties>
</file>