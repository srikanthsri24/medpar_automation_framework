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1.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6d1df7d40c43a9" /><Relationship Type="http://schemas.openxmlformats.org/officeDocument/2006/relationships/extended-properties" Target="/docProps/app.xml" Id="Rb454e6d90d5340b5" /><Relationship Type="http://schemas.openxmlformats.org/officeDocument/2006/relationships/officeDocument" Target="/ppt/presentation.xml" Id="R1fae7b913f334474" /></Relationships>
</file>

<file path=ppt/presentation.xml><?xml version="1.0" encoding="utf-8"?>
<p:presentation xmlns:p="http://schemas.openxmlformats.org/presentationml/2006/main">
  <p:sldMasterIdLst>
    <p:sldMasterId xmlns:r="http://schemas.openxmlformats.org/officeDocument/2006/relationships" id="2147483648" r:id="Rc15ae355e6eb4c28"/>
  </p:sldMasterIdLst>
  <p:notesMasterIdLst>
    <p:notesMasterId xmlns:r="http://schemas.openxmlformats.org/officeDocument/2006/relationships" r:id="R1d33d809fb7b4e01"/>
  </p:notesMasterIdLst>
  <p:sldIdLst>
    <p:sldId xmlns:r="http://schemas.openxmlformats.org/officeDocument/2006/relationships" id="256" r:id="Re2b59d0c566d4e3d"/>
    <p:sldId xmlns:r="http://schemas.openxmlformats.org/officeDocument/2006/relationships" id="257" r:id="R64fd93e4fc22478f"/>
    <p:sldId xmlns:r="http://schemas.openxmlformats.org/officeDocument/2006/relationships" id="258" r:id="Rae3c2789322f497a"/>
    <p:sldId xmlns:r="http://schemas.openxmlformats.org/officeDocument/2006/relationships" id="259" r:id="R9ca4b9e2c60d4b11"/>
    <p:sldId xmlns:r="http://schemas.openxmlformats.org/officeDocument/2006/relationships" id="260" r:id="R1956961ac5474da5"/>
    <p:sldId xmlns:r="http://schemas.openxmlformats.org/officeDocument/2006/relationships" id="261" r:id="R755709ef47354f26"/>
    <p:sldId xmlns:r="http://schemas.openxmlformats.org/officeDocument/2006/relationships" id="262" r:id="R3ab9e0b5df33493e"/>
    <p:sldId xmlns:r="http://schemas.openxmlformats.org/officeDocument/2006/relationships" id="263" r:id="Rde150b2922f84b3f"/>
    <p:sldId xmlns:r="http://schemas.openxmlformats.org/officeDocument/2006/relationships" id="264" r:id="R59faec54cff24399"/>
    <p:sldId xmlns:r="http://schemas.openxmlformats.org/officeDocument/2006/relationships" id="265" r:id="R9d1d7e3269394b7c"/>
    <p:sldId xmlns:r="http://schemas.openxmlformats.org/officeDocument/2006/relationships" id="266" r:id="R6fad84cec74d4742"/>
    <p:sldId xmlns:r="http://schemas.openxmlformats.org/officeDocument/2006/relationships" id="267" r:id="R0f0efed7bbe7433a"/>
    <p:sldId xmlns:r="http://schemas.openxmlformats.org/officeDocument/2006/relationships" id="268" r:id="R2a0ef90decf74831"/>
    <p:sldId xmlns:r="http://schemas.openxmlformats.org/officeDocument/2006/relationships" id="269" r:id="R63c0bf6ac2044191"/>
    <p:sldId xmlns:r="http://schemas.openxmlformats.org/officeDocument/2006/relationships" id="270" r:id="Rc303cd8473f04626"/>
    <p:sldId xmlns:r="http://schemas.openxmlformats.org/officeDocument/2006/relationships" id="271" r:id="R796dcb5696c6445a"/>
    <p:sldId xmlns:r="http://schemas.openxmlformats.org/officeDocument/2006/relationships" id="272" r:id="R0370eb0cc3994753"/>
    <p:sldId xmlns:r="http://schemas.openxmlformats.org/officeDocument/2006/relationships" id="273" r:id="Rd1c7b556c43b4f35"/>
    <p:sldId xmlns:r="http://schemas.openxmlformats.org/officeDocument/2006/relationships" id="274" r:id="Ra13c4cd511ea4c26"/>
    <p:sldId xmlns:r="http://schemas.openxmlformats.org/officeDocument/2006/relationships" id="275" r:id="R1011559ff555430f"/>
    <p:sldId xmlns:r="http://schemas.openxmlformats.org/officeDocument/2006/relationships" id="276" r:id="Rc8dc7b5518a74ad0"/>
    <p:sldId xmlns:r="http://schemas.openxmlformats.org/officeDocument/2006/relationships" id="277" r:id="Rb96f1f85d4fd48a3"/>
    <p:sldId xmlns:r="http://schemas.openxmlformats.org/officeDocument/2006/relationships" id="278" r:id="R4cc619a7b43d4a45"/>
    <p:sldId xmlns:r="http://schemas.openxmlformats.org/officeDocument/2006/relationships" id="279" r:id="R2097a52a24dd4a40"/>
    <p:sldId xmlns:r="http://schemas.openxmlformats.org/officeDocument/2006/relationships" id="280" r:id="R55ce6e2b4cf344ad"/>
    <p:sldId xmlns:r="http://schemas.openxmlformats.org/officeDocument/2006/relationships" id="281" r:id="R07bba79040714d39"/>
    <p:sldId xmlns:r="http://schemas.openxmlformats.org/officeDocument/2006/relationships" id="282" r:id="Rd30a6657364e4de2"/>
    <p:sldId xmlns:r="http://schemas.openxmlformats.org/officeDocument/2006/relationships" id="283" r:id="Rf554132339944000"/>
    <p:sldId xmlns:r="http://schemas.openxmlformats.org/officeDocument/2006/relationships" id="284" r:id="Ra19a314fa25a48e3"/>
    <p:sldId xmlns:r="http://schemas.openxmlformats.org/officeDocument/2006/relationships" id="285" r:id="R7f83b7caf0a74d49"/>
    <p:sldId xmlns:r="http://schemas.openxmlformats.org/officeDocument/2006/relationships" id="286" r:id="R22f43df274114758"/>
    <p:sldId xmlns:r="http://schemas.openxmlformats.org/officeDocument/2006/relationships" id="287" r:id="R5b50249c07d247d1"/>
    <p:sldId xmlns:r="http://schemas.openxmlformats.org/officeDocument/2006/relationships" id="288" r:id="Rb87c7e16fd91455b"/>
    <p:sldId xmlns:r="http://schemas.openxmlformats.org/officeDocument/2006/relationships" id="289" r:id="R1e67ea60b686418a"/>
    <p:sldId xmlns:r="http://schemas.openxmlformats.org/officeDocument/2006/relationships" id="290" r:id="R7613ab5c24aa4dd1"/>
    <p:sldId xmlns:r="http://schemas.openxmlformats.org/officeDocument/2006/relationships" id="291" r:id="R5c78d0e5c474421b"/>
    <p:sldId xmlns:r="http://schemas.openxmlformats.org/officeDocument/2006/relationships" id="292" r:id="Ra3770ab6895f46c2"/>
    <p:sldId xmlns:r="http://schemas.openxmlformats.org/officeDocument/2006/relationships" id="293" r:id="R4e09f6fdb332468a"/>
    <p:sldId xmlns:r="http://schemas.openxmlformats.org/officeDocument/2006/relationships" id="294" r:id="R99a00eb6d99d429f"/>
    <p:sldId xmlns:r="http://schemas.openxmlformats.org/officeDocument/2006/relationships" id="295" r:id="Rc2495060e2b94bf7"/>
    <p:sldId xmlns:r="http://schemas.openxmlformats.org/officeDocument/2006/relationships" id="296" r:id="R1272dfc1c6124bbd"/>
    <p:sldId xmlns:r="http://schemas.openxmlformats.org/officeDocument/2006/relationships" id="297" r:id="R3780898556844b9f"/>
    <p:sldId xmlns:r="http://schemas.openxmlformats.org/officeDocument/2006/relationships" id="298" r:id="R158701fbab094365"/>
    <p:sldId xmlns:r="http://schemas.openxmlformats.org/officeDocument/2006/relationships" id="299" r:id="Rb2421c6d51174919"/>
    <p:sldId xmlns:r="http://schemas.openxmlformats.org/officeDocument/2006/relationships" id="300" r:id="R2833e7abf4da45c4"/>
    <p:sldId xmlns:r="http://schemas.openxmlformats.org/officeDocument/2006/relationships" id="301" r:id="Rd6df9e6cada54e9f"/>
    <p:sldId xmlns:r="http://schemas.openxmlformats.org/officeDocument/2006/relationships" id="302" r:id="R7bc6a71d45a847c4"/>
    <p:sldId xmlns:r="http://schemas.openxmlformats.org/officeDocument/2006/relationships" id="303" r:id="R7e1efb793c3047e8"/>
    <p:sldId xmlns:r="http://schemas.openxmlformats.org/officeDocument/2006/relationships" id="304" r:id="Re6b6879fa8f34b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37fe0fafb44eeb" /><Relationship Type="http://schemas.openxmlformats.org/officeDocument/2006/relationships/slideMaster" Target="/ppt/slideMasters/slideMaster1.xml" Id="Rc15ae355e6eb4c28" /><Relationship Type="http://schemas.openxmlformats.org/officeDocument/2006/relationships/notesMaster" Target="/ppt/notesMasters/notesMaster1.xml" Id="R1d33d809fb7b4e01" /><Relationship Type="http://schemas.openxmlformats.org/officeDocument/2006/relationships/presProps" Target="/ppt/presProps.xml" Id="R8f3a75dbde5849c7" /><Relationship Type="http://schemas.openxmlformats.org/officeDocument/2006/relationships/tableStyles" Target="/ppt/tableStyles.xml" Id="R66d56a7881154c89" /><Relationship Type="http://schemas.openxmlformats.org/officeDocument/2006/relationships/slide" Target="/ppt/slides/slide1.xml" Id="Re2b59d0c566d4e3d" /><Relationship Type="http://schemas.openxmlformats.org/officeDocument/2006/relationships/slide" Target="/ppt/slides/slide2.xml" Id="R64fd93e4fc22478f" /><Relationship Type="http://schemas.openxmlformats.org/officeDocument/2006/relationships/slide" Target="/ppt/slides/slide3.xml" Id="Rae3c2789322f497a" /><Relationship Type="http://schemas.openxmlformats.org/officeDocument/2006/relationships/slide" Target="/ppt/slides/slide4.xml" Id="R9ca4b9e2c60d4b11" /><Relationship Type="http://schemas.openxmlformats.org/officeDocument/2006/relationships/slide" Target="/ppt/slides/slide5.xml" Id="R1956961ac5474da5" /><Relationship Type="http://schemas.openxmlformats.org/officeDocument/2006/relationships/slide" Target="/ppt/slides/slide6.xml" Id="R755709ef47354f26" /><Relationship Type="http://schemas.openxmlformats.org/officeDocument/2006/relationships/slide" Target="/ppt/slides/slide7.xml" Id="R3ab9e0b5df33493e" /><Relationship Type="http://schemas.openxmlformats.org/officeDocument/2006/relationships/slide" Target="/ppt/slides/slide8.xml" Id="Rde150b2922f84b3f" /><Relationship Type="http://schemas.openxmlformats.org/officeDocument/2006/relationships/slide" Target="/ppt/slides/slide9.xml" Id="R59faec54cff24399" /><Relationship Type="http://schemas.openxmlformats.org/officeDocument/2006/relationships/slide" Target="/ppt/slides/slide10.xml" Id="R9d1d7e3269394b7c" /><Relationship Type="http://schemas.openxmlformats.org/officeDocument/2006/relationships/slide" Target="/ppt/slides/slide11.xml" Id="R6fad84cec74d4742" /><Relationship Type="http://schemas.openxmlformats.org/officeDocument/2006/relationships/slide" Target="/ppt/slides/slide12.xml" Id="R0f0efed7bbe7433a" /><Relationship Type="http://schemas.openxmlformats.org/officeDocument/2006/relationships/slide" Target="/ppt/slides/slide13.xml" Id="R2a0ef90decf74831" /><Relationship Type="http://schemas.openxmlformats.org/officeDocument/2006/relationships/slide" Target="/ppt/slides/slide14.xml" Id="R63c0bf6ac2044191" /><Relationship Type="http://schemas.openxmlformats.org/officeDocument/2006/relationships/slide" Target="/ppt/slides/slide15.xml" Id="Rc303cd8473f04626" /><Relationship Type="http://schemas.openxmlformats.org/officeDocument/2006/relationships/slide" Target="/ppt/slides/slide16.xml" Id="R796dcb5696c6445a" /><Relationship Type="http://schemas.openxmlformats.org/officeDocument/2006/relationships/slide" Target="/ppt/slides/slide17.xml" Id="R0370eb0cc3994753" /><Relationship Type="http://schemas.openxmlformats.org/officeDocument/2006/relationships/slide" Target="/ppt/slides/slide18.xml" Id="Rd1c7b556c43b4f35" /><Relationship Type="http://schemas.openxmlformats.org/officeDocument/2006/relationships/slide" Target="/ppt/slides/slide19.xml" Id="Ra13c4cd511ea4c26" /><Relationship Type="http://schemas.openxmlformats.org/officeDocument/2006/relationships/slide" Target="/ppt/slides/slide20.xml" Id="R1011559ff555430f" /><Relationship Type="http://schemas.openxmlformats.org/officeDocument/2006/relationships/slide" Target="/ppt/slides/slide21.xml" Id="Rc8dc7b5518a74ad0" /><Relationship Type="http://schemas.openxmlformats.org/officeDocument/2006/relationships/slide" Target="/ppt/slides/slide22.xml" Id="Rb96f1f85d4fd48a3" /><Relationship Type="http://schemas.openxmlformats.org/officeDocument/2006/relationships/slide" Target="/ppt/slides/slide23.xml" Id="R4cc619a7b43d4a45" /><Relationship Type="http://schemas.openxmlformats.org/officeDocument/2006/relationships/slide" Target="/ppt/slides/slide24.xml" Id="R2097a52a24dd4a40" /><Relationship Type="http://schemas.openxmlformats.org/officeDocument/2006/relationships/slide" Target="/ppt/slides/slide25.xml" Id="R55ce6e2b4cf344ad" /><Relationship Type="http://schemas.openxmlformats.org/officeDocument/2006/relationships/slide" Target="/ppt/slides/slide26.xml" Id="R07bba79040714d39" /><Relationship Type="http://schemas.openxmlformats.org/officeDocument/2006/relationships/slide" Target="/ppt/slides/slide27.xml" Id="Rd30a6657364e4de2" /><Relationship Type="http://schemas.openxmlformats.org/officeDocument/2006/relationships/slide" Target="/ppt/slides/slide28.xml" Id="Rf554132339944000" /><Relationship Type="http://schemas.openxmlformats.org/officeDocument/2006/relationships/slide" Target="/ppt/slides/slide29.xml" Id="Ra19a314fa25a48e3" /><Relationship Type="http://schemas.openxmlformats.org/officeDocument/2006/relationships/slide" Target="/ppt/slides/slide30.xml" Id="R7f83b7caf0a74d49" /><Relationship Type="http://schemas.openxmlformats.org/officeDocument/2006/relationships/slide" Target="/ppt/slides/slide31.xml" Id="R22f43df274114758" /><Relationship Type="http://schemas.openxmlformats.org/officeDocument/2006/relationships/slide" Target="/ppt/slides/slide32.xml" Id="R5b50249c07d247d1" /><Relationship Type="http://schemas.openxmlformats.org/officeDocument/2006/relationships/slide" Target="/ppt/slides/slide33.xml" Id="Rb87c7e16fd91455b" /><Relationship Type="http://schemas.openxmlformats.org/officeDocument/2006/relationships/slide" Target="/ppt/slides/slide34.xml" Id="R1e67ea60b686418a" /><Relationship Type="http://schemas.openxmlformats.org/officeDocument/2006/relationships/slide" Target="/ppt/slides/slide35.xml" Id="R7613ab5c24aa4dd1" /><Relationship Type="http://schemas.openxmlformats.org/officeDocument/2006/relationships/slide" Target="/ppt/slides/slide36.xml" Id="R5c78d0e5c474421b" /><Relationship Type="http://schemas.openxmlformats.org/officeDocument/2006/relationships/slide" Target="/ppt/slides/slide37.xml" Id="Ra3770ab6895f46c2" /><Relationship Type="http://schemas.openxmlformats.org/officeDocument/2006/relationships/slide" Target="/ppt/slides/slide38.xml" Id="R4e09f6fdb332468a" /><Relationship Type="http://schemas.openxmlformats.org/officeDocument/2006/relationships/slide" Target="/ppt/slides/slide39.xml" Id="R99a00eb6d99d429f" /><Relationship Type="http://schemas.openxmlformats.org/officeDocument/2006/relationships/slide" Target="/ppt/slides/slide40.xml" Id="Rc2495060e2b94bf7" /><Relationship Type="http://schemas.openxmlformats.org/officeDocument/2006/relationships/slide" Target="/ppt/slides/slide41.xml" Id="R1272dfc1c6124bbd" /><Relationship Type="http://schemas.openxmlformats.org/officeDocument/2006/relationships/slide" Target="/ppt/slides/slide42.xml" Id="R3780898556844b9f" /><Relationship Type="http://schemas.openxmlformats.org/officeDocument/2006/relationships/slide" Target="/ppt/slides/slide43.xml" Id="R158701fbab094365" /><Relationship Type="http://schemas.openxmlformats.org/officeDocument/2006/relationships/slide" Target="/ppt/slides/slide44.xml" Id="Rb2421c6d51174919" /><Relationship Type="http://schemas.openxmlformats.org/officeDocument/2006/relationships/slide" Target="/ppt/slides/slide45.xml" Id="R2833e7abf4da45c4" /><Relationship Type="http://schemas.openxmlformats.org/officeDocument/2006/relationships/slide" Target="/ppt/slides/slide46.xml" Id="Rd6df9e6cada54e9f" /><Relationship Type="http://schemas.openxmlformats.org/officeDocument/2006/relationships/slide" Target="/ppt/slides/slide47.xml" Id="R7bc6a71d45a847c4" /><Relationship Type="http://schemas.openxmlformats.org/officeDocument/2006/relationships/slide" Target="/ppt/slides/slide48.xml" Id="R7e1efb793c3047e8" /><Relationship Type="http://schemas.openxmlformats.org/officeDocument/2006/relationships/slide" Target="/ppt/slides/slide49.xml" Id="Re6b6879fa8f34b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ba0f89731645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92b430160348a7" /><Relationship Type="http://schemas.openxmlformats.org/officeDocument/2006/relationships/notesMaster" Target="/ppt/notesMasters/notesMaster1.xml" Id="R5e1704ffef1044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87f80f73aa460d" /><Relationship Type="http://schemas.openxmlformats.org/officeDocument/2006/relationships/notesMaster" Target="/ppt/notesMasters/notesMaster1.xml" Id="Ra592876c5ee940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e451449e51464c" /><Relationship Type="http://schemas.openxmlformats.org/officeDocument/2006/relationships/notesMaster" Target="/ppt/notesMasters/notesMaster1.xml" Id="R77f29d30510d43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ffd01007ba4f21" /><Relationship Type="http://schemas.openxmlformats.org/officeDocument/2006/relationships/notesMaster" Target="/ppt/notesMasters/notesMaster1.xml" Id="R00710362c5ff44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236a8ec5964910" /><Relationship Type="http://schemas.openxmlformats.org/officeDocument/2006/relationships/notesMaster" Target="/ppt/notesMasters/notesMaster1.xml" Id="R0d81970d180748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69ae376eaa4a70" /><Relationship Type="http://schemas.openxmlformats.org/officeDocument/2006/relationships/notesMaster" Target="/ppt/notesMasters/notesMaster1.xml" Id="Rd87e009aa9d640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f3a57fc5684120" /><Relationship Type="http://schemas.openxmlformats.org/officeDocument/2006/relationships/notesMaster" Target="/ppt/notesMasters/notesMaster1.xml" Id="R70b63e8a045545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7192e9f2ad4372" /><Relationship Type="http://schemas.openxmlformats.org/officeDocument/2006/relationships/notesMaster" Target="/ppt/notesMasters/notesMaster1.xml" Id="Rff15d12d2ec346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00076e8539452c" /><Relationship Type="http://schemas.openxmlformats.org/officeDocument/2006/relationships/notesMaster" Target="/ppt/notesMasters/notesMaster1.xml" Id="R080241bad91541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74dfb638354b2f" /><Relationship Type="http://schemas.openxmlformats.org/officeDocument/2006/relationships/notesMaster" Target="/ppt/notesMasters/notesMaster1.xml" Id="R500a1f0353cf49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5bc79b99294c50" /><Relationship Type="http://schemas.openxmlformats.org/officeDocument/2006/relationships/notesMaster" Target="/ppt/notesMasters/notesMaster1.xml" Id="R671b61704bd74d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6c2cb46a0b4f5b" /><Relationship Type="http://schemas.openxmlformats.org/officeDocument/2006/relationships/notesMaster" Target="/ppt/notesMasters/notesMaster1.xml" Id="Ra10fb0ae26e04c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2980b20c704a33" /><Relationship Type="http://schemas.openxmlformats.org/officeDocument/2006/relationships/notesMaster" Target="/ppt/notesMasters/notesMaster1.xml" Id="R3e6a94345e5f4c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e2267812c54d87" /><Relationship Type="http://schemas.openxmlformats.org/officeDocument/2006/relationships/notesMaster" Target="/ppt/notesMasters/notesMaster1.xml" Id="R74bdf447732b4a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3d3f17a5be42a4" /><Relationship Type="http://schemas.openxmlformats.org/officeDocument/2006/relationships/notesMaster" Target="/ppt/notesMasters/notesMaster1.xml" Id="R2136ae64d4b047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209c7386854a6e" /><Relationship Type="http://schemas.openxmlformats.org/officeDocument/2006/relationships/notesMaster" Target="/ppt/notesMasters/notesMaster1.xml" Id="R66aa1371cda544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cf31b0416b4a32" /><Relationship Type="http://schemas.openxmlformats.org/officeDocument/2006/relationships/notesMaster" Target="/ppt/notesMasters/notesMaster1.xml" Id="Rc94712aaf0d645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1f0c88513446d2" /><Relationship Type="http://schemas.openxmlformats.org/officeDocument/2006/relationships/notesMaster" Target="/ppt/notesMasters/notesMaster1.xml" Id="R8785b9845c7b49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2e67d1b92d4cd7" /><Relationship Type="http://schemas.openxmlformats.org/officeDocument/2006/relationships/notesMaster" Target="/ppt/notesMasters/notesMaster1.xml" Id="Rd27729102c3a41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646fca01e5411a" /><Relationship Type="http://schemas.openxmlformats.org/officeDocument/2006/relationships/notesMaster" Target="/ppt/notesMasters/notesMaster1.xml" Id="R9c8046c67936461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b92f04630404a9c" /><Relationship Type="http://schemas.openxmlformats.org/officeDocument/2006/relationships/notesMaster" Target="/ppt/notesMasters/notesMaster1.xml" Id="R4cacc34e03c146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cddd8fca7e49a6" /><Relationship Type="http://schemas.openxmlformats.org/officeDocument/2006/relationships/notesMaster" Target="/ppt/notesMasters/notesMaster1.xml" Id="Rfa0b164e7a4247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62033b6e490406f" /><Relationship Type="http://schemas.openxmlformats.org/officeDocument/2006/relationships/notesMaster" Target="/ppt/notesMasters/notesMaster1.xml" Id="R3242cba3c5b34c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46c3f2e65934d02" /><Relationship Type="http://schemas.openxmlformats.org/officeDocument/2006/relationships/notesMaster" Target="/ppt/notesMasters/notesMaster1.xml" Id="R8e8dbb703cc044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5a0126d432438f" /><Relationship Type="http://schemas.openxmlformats.org/officeDocument/2006/relationships/notesMaster" Target="/ppt/notesMasters/notesMaster1.xml" Id="R2c0dfba0001d41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315f57576214bea" /><Relationship Type="http://schemas.openxmlformats.org/officeDocument/2006/relationships/notesMaster" Target="/ppt/notesMasters/notesMaster1.xml" Id="R43c58777fed04b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b99742d20df414a" /><Relationship Type="http://schemas.openxmlformats.org/officeDocument/2006/relationships/notesMaster" Target="/ppt/notesMasters/notesMaster1.xml" Id="R5ad22879c0254e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b9a2deec854110" /><Relationship Type="http://schemas.openxmlformats.org/officeDocument/2006/relationships/notesMaster" Target="/ppt/notesMasters/notesMaster1.xml" Id="R1fbeb904b5b044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07cd4bac504dd9" /><Relationship Type="http://schemas.openxmlformats.org/officeDocument/2006/relationships/notesMaster" Target="/ppt/notesMasters/notesMaster1.xml" Id="Rbd1909652bb941e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f0f9f0b8a2c445c" /><Relationship Type="http://schemas.openxmlformats.org/officeDocument/2006/relationships/notesMaster" Target="/ppt/notesMasters/notesMaster1.xml" Id="Rb8e86fef170f48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9b6af39b5542d1" /><Relationship Type="http://schemas.openxmlformats.org/officeDocument/2006/relationships/notesMaster" Target="/ppt/notesMasters/notesMaster1.xml" Id="Re2e7de313208420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3989d50a6a04e24" /><Relationship Type="http://schemas.openxmlformats.org/officeDocument/2006/relationships/notesMaster" Target="/ppt/notesMasters/notesMaster1.xml" Id="Radcaa8e6b6884b5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ad2996f8ca2428f" /><Relationship Type="http://schemas.openxmlformats.org/officeDocument/2006/relationships/notesMaster" Target="/ppt/notesMasters/notesMaster1.xml" Id="Rbeb68f3f359549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a42b3a9f45740c7" /><Relationship Type="http://schemas.openxmlformats.org/officeDocument/2006/relationships/notesMaster" Target="/ppt/notesMasters/notesMaster1.xml" Id="R32aef1200e6645c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6cdbefdbe954c20" /><Relationship Type="http://schemas.openxmlformats.org/officeDocument/2006/relationships/notesMaster" Target="/ppt/notesMasters/notesMaster1.xml" Id="R3c474f7261c1475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1e5e7d49414428" /><Relationship Type="http://schemas.openxmlformats.org/officeDocument/2006/relationships/notesMaster" Target="/ppt/notesMasters/notesMaster1.xml" Id="R5ceb9b33fb8a45c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77a2286f4b9460a" /><Relationship Type="http://schemas.openxmlformats.org/officeDocument/2006/relationships/notesMaster" Target="/ppt/notesMasters/notesMaster1.xml" Id="Rb86c571245e949f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1990d7a3de4cb3" /><Relationship Type="http://schemas.openxmlformats.org/officeDocument/2006/relationships/notesMaster" Target="/ppt/notesMasters/notesMaster1.xml" Id="R0cac49ad70864c3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39748dd7c054155" /><Relationship Type="http://schemas.openxmlformats.org/officeDocument/2006/relationships/notesMaster" Target="/ppt/notesMasters/notesMaster1.xml" Id="Rf1a5077b45524cd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3cda79660fa408d" /><Relationship Type="http://schemas.openxmlformats.org/officeDocument/2006/relationships/notesMaster" Target="/ppt/notesMasters/notesMaster1.xml" Id="R3e2798c6ba38438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a9ebf54d9af4ef1" /><Relationship Type="http://schemas.openxmlformats.org/officeDocument/2006/relationships/notesMaster" Target="/ppt/notesMasters/notesMaster1.xml" Id="R5d4536be5f8e4be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2eab54585ac40ce" /><Relationship Type="http://schemas.openxmlformats.org/officeDocument/2006/relationships/notesMaster" Target="/ppt/notesMasters/notesMaster1.xml" Id="R546cd6fdcc614c8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849d32d438d4358" /><Relationship Type="http://schemas.openxmlformats.org/officeDocument/2006/relationships/notesMaster" Target="/ppt/notesMasters/notesMaster1.xml" Id="R4c1080ac220e41c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af2f88032b04e6c" /><Relationship Type="http://schemas.openxmlformats.org/officeDocument/2006/relationships/notesMaster" Target="/ppt/notesMasters/notesMaster1.xml" Id="R3a1acf12e12a452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921417958124539" /><Relationship Type="http://schemas.openxmlformats.org/officeDocument/2006/relationships/notesMaster" Target="/ppt/notesMasters/notesMaster1.xml" Id="R3968050e5486477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a978d133e944b17" /><Relationship Type="http://schemas.openxmlformats.org/officeDocument/2006/relationships/notesMaster" Target="/ppt/notesMasters/notesMaster1.xml" Id="R4693e9ff544848b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e401087bb614b90" /><Relationship Type="http://schemas.openxmlformats.org/officeDocument/2006/relationships/notesMaster" Target="/ppt/notesMasters/notesMaster1.xml" Id="Ref7ac02c07f344f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85cb6ec8ac34ec9" /><Relationship Type="http://schemas.openxmlformats.org/officeDocument/2006/relationships/notesMaster" Target="/ppt/notesMasters/notesMaster1.xml" Id="Rc3b007962c104c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8f10cc4ef0c4696" /><Relationship Type="http://schemas.openxmlformats.org/officeDocument/2006/relationships/notesMaster" Target="/ppt/notesMasters/notesMaster1.xml" Id="Rc8778e44cdeb49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purpose: understand the workflow, see the implemented checks, and learn how to read evidence. No prior knowledge of MedPAR is assumed. Cover artwork is a conceptual illustration generated with OpenAI image generation. It depicts no real patient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QA as an independent review. Supplied source files provide the operands. The actual file contains the delivered result. Our Python validators calculate what should happen and report agreement or disagreement. The synthetic demo generator is separate from production validation.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definitions before introducing field codes. A claim can have versions or adjustments. Different admissions must remain distinguishable. Validation totals count checks rather than patients.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business processing sequence. The QA framework validates the files supplied at these boundaries. It does not generate the entire production chain. Final MEDPAR production files were not supplied.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roles exactly. Source contains original operands. Actual output is what the processing system produced. Approved expected output is a trusted independent reference. Optional reference feeds supply death or SSI facts. Missing inputs can block checks.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Action groups by record type, HICN, provider, from and through dates. Admission is excluded from this group. The router chooses the first applicable rule. KEEP/DROP are business decisions. PASS/FAIL describe whether actual output agrees.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Rule3 example. Both records share the same grouping fields, query code1 and internal claim number CLAIM-A. Processing chronology differs. The later version is retained and the earlier version dropped. Query code is a category used by the documented decision rules. A complete ordering tie would block selection.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window is run year plus three preceding calendar years. SNF uses admission with from-date fallback. IP uses the group through date. Calendar years are distinct from a rolling period of four times365 days.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calendar-year example. The four allowed years are2026,2025,2024,2023. Reference year2022 falls outside the window. Actual indicators are checked against expected Y0–Y3 plus0109/1012 month band.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Stay identity uses HICN, provider, admission date and split indicator. Different admissions remain separate. The sort clarification removes admission from a sort key, not from all matching identities.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Both bills have the same beneficiary, provider, admission and split indicator. Dates are contiguous. stay_from_date takes the low date, stay_thru_date the high date, and totalCharges is a Decimal sum. This is a charge example rather than a claim-routing example.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stay/merge_rules.py: FIRST_FIELDS, LAST_FIELDS, FIRST_FOUND_FIELDS, HIGH_DATES, LOW_DATES and SUM_FIELDS. Revenue lines concatenate. Some arrays come from the latest selected claim. A field-specific policy must be checked before describing a generic merge.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Supported calculations independently use source operands and compare actual output. The V3 registry provides200-field comparison coverage, which does not mean every field is independently derived or the entire physical layout approved.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calculation. Discharged LOS is max(1,through minus admission). Status30/C signals undischarged for the documented day addition. Same-day LOS remains at least1. Read intermediate/business_rules.py for the supported rule.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calculation. The rule rounds the rate to whole dollars before multiplication. Rounding12.50×3 after multiplication would produce a different result. Whole-dollar ROUND_HALF_UP handles ties explicitly. Utilization days must be a nonnegative integer.</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missing-birth-date example. Zero DOB is a missing value rather than a valid birth date. A trusted DOB is required to derive age. Observed age-1 does not provide the missing birth date. Production records supplied zero DOBs.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Final MEDPAR checks are implemented. No identifiable production Final MEDPAR dataset was supplied. Physical-byte certification needs raw output and an approved layout and encoding.</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source-to-output rule keeps exactly the first3000 bytes of a3050-byte source. The50-byte trailer is excluded. Equal output length alone does not prove equality. Golden comparison checks every byte. JSON text length cannot substitute for the raw fixed-width record.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shows the executable QA flow. Configuration enters via run_commands.py or a YAML manifest. Discovery and readers preserve provenance. Pipeline selects processors and applies reference/snapshot/record checks. Rules emit RuleResult. Reports aggregate StageResult.</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folders: src/medpar_qa/ingestion/ reads JSON/Parquet, normalization/ handles fields/dates/money, reporting/ writes HTML/JSON/text, scripts/ contains runners, reports/ contains local evidence and outputs/ the gap workbook. This slide shows the most useful starting points.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explanation of the real execution flow, not runnable pseudocode. Pipeline.run loads diagnostics and invokes the selected processor. The processor calls field validators. They emit RuleResult with provenance. StageResult aggregates the checks, and report_bundle persists them.</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identity matching. Correct fields cannot establish reconciliation if the records are unrelated. Each stage uses its configured identity. Duplicate identities prevent unique pairing. Stay and Final MEDPAR identities include admission and split indicator.</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commands from the repository root. On a fresh machine create a Python3.11 environment and install the package with test extras. run_commands.py reads STAGE_RUNS. After running, open the newly generated session’s master/index.html. Historical report folders may not be present. Synthetic example command is in README and the appendix.</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supports master, stage, file and rule views. File search/dropdown narrows the evidence list. Shared stage findings stay visible. Filtering does not rewrite whole-run totals. Each file and stage has a conclusion.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user-supplied screenshot of the historical production master report. It contains aggregate results only. Captured11October2026 at02:03. Report generated02:01:38 India time. Do not present this image as a fresh rerun or as proof of production acceptance.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file discovery check. The requirement is that a configured path resolves to at least one file. The result passes because one file is found. The real report additionally retains expected/observed values, source path and validator evidence.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Stay charge comparison. Source charges100.25+200.75 give expected301.00. Actual output300.00 differs by1.00. This is a demonstrated report explanation, not a claim about a particular production patient.</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depends on the specific validator. Both sides absent can be N/A in registry comparison. Missing mandatory source operands can block a calculation. Some optional field checks can report absent output as N/A. Avoid treating every N/A as a missing-file error.</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 FAIL, BLOCKED and N/A are check outcomes. Validations equal the sum of those outcomes. One record can generate many checks, and checks can overlap. The totals do not count patients or unique defects.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baseline20261011_020107:8865 checks,6773PASS,1960FAIL,131BLOCKED,1N/A. The counts include ingestion, record/field and summary checks. Checks overlap, so1960 is not a count of unique defects or patients. Four business executions and zero included pytest runs.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baseline. Source and actual count file roles. Files can appear as the output of one stage and input of another. The166Intermediate files include83duplicate payload pairs. Matching dates/cycles are required.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verification:257automated tests passed11October2026. All five controlled synthetic stages passed. Production remains failing/blocked. A software test validates a chosen implementation scenario. Production acceptance validates actual supplied data and approved external evidence.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Specific dependencies are documented in the annotated gap workbook and docs/medpar_gap_completion.json. DOD/EDB and SSI feeds are authoritative references. Legacy tables, approved current byte layouts, licensed DRG/revenue mappings, BayState scope and performance environment require owner input. Do not invent them or promise a completion date before availability is confirmed.</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meeting run the configured jobs, record the generated report path and confirm the required local files exist. Use README for the full function guide. The appendix explains detailed conditions and commands.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system clearly. The framework checks supplied stage data and explains outcomes. The report provides file/rule evidence. Production acceptance still depends on resolving discrepancies and supplying approved external evidence.</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section when the team asks about a specific rule. It supports the main demonstration and is not required for a first reading. The documented current validator behavior does not approve unresolved legacy rules.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business meaning of each code comes from the approved requirements. This slide explains how the words are used in the validators. Source: README rule guide and the stage implementations.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stages/final_action/router.py, context.py and settings.py. Default allowed query codes0,1,3,5 and transaction codes0–4. Run settings can override these. The synthetic example manifest uses explicit overrides, so demo values are not evidence of approved production code meanings. Capacity900 continuation/875hold is audited without silent truncation.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final_action/rules/all_qc0.py and corresponding Rule01/Rule02 modules. Query code means the category used by legacy selection rules. Accretion date is a recorded claim chronology field. Complete context must establish the Rule2 date condition.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Rule6 uses action code, not transaction code. Missing required action for the same-claim case blocks. Rule5 chooses newest nonzero with a claim number different from theQC0 claim; if none qualifies, block. Earlier routes take precedence over Rule3. Source: final_action/rules/.</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final_action/rules/rule_10a.py and rule_10b.py or their actual matching module names in stages/final_action/rules/. Unique-ICN helper checks occurrence across the full group. Do not copy an outdated descriptive catalog that adds a newest-QC0 condition.</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Rule8 requires more than3records, newestQC0 and count0&lt;count1+count3. Rule9 requires newestnonzero and the same lower count0 condition. Rule7/8/9 drop code0 and repeated ICNs. Rule4 is represented through support predicates rather than a standalone router module. Every valid claim must receive one decision or an explicit failed/blocked result.</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transaction codes0–4, skip list empty, no default SNF0/4bypass. The fallback isY99999 where applicable. Balance checks account for credits and retained/dropped populations. Exact canonical ties and some weekly/control tables remain approval dependencies. Source: stages/split/.</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Warning01 adds1ifQC0present and2ifQC5present. Warning05 is0for onebill,2for SNF undischarged status30,otherwise1. Known conditions04/69 and SQSTRN73 are supported. Some warning06/08legacy decisions and complete field-policy conflicts need approved rules. Source: stay/merge_rules.py, code_precedence.py, derivations.py and selected_fields.py.</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Age64 with Medicare status10/11maps65. DOD source/reference rules distinguish a missing feed from a loaded feed with no match. Death status20/Bcan fall back to through date with verificationB. No DOD returnsNonefor death-days. SSI0251days,0252matchY/N,0253legacy field remains dependency. Five-year date eligibility is aligned toJan1. Source: intermediate/business_rules.py and reference_data.py.</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DRG formula includesIPand blooddeductibles. Perdiem roundsdaily ratebeforemultiplication. Valuecodes18,19,77,73,Q7,Q1,QBsum signed amounts thenwhole dollars. FDswitchY/N. Care020lastdigits012346789 and021lastdigits01234. Licensed/current revenue andDRGmapping approval remains external. Source: intermediate/business_rules.py, selected_fields.py and direct_fields.py.</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Organ0810K1,11K2,12K3,13K4,14K5,15H1,16H2,17L1,19=01. Outpatient050x=1,049x=2,both3,neither0. CANpositions8/9values05,20,45,70,95sample1. Spans70SNF,82home,22coveredcare,72twoMidnight. Warning04utilizationvsLOS0equal1lower2higher;09perdiem!=0→1;11–17zeros. Five deleted V3fieldsareblank/filler. Full registry comparison is not full independent derivation or physical-layout approval.</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Known utilization greaterthanLOS enables specifiedbypass onlywithavailableinputs. ASCIIdefaultrequiresapprovalwhereused. FinalCY/FYrouting14files,providerclassification/referenceequatingandBayStateSSIadditionalfieldsrequireauthoritativetables. Production final stage notrun. Source: stages/final_medpar/.</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example uses explicit settings and sample_data fixtures. It demonstrates controlled scenarios. It is distinct from independent production acceptance. For a single stage use scripts/run_stage.py with stage,date,mode,source andactualoptions. Keep all generated report assets together so relative links work.</a:t>
            </a:r>
          </a:p>
          <a:p xmlns:a="http://schemas.openxmlformats.org/drawingml/2006/main">
            <a:r>
              <a:t/>
            </a:r>
          </a:p>
          <a:p xmlns:a="http://schemas.openxmlformats.org/drawingml/2006/main">
            <a:r>
              <a:t>Sources: repository README.md and implementation in src/medpar_qa/, reviewed 11 October 2026. Supplied V3 functionality, modernization, byte-by-byte requirements, clarifications and question responses. Examples labeled illustrative use invented values. Recorded production results are historical evidence, not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98b3d5e8d545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d895bd5d7940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d3f2545cd249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3404e2d2d941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269f19440f48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4ca499e4f542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4FF893-9648-44B3-8499-743F7F8EFA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0E0452-F5B9-4290-8D51-0C524DBA11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0DFE77-5DC7-427B-ABCA-85CF83041F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28F418-3E48-4214-805D-5CB9160703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DF7FA7-FE27-4EF0-8A25-1D46DA68B9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35BAB2-FA29-4C57-A9DD-60FABE228E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D3C72E-F664-47F9-A745-F0F5D16841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5C7957-6343-4FD6-B87A-22B6BB0714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4DD3B0-DA5D-4997-AC71-5BC23ABA3B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EBF368-20F5-4E2F-946E-49092CF2C0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628beae16c42d7" /><Relationship Type="http://schemas.openxmlformats.org/officeDocument/2006/relationships/slideLayout" Target="/ppt/slideLayouts/slideLayout1.xml" Id="R0375fcae689f4c87" /><Relationship Type="http://schemas.openxmlformats.org/officeDocument/2006/relationships/slideLayout" Target="/ppt/slideLayouts/slideLayout2.xml" Id="Rce5156a0af6a43f8" /><Relationship Type="http://schemas.openxmlformats.org/officeDocument/2006/relationships/slideLayout" Target="/ppt/slideLayouts/slideLayout3.xml" Id="Rc0929e25f1cf46bd" /><Relationship Type="http://schemas.openxmlformats.org/officeDocument/2006/relationships/slideLayout" Target="/ppt/slideLayouts/slideLayout4.xml" Id="R3f906f5f6c074ee0" /><Relationship Type="http://schemas.openxmlformats.org/officeDocument/2006/relationships/slideLayout" Target="/ppt/slideLayouts/slideLayout5.xml" Id="R1535e27938f44f8d" /><Relationship Type="http://schemas.openxmlformats.org/officeDocument/2006/relationships/slideLayout" Target="/ppt/slideLayouts/slideLayout6.xml" Id="Rcfe2c03123a842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75fcae689f4c87"/>
    <p:sldLayoutId xmlns:r="http://schemas.openxmlformats.org/officeDocument/2006/relationships" id="2147483650" r:id="Rce5156a0af6a43f8"/>
    <p:sldLayoutId xmlns:r="http://schemas.openxmlformats.org/officeDocument/2006/relationships" id="2147483651" r:id="Rc0929e25f1cf46bd"/>
    <p:sldLayoutId xmlns:r="http://schemas.openxmlformats.org/officeDocument/2006/relationships" id="2147483652" r:id="R3f906f5f6c074ee0"/>
    <p:sldLayoutId xmlns:r="http://schemas.openxmlformats.org/officeDocument/2006/relationships" id="2147483653" r:id="R1535e27938f44f8d"/>
    <p:sldLayoutId xmlns:r="http://schemas.openxmlformats.org/officeDocument/2006/relationships" id="2147483654" r:id="Rcfe2c03123a842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487cd332004628" /><Relationship Type="http://schemas.openxmlformats.org/officeDocument/2006/relationships/image" Target="/ppt/media/image.png" Id="Rf55d032cdfcc4eea" /><Relationship Type="http://schemas.openxmlformats.org/officeDocument/2006/relationships/notesSlide" Target="/ppt/notesSlides/notesSlide1.xml" Id="Rec269005a1e946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3e778d2c3a4e8a" /><Relationship Type="http://schemas.openxmlformats.org/officeDocument/2006/relationships/notesSlide" Target="/ppt/notesSlides/notesSlide2.xml" Id="R43c9c50345294f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04528ec03c48ab" /><Relationship Type="http://schemas.openxmlformats.org/officeDocument/2006/relationships/notesSlide" Target="/ppt/notesSlides/notesSlide3.xml" Id="Rb4aa98b8e68542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f48b6d2fb54ad3" /><Relationship Type="http://schemas.openxmlformats.org/officeDocument/2006/relationships/notesSlide" Target="/ppt/notesSlides/notesSlide4.xml" Id="Rde07261c3c4544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e921d54d9d4205" /><Relationship Type="http://schemas.openxmlformats.org/officeDocument/2006/relationships/notesSlide" Target="/ppt/notesSlides/notesSlide5.xml" Id="R3c2bf70f851842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dcdefd66ee43f2" /><Relationship Type="http://schemas.openxmlformats.org/officeDocument/2006/relationships/notesSlide" Target="/ppt/notesSlides/notesSlide6.xml" Id="R4e60c532397548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553c5e2ef4452e" /><Relationship Type="http://schemas.openxmlformats.org/officeDocument/2006/relationships/notesSlide" Target="/ppt/notesSlides/notesSlide7.xml" Id="R72e37fe839f044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e5b7304ee54579" /><Relationship Type="http://schemas.openxmlformats.org/officeDocument/2006/relationships/notesSlide" Target="/ppt/notesSlides/notesSlide8.xml" Id="R73d8aad6fc1a4e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4dacc3f5f34117" /><Relationship Type="http://schemas.openxmlformats.org/officeDocument/2006/relationships/notesSlide" Target="/ppt/notesSlides/notesSlide9.xml" Id="R7540951a8aa442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5b65b417774a39" /><Relationship Type="http://schemas.openxmlformats.org/officeDocument/2006/relationships/notesSlide" Target="/ppt/notesSlides/notesSlide10.xml" Id="Re6e1e9efebc74e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c4c0e08704840e4" /><Relationship Type="http://schemas.openxmlformats.org/officeDocument/2006/relationships/notesSlide" Target="/ppt/notesSlides/notesSlide11.xml" Id="R88bd969e0f7d45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f0d06e42f440af" /><Relationship Type="http://schemas.openxmlformats.org/officeDocument/2006/relationships/notesSlide" Target="/ppt/notesSlides/notesSlide12.xml" Id="Rf67ef8cc7fd747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25a8d8094c44b95" /><Relationship Type="http://schemas.openxmlformats.org/officeDocument/2006/relationships/notesSlide" Target="/ppt/notesSlides/notesSlide13.xml" Id="Raff05df7599140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4ef1a73f944fac" /><Relationship Type="http://schemas.openxmlformats.org/officeDocument/2006/relationships/notesSlide" Target="/ppt/notesSlides/notesSlide14.xml" Id="R629e95f9cc8e4c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5e0e83941534499" /><Relationship Type="http://schemas.openxmlformats.org/officeDocument/2006/relationships/notesSlide" Target="/ppt/notesSlides/notesSlide15.xml" Id="R55572ede2b8646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b4eb3ced16b4760" /><Relationship Type="http://schemas.openxmlformats.org/officeDocument/2006/relationships/notesSlide" Target="/ppt/notesSlides/notesSlide16.xml" Id="R331dfd10a95446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03db440a864d4c" /><Relationship Type="http://schemas.openxmlformats.org/officeDocument/2006/relationships/notesSlide" Target="/ppt/notesSlides/notesSlide17.xml" Id="Re4d9fd1386b64a2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108bc22a0d4378" /><Relationship Type="http://schemas.openxmlformats.org/officeDocument/2006/relationships/notesSlide" Target="/ppt/notesSlides/notesSlide18.xml" Id="R2f034942d6654b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bd5757b4dfc490f" /><Relationship Type="http://schemas.openxmlformats.org/officeDocument/2006/relationships/notesSlide" Target="/ppt/notesSlides/notesSlide19.xml" Id="R0c90100d30f14cc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d03db667157480a" /><Relationship Type="http://schemas.openxmlformats.org/officeDocument/2006/relationships/notesSlide" Target="/ppt/notesSlides/notesSlide20.xml" Id="R23e92cb5d4014b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c7bfef7f23d4f4b" /><Relationship Type="http://schemas.openxmlformats.org/officeDocument/2006/relationships/notesSlide" Target="/ppt/notesSlides/notesSlide21.xml" Id="Rec471803ea934e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154502cc76b4393" /><Relationship Type="http://schemas.openxmlformats.org/officeDocument/2006/relationships/notesSlide" Target="/ppt/notesSlides/notesSlide22.xml" Id="Rc4023b915cae46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4cbfaabde6d44bb" /><Relationship Type="http://schemas.openxmlformats.org/officeDocument/2006/relationships/notesSlide" Target="/ppt/notesSlides/notesSlide23.xml" Id="Rcb0d19bb035e47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cf05e0e364845db" /><Relationship Type="http://schemas.openxmlformats.org/officeDocument/2006/relationships/notesSlide" Target="/ppt/notesSlides/notesSlide24.xml" Id="R358eb771e66d4b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c0949dd9a442d9" /><Relationship Type="http://schemas.openxmlformats.org/officeDocument/2006/relationships/image" Target="/ppt/media/image2.png" Id="R4a3fecd61ffc496a" /><Relationship Type="http://schemas.openxmlformats.org/officeDocument/2006/relationships/notesSlide" Target="/ppt/notesSlides/notesSlide25.xml" Id="Re4739e602da342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590e7669bab4b8d" /><Relationship Type="http://schemas.openxmlformats.org/officeDocument/2006/relationships/notesSlide" Target="/ppt/notesSlides/notesSlide26.xml" Id="R81744cad607b462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e1166c03d754be7" /><Relationship Type="http://schemas.openxmlformats.org/officeDocument/2006/relationships/notesSlide" Target="/ppt/notesSlides/notesSlide27.xml" Id="R6169ef3d0e184ba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f114479682841f8" /><Relationship Type="http://schemas.openxmlformats.org/officeDocument/2006/relationships/notesSlide" Target="/ppt/notesSlides/notesSlide28.xml" Id="R9170fe2396884f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c9820bb3969489a" /><Relationship Type="http://schemas.openxmlformats.org/officeDocument/2006/relationships/notesSlide" Target="/ppt/notesSlides/notesSlide29.xml" Id="R0069ad3fc2fc41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1713fc0300b42c6" /><Relationship Type="http://schemas.openxmlformats.org/officeDocument/2006/relationships/chart" Target="/ppt/slides/charts/chart1.xml" Id="R376bf3d09fed44b5" /><Relationship Type="http://schemas.openxmlformats.org/officeDocument/2006/relationships/notesSlide" Target="/ppt/notesSlides/notesSlide30.xml" Id="R30977f96b9f049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cd4a89565d64afc" /><Relationship Type="http://schemas.openxmlformats.org/officeDocument/2006/relationships/notesSlide" Target="/ppt/notesSlides/notesSlide31.xml" Id="R693d2071fe144d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27564189918435e" /><Relationship Type="http://schemas.openxmlformats.org/officeDocument/2006/relationships/notesSlide" Target="/ppt/notesSlides/notesSlide32.xml" Id="Rcc214d043a9e4a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9b3f30b1f23465b" /><Relationship Type="http://schemas.openxmlformats.org/officeDocument/2006/relationships/notesSlide" Target="/ppt/notesSlides/notesSlide33.xml" Id="R00695899cc054c0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dcf374a69504c91" /><Relationship Type="http://schemas.openxmlformats.org/officeDocument/2006/relationships/notesSlide" Target="/ppt/notesSlides/notesSlide34.xml" Id="R093ce7b09a59412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f5f843c03ce4efa" /><Relationship Type="http://schemas.openxmlformats.org/officeDocument/2006/relationships/notesSlide" Target="/ppt/notesSlides/notesSlide35.xml" Id="Rbd0c1e06a1f84f0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5e21feba4c14358" /><Relationship Type="http://schemas.openxmlformats.org/officeDocument/2006/relationships/notesSlide" Target="/ppt/notesSlides/notesSlide36.xml" Id="R63114ef833ea4ef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43942f5fd0e44aa" /><Relationship Type="http://schemas.openxmlformats.org/officeDocument/2006/relationships/notesSlide" Target="/ppt/notesSlides/notesSlide37.xml" Id="Rf112085beef14a8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be4120443924930" /><Relationship Type="http://schemas.openxmlformats.org/officeDocument/2006/relationships/notesSlide" Target="/ppt/notesSlides/notesSlide38.xml" Id="R00c6cc0684d842f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11a9e5922784342" /><Relationship Type="http://schemas.openxmlformats.org/officeDocument/2006/relationships/notesSlide" Target="/ppt/notesSlides/notesSlide39.xml" Id="R3227a03ad29d41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42175f1c693446e" /><Relationship Type="http://schemas.openxmlformats.org/officeDocument/2006/relationships/notesSlide" Target="/ppt/notesSlides/notesSlide40.xml" Id="R0df6dd5ea33843c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ec9cb797f2a46ea" /><Relationship Type="http://schemas.openxmlformats.org/officeDocument/2006/relationships/notesSlide" Target="/ppt/notesSlides/notesSlide41.xml" Id="Rfc9e10ca9b90413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0f4efc9a3b9406f" /><Relationship Type="http://schemas.openxmlformats.org/officeDocument/2006/relationships/notesSlide" Target="/ppt/notesSlides/notesSlide42.xml" Id="R3789b1200507485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ce616364f61487d" /><Relationship Type="http://schemas.openxmlformats.org/officeDocument/2006/relationships/notesSlide" Target="/ppt/notesSlides/notesSlide43.xml" Id="R7ec3a29056d6406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82c9e83f4cd426d" /><Relationship Type="http://schemas.openxmlformats.org/officeDocument/2006/relationships/notesSlide" Target="/ppt/notesSlides/notesSlide44.xml" Id="R759d9f0bc9344ec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f9ff14a155f4a0e" /><Relationship Type="http://schemas.openxmlformats.org/officeDocument/2006/relationships/notesSlide" Target="/ppt/notesSlides/notesSlide45.xml" Id="R2c6f3510c7fe47b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f99ed14a36a4f7a" /><Relationship Type="http://schemas.openxmlformats.org/officeDocument/2006/relationships/notesSlide" Target="/ppt/notesSlides/notesSlide46.xml" Id="R2373ff50db5940f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03e14d6de9141db" /><Relationship Type="http://schemas.openxmlformats.org/officeDocument/2006/relationships/notesSlide" Target="/ppt/notesSlides/notesSlide47.xml" Id="Rf5b81f8990b542c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1d11d5b1be0c4d65" /><Relationship Type="http://schemas.openxmlformats.org/officeDocument/2006/relationships/notesSlide" Target="/ppt/notesSlides/notesSlide48.xml" Id="R49a6a3e73aca44f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ff8ce88f6e54828" /><Relationship Type="http://schemas.openxmlformats.org/officeDocument/2006/relationships/notesSlide" Target="/ppt/notesSlides/notesSlide49.xml" Id="Rde7c75300f584e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Recorded checks</c:v>
          </c:tx>
          <c:dPt>
            <c:idx val="0"/>
            <c:invertIfNegative val="0"/>
            <c:spPr>
              <a:solidFill xmlns:a="http://schemas.openxmlformats.org/drawingml/2006/main">
                <a:srgbClr val="087D66"/>
              </a:solidFill>
            </c:spPr>
          </c:dPt>
          <c:dPt>
            <c:idx val="1"/>
            <c:invertIfNegative val="0"/>
            <c:spPr>
              <a:solidFill xmlns:a="http://schemas.openxmlformats.org/drawingml/2006/main">
                <a:srgbClr val="C64747"/>
              </a:solidFill>
            </c:spPr>
          </c:dPt>
          <c:dPt>
            <c:idx val="2"/>
            <c:invertIfNegative val="0"/>
            <c:spPr>
              <a:solidFill xmlns:a="http://schemas.openxmlformats.org/drawingml/2006/main">
                <a:srgbClr val="B66A10"/>
              </a:solidFill>
            </c:spPr>
          </c:dPt>
          <c:dPt>
            <c:idx val="3"/>
            <c:invertIfNegative val="0"/>
            <c:spPr>
              <a:solidFill xmlns:a="http://schemas.openxmlformats.org/drawingml/2006/main">
                <a:srgbClr val="8796AA"/>
              </a:solidFill>
            </c:spPr>
          </c:dPt>
          <c:cat>
            <c:strRef>
              <c:f>'Chart Data'!$A$2:$A$5</c:f>
              <c:strCache>
                <c:ptCount val="4"/>
                <c:pt idx="0">
                  <c:v>PASS</c:v>
                </c:pt>
                <c:pt idx="1">
                  <c:v>FAIL</c:v>
                </c:pt>
                <c:pt idx="2">
                  <c:v>BLOCKED</c:v>
                </c:pt>
                <c:pt idx="3">
                  <c:v>N/A</c:v>
                </c:pt>
              </c:strCache>
            </c:strRef>
          </c:cat>
          <c:val>
            <c:numRef>
              <c:f>'Chart Data'!$B$2:$B$5</c:f>
              <c:numCache>
                <c:formatCode>General</c:formatCode>
                <c:ptCount val="4"/>
                <c:pt idx="0">
                  <c:v>6773</c:v>
                </c:pt>
                <c:pt idx="1">
                  <c:v>1960</c:v>
                </c:pt>
                <c:pt idx="2">
                  <c:v>131</c:v>
                </c:pt>
                <c:pt idx="3">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2D083C4-D8C7-475F-9C05-FA34580AEB85}"/>
              </a:ext>
            </a:extLst>
          </p:cNvPr>
          <p:cNvPicPr>
            <a:picLocks xmlns:a="http://schemas.openxmlformats.org/drawingml/2006/main" noChangeAspect="1"/>
          </p:cNvPicPr>
          <p:nvPr/>
        </p:nvPicPr>
        <p:blipFill>
          <a:blip xmlns:r="http://schemas.openxmlformats.org/officeDocument/2006/relationships" xmlns:a="http://schemas.openxmlformats.org/drawingml/2006/main" r:embed="Rf55d032cdfcc4e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80B8E6-AEFF-4107-A2D6-34C32B4F0BFC}"/>
              </a:ext>
            </a:extLst>
          </p:cNvPr>
          <p:cNvSpPr>
            <a:spLocks xmlns:a="http://schemas.openxmlformats.org/drawingml/2006/main" noGrp="1"/>
          </p:cNvSpPr>
          <p:nvPr/>
        </p:nvSpPr>
        <p:spPr>
          <a:xfrm xmlns:a="http://schemas.openxmlformats.org/drawingml/2006/main">
            <a:off x="666750" y="6858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457D6"/>
                </a:solidFill>
                <a:latin typeface="Arial"/>
                <a:ea typeface="Arial"/>
                <a:cs typeface="Arial"/>
              </a:defRPr>
            </a:defPPr>
          </a:lstStyle>
          <a:p xmlns:a="http://schemas.openxmlformats.org/drawingml/2006/main">
            <a:pPr algn="l">
              <a:defRPr sz="1875" b="1">
                <a:solidFill>
                  <a:srgbClr val="2457D6"/>
                </a:solidFill>
                <a:latin typeface="Arial"/>
                <a:ea typeface="Arial"/>
                <a:cs typeface="Arial"/>
              </a:defRPr>
            </a:pPr>
            <a:r>
              <a:rPr sz="1875" b="1">
                <a:solidFill>
                  <a:srgbClr val="2457D6"/>
                </a:solidFill>
                <a:latin typeface="Arial"/>
                <a:ea typeface="Arial"/>
                <a:cs typeface="Arial"/>
              </a:rPr>
              <a:t>MEDPAR</a:t>
            </a:r>
          </a:p>
        </p:txBody>
      </p:sp>
      <p:sp>
        <p:nvSpPr>
          <p:cNvPr id="3" name="">
            <a:extLst xmlns:a="http://schemas.openxmlformats.org/drawingml/2006/main">
              <a:ext uri="{FF2B5EF4-FFF2-40B4-BE49-F238E27FC236}">
                <a16:creationId xmlns:a16="http://schemas.microsoft.com/office/drawing/2014/main" id="{F8273571-7A1D-492D-B49D-60582B4C0F05}"/>
              </a:ext>
            </a:extLst>
          </p:cNvPr>
          <p:cNvSpPr>
            <a:spLocks xmlns:a="http://schemas.openxmlformats.org/drawingml/2006/main" noGrp="1"/>
          </p:cNvSpPr>
          <p:nvPr/>
        </p:nvSpPr>
        <p:spPr>
          <a:xfrm xmlns:a="http://schemas.openxmlformats.org/drawingml/2006/main">
            <a:off x="619125" y="2000250"/>
            <a:ext cx="723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400" b="1">
                <a:solidFill>
                  <a:srgbClr val="172B43"/>
                </a:solidFill>
                <a:latin typeface="Arial"/>
                <a:ea typeface="Arial"/>
                <a:cs typeface="Arial"/>
              </a:defRPr>
            </a:defPPr>
          </a:lstStyle>
          <a:p xmlns:a="http://schemas.openxmlformats.org/drawingml/2006/main">
            <a:pPr algn="l">
              <a:defRPr sz="5400" b="1">
                <a:solidFill>
                  <a:srgbClr val="172B43"/>
                </a:solidFill>
                <a:latin typeface="Arial"/>
                <a:ea typeface="Arial"/>
                <a:cs typeface="Arial"/>
              </a:defRPr>
            </a:pPr>
            <a:r>
              <a:rPr sz="5400" b="1">
                <a:solidFill>
                  <a:srgbClr val="172B43"/>
                </a:solidFill>
                <a:latin typeface="Arial"/>
                <a:ea typeface="Arial"/>
                <a:cs typeface="Arial"/>
              </a:rPr>
              <a:t>QA framework</a:t>
            </a:r>
          </a:p>
          <a:p xmlns:a="http://schemas.openxmlformats.org/drawingml/2006/main">
            <a:pPr algn="l">
              <a:defRPr sz="5400" b="1">
                <a:solidFill>
                  <a:srgbClr val="172B43"/>
                </a:solidFill>
                <a:latin typeface="Arial"/>
                <a:ea typeface="Arial"/>
                <a:cs typeface="Arial"/>
              </a:defRPr>
            </a:pPr>
            <a:r>
              <a:rPr sz="5400" b="1">
                <a:solidFill>
                  <a:srgbClr val="172B43"/>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AB9466AA-15F9-450B-AF9C-CFD3F61BA527}"/>
              </a:ext>
            </a:extLst>
          </p:cNvPr>
          <p:cNvSpPr>
            <a:spLocks xmlns:a="http://schemas.openxmlformats.org/drawingml/2006/main" noGrp="1"/>
          </p:cNvSpPr>
          <p:nvPr/>
        </p:nvSpPr>
        <p:spPr>
          <a:xfrm xmlns:a="http://schemas.openxmlformats.org/drawingml/2006/main">
            <a:off x="676275" y="4505325"/>
            <a:ext cx="638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0">
                <a:solidFill>
                  <a:srgbClr val="597080"/>
                </a:solidFill>
                <a:latin typeface="Arial"/>
                <a:ea typeface="Arial"/>
                <a:cs typeface="Arial"/>
              </a:defRPr>
            </a:defPPr>
          </a:lstStyle>
          <a:p xmlns:a="http://schemas.openxmlformats.org/drawingml/2006/main">
            <a:pPr algn="l">
              <a:defRPr sz="2325" b="0">
                <a:solidFill>
                  <a:srgbClr val="597080"/>
                </a:solidFill>
                <a:latin typeface="Arial"/>
                <a:ea typeface="Arial"/>
                <a:cs typeface="Arial"/>
              </a:defRPr>
            </a:pPr>
            <a:r>
              <a:rPr sz="2325" b="0">
                <a:solidFill>
                  <a:srgbClr val="597080"/>
                </a:solidFill>
                <a:latin typeface="Arial"/>
                <a:ea typeface="Arial"/>
                <a:cs typeface="Arial"/>
              </a:rPr>
              <a:t>How the stages work</a:t>
            </a:r>
          </a:p>
          <a:p xmlns:a="http://schemas.openxmlformats.org/drawingml/2006/main">
            <a:pPr algn="l">
              <a:defRPr sz="2325" b="0">
                <a:solidFill>
                  <a:srgbClr val="597080"/>
                </a:solidFill>
                <a:latin typeface="Arial"/>
                <a:ea typeface="Arial"/>
                <a:cs typeface="Arial"/>
              </a:defRPr>
            </a:pPr>
            <a:r>
              <a:rPr sz="2325" b="0">
                <a:solidFill>
                  <a:srgbClr val="597080"/>
                </a:solidFill>
                <a:latin typeface="Arial"/>
                <a:ea typeface="Arial"/>
                <a:cs typeface="Arial"/>
              </a:rPr>
              <a:t>How the code checks them</a:t>
            </a:r>
          </a:p>
          <a:p xmlns:a="http://schemas.openxmlformats.org/drawingml/2006/main">
            <a:pPr algn="l">
              <a:defRPr sz="2325" b="0">
                <a:solidFill>
                  <a:srgbClr val="597080"/>
                </a:solidFill>
                <a:latin typeface="Arial"/>
                <a:ea typeface="Arial"/>
                <a:cs typeface="Arial"/>
              </a:defRPr>
            </a:pPr>
            <a:r>
              <a:rPr sz="2325" b="0">
                <a:solidFill>
                  <a:srgbClr val="597080"/>
                </a:solidFill>
                <a:latin typeface="Arial"/>
                <a:ea typeface="Arial"/>
                <a:cs typeface="Arial"/>
              </a:rPr>
              <a:t>How to read the results</a:t>
            </a:r>
          </a:p>
        </p:txBody>
      </p:sp>
    </p:spTree>
    <p:extLst>
      <p:ext uri="{BB962C8B-B14F-4D97-AF65-F5344CB8AC3E}">
        <p14:creationId xmlns:p14="http://schemas.microsoft.com/office/powerpoint/2010/main" val="1581076754"/>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5AC81CFB-F4BE-444E-B934-BF5ADFF70214}"/>
              </a:ext>
            </a:extLst>
          </p:cNvPr>
          <p:cNvCxnSpPr>
            <a:stCxn xmlns:a="http://schemas.openxmlformats.org/drawingml/2006/main" id="4" idx="3"/>
            <a:endCxn xmlns:a="http://schemas.openxmlformats.org/drawingml/2006/main" id="5" idx="1"/>
          </p:cNvCxnSpPr>
          <p:nvPr/>
        </p:nvCxnSpPr>
        <p:spPr>
          <a:xfrm xmlns:a="http://schemas.openxmlformats.org/drawingml/2006/main">
            <a:off x="7553325" y="3028950"/>
            <a:ext cx="1247775"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6" name="">
            <a:extLst xmlns:a="http://schemas.openxmlformats.org/drawingml/2006/main">
              <a:ext uri="{FF2B5EF4-FFF2-40B4-BE49-F238E27FC236}">
                <a16:creationId xmlns:a16="http://schemas.microsoft.com/office/drawing/2014/main" id="{65494129-1A74-4761-A691-182E890C27CF}"/>
              </a:ext>
            </a:extLst>
          </p:cNvPr>
          <p:cNvCxnSpPr>
            <a:stCxn xmlns:a="http://schemas.openxmlformats.org/drawingml/2006/main" id="3" idx="3"/>
            <a:endCxn xmlns:a="http://schemas.openxmlformats.org/drawingml/2006/main" id="4" idx="1"/>
          </p:cNvCxnSpPr>
          <p:nvPr/>
        </p:nvCxnSpPr>
        <p:spPr>
          <a:xfrm xmlns:a="http://schemas.openxmlformats.org/drawingml/2006/main">
            <a:off x="3257550" y="3028950"/>
            <a:ext cx="12001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BF5ACB1A-3CD7-48A6-8B5B-8676A07B24F6}"/>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What the framework does</a:t>
            </a:r>
          </a:p>
        </p:txBody>
      </p:sp>
      <p:sp>
        <p:nvSpPr>
          <p:cNvPr id="2" name="">
            <a:extLst xmlns:a="http://schemas.openxmlformats.org/drawingml/2006/main">
              <a:ext uri="{FF2B5EF4-FFF2-40B4-BE49-F238E27FC236}">
                <a16:creationId xmlns:a16="http://schemas.microsoft.com/office/drawing/2014/main" id="{9C216433-709E-4AD6-A84D-2611AEE1151A}"/>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62100C0-BE74-43E4-9E40-DFA0792636FC}"/>
              </a:ext>
            </a:extLst>
          </p:cNvPr>
          <p:cNvSpPr>
            <a:spLocks xmlns:a="http://schemas.openxmlformats.org/drawingml/2006/main" noGrp="1"/>
          </p:cNvSpPr>
          <p:nvPr/>
        </p:nvSpPr>
        <p:spPr>
          <a:xfrm xmlns:a="http://schemas.openxmlformats.org/drawingml/2006/main">
            <a:off x="685800" y="2552700"/>
            <a:ext cx="2571750" cy="9525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Source data</a:t>
            </a:r>
          </a:p>
        </p:txBody>
      </p:sp>
      <p:sp>
        <p:nvSpPr>
          <p:cNvPr id="4" name="">
            <a:extLst xmlns:a="http://schemas.openxmlformats.org/drawingml/2006/main">
              <a:ext uri="{FF2B5EF4-FFF2-40B4-BE49-F238E27FC236}">
                <a16:creationId xmlns:a16="http://schemas.microsoft.com/office/drawing/2014/main" id="{6E3AA251-2565-4677-B39C-70BBC5B4F21F}"/>
              </a:ext>
            </a:extLst>
          </p:cNvPr>
          <p:cNvSpPr>
            <a:spLocks xmlns:a="http://schemas.openxmlformats.org/drawingml/2006/main" noGrp="1"/>
          </p:cNvSpPr>
          <p:nvPr/>
        </p:nvSpPr>
        <p:spPr>
          <a:xfrm xmlns:a="http://schemas.openxmlformats.org/drawingml/2006/main">
            <a:off x="4457700" y="2552700"/>
            <a:ext cx="3095625" cy="9525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Calculate what</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should happen</a:t>
            </a:r>
          </a:p>
        </p:txBody>
      </p:sp>
      <p:sp>
        <p:nvSpPr>
          <p:cNvPr id="5" name="">
            <a:extLst xmlns:a="http://schemas.openxmlformats.org/drawingml/2006/main">
              <a:ext uri="{FF2B5EF4-FFF2-40B4-BE49-F238E27FC236}">
                <a16:creationId xmlns:a16="http://schemas.microsoft.com/office/drawing/2014/main" id="{9133F990-05DE-45B8-8808-621A21B34079}"/>
              </a:ext>
            </a:extLst>
          </p:cNvPr>
          <p:cNvSpPr>
            <a:spLocks xmlns:a="http://schemas.openxmlformats.org/drawingml/2006/main" noGrp="1"/>
          </p:cNvSpPr>
          <p:nvPr/>
        </p:nvSpPr>
        <p:spPr>
          <a:xfrm xmlns:a="http://schemas.openxmlformats.org/drawingml/2006/main">
            <a:off x="8801100" y="2552700"/>
            <a:ext cx="2667000" cy="9525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Compare with</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actual output</a:t>
            </a:r>
          </a:p>
        </p:txBody>
      </p:sp>
      <p:sp>
        <p:nvSpPr>
          <p:cNvPr id="8" name="">
            <a:extLst xmlns:a="http://schemas.openxmlformats.org/drawingml/2006/main">
              <a:ext uri="{FF2B5EF4-FFF2-40B4-BE49-F238E27FC236}">
                <a16:creationId xmlns:a16="http://schemas.microsoft.com/office/drawing/2014/main" id="{66BB8FE8-C9FD-48A8-845E-B11441D74B9E}"/>
              </a:ext>
            </a:extLst>
          </p:cNvPr>
          <p:cNvSpPr>
            <a:spLocks xmlns:a="http://schemas.openxmlformats.org/drawingml/2006/main" noGrp="1"/>
          </p:cNvSpPr>
          <p:nvPr/>
        </p:nvSpPr>
        <p:spPr>
          <a:xfrm xmlns:a="http://schemas.openxmlformats.org/drawingml/2006/main">
            <a:off x="704850" y="41148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457D6"/>
                </a:solidFill>
                <a:latin typeface="Arial"/>
                <a:ea typeface="Arial"/>
                <a:cs typeface="Arial"/>
              </a:defRPr>
            </a:defPPr>
          </a:lstStyle>
          <a:p xmlns:a="http://schemas.openxmlformats.org/drawingml/2006/main">
            <a:pPr algn="l">
              <a:defRPr sz="1875" b="1">
                <a:solidFill>
                  <a:srgbClr val="2457D6"/>
                </a:solidFill>
                <a:latin typeface="Arial"/>
                <a:ea typeface="Arial"/>
                <a:cs typeface="Arial"/>
              </a:defRPr>
            </a:pPr>
            <a:r>
              <a:rPr sz="1875" b="1">
                <a:solidFill>
                  <a:srgbClr val="2457D6"/>
                </a:solidFill>
                <a:latin typeface="Arial"/>
                <a:ea typeface="Arial"/>
                <a:cs typeface="Arial"/>
              </a:rPr>
              <a:t>Example</a:t>
            </a:r>
          </a:p>
        </p:txBody>
      </p:sp>
      <p:sp>
        <p:nvSpPr>
          <p:cNvPr id="9" name="">
            <a:extLst xmlns:a="http://schemas.openxmlformats.org/drawingml/2006/main">
              <a:ext uri="{FF2B5EF4-FFF2-40B4-BE49-F238E27FC236}">
                <a16:creationId xmlns:a16="http://schemas.microsoft.com/office/drawing/2014/main" id="{26E546A9-F2C6-467A-9283-B213902A8817}"/>
              </a:ext>
            </a:extLst>
          </p:cNvPr>
          <p:cNvSpPr>
            <a:spLocks xmlns:a="http://schemas.openxmlformats.org/drawingml/2006/main" noGrp="1"/>
          </p:cNvSpPr>
          <p:nvPr/>
        </p:nvSpPr>
        <p:spPr>
          <a:xfrm xmlns:a="http://schemas.openxmlformats.org/drawingml/2006/main">
            <a:off x="704850" y="462915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0">
                <a:solidFill>
                  <a:srgbClr val="172B43"/>
                </a:solidFill>
                <a:latin typeface="Arial"/>
                <a:ea typeface="Arial"/>
                <a:cs typeface="Arial"/>
              </a:defRPr>
            </a:defPPr>
          </a:lstStyle>
          <a:p xmlns:a="http://schemas.openxmlformats.org/drawingml/2006/main">
            <a:pPr algn="l">
              <a:defRPr sz="2550" b="0">
                <a:solidFill>
                  <a:srgbClr val="172B43"/>
                </a:solidFill>
                <a:latin typeface="Arial"/>
                <a:ea typeface="Arial"/>
                <a:cs typeface="Arial"/>
              </a:defRPr>
            </a:pPr>
            <a:r>
              <a:rPr sz="2550" b="0">
                <a:solidFill>
                  <a:srgbClr val="172B43"/>
                </a:solidFill>
                <a:latin typeface="Arial"/>
                <a:ea typeface="Arial"/>
                <a:cs typeface="Arial"/>
              </a:rPr>
              <a:t>Two bills contain charges of 100 and 200.</a:t>
            </a:r>
          </a:p>
          <a:p xmlns:a="http://schemas.openxmlformats.org/drawingml/2006/main">
            <a:pPr algn="l">
              <a:defRPr sz="2550" b="0">
                <a:solidFill>
                  <a:srgbClr val="172B43"/>
                </a:solidFill>
                <a:latin typeface="Arial"/>
                <a:ea typeface="Arial"/>
                <a:cs typeface="Arial"/>
              </a:defRPr>
            </a:pPr>
            <a:r>
              <a:rPr sz="2550" b="0">
                <a:solidFill>
                  <a:srgbClr val="172B43"/>
                </a:solidFill>
                <a:latin typeface="Arial"/>
                <a:ea typeface="Arial"/>
                <a:cs typeface="Arial"/>
              </a:rPr>
              <a:t>The expected stay total is 300.</a:t>
            </a:r>
          </a:p>
          <a:p xmlns:a="http://schemas.openxmlformats.org/drawingml/2006/main">
            <a:pPr algn="l">
              <a:defRPr sz="2550" b="0">
                <a:solidFill>
                  <a:srgbClr val="172B43"/>
                </a:solidFill>
                <a:latin typeface="Arial"/>
                <a:ea typeface="Arial"/>
                <a:cs typeface="Arial"/>
              </a:defRPr>
            </a:pPr>
            <a:r>
              <a:rPr sz="2550" b="0">
                <a:solidFill>
                  <a:srgbClr val="172B43"/>
                </a:solidFill>
                <a:latin typeface="Arial"/>
                <a:ea typeface="Arial"/>
                <a:cs typeface="Arial"/>
              </a:rPr>
              <a:t>An actual total of 299 creates a failed check.</a:t>
            </a:r>
          </a:p>
        </p:txBody>
      </p:sp>
    </p:spTree>
    <p:extLst>
      <p:ext uri="{BB962C8B-B14F-4D97-AF65-F5344CB8AC3E}">
        <p14:creationId xmlns:p14="http://schemas.microsoft.com/office/powerpoint/2010/main" val="108345608"/>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DBCED5-ABD0-46C8-8A52-24B64E23126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Three terms used throughout the demo</a:t>
            </a:r>
          </a:p>
        </p:txBody>
      </p:sp>
      <p:sp>
        <p:nvSpPr>
          <p:cNvPr id="2" name="">
            <a:extLst xmlns:a="http://schemas.openxmlformats.org/drawingml/2006/main">
              <a:ext uri="{FF2B5EF4-FFF2-40B4-BE49-F238E27FC236}">
                <a16:creationId xmlns:a16="http://schemas.microsoft.com/office/drawing/2014/main" id="{6BC5B2B2-2F59-47A5-84BA-E7B832647773}"/>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17EA6A2-2497-4D38-AE92-73E16B8A2051}"/>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Claim or bill</a:t>
            </a:r>
          </a:p>
        </p:txBody>
      </p:sp>
      <p:sp>
        <p:nvSpPr>
          <p:cNvPr id="4" name="">
            <a:extLst xmlns:a="http://schemas.openxmlformats.org/drawingml/2006/main">
              <a:ext uri="{FF2B5EF4-FFF2-40B4-BE49-F238E27FC236}">
                <a16:creationId xmlns:a16="http://schemas.microsoft.com/office/drawing/2014/main" id="{2BF340AD-C6DE-4E73-937F-85D01BAA15BA}"/>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A payment record for care. Several records can describe one period of care.</a:t>
            </a:r>
          </a:p>
        </p:txBody>
      </p:sp>
      <p:sp>
        <p:nvSpPr>
          <p:cNvPr id="5" name="">
            <a:extLst xmlns:a="http://schemas.openxmlformats.org/drawingml/2006/main">
              <a:ext uri="{FF2B5EF4-FFF2-40B4-BE49-F238E27FC236}">
                <a16:creationId xmlns:a16="http://schemas.microsoft.com/office/drawing/2014/main" id="{88D3C6BC-9EF6-41C7-9923-48511425123B}"/>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Stay</a:t>
            </a:r>
          </a:p>
        </p:txBody>
      </p:sp>
      <p:sp>
        <p:nvSpPr>
          <p:cNvPr id="6" name="">
            <a:extLst xmlns:a="http://schemas.openxmlformats.org/drawingml/2006/main">
              <a:ext uri="{FF2B5EF4-FFF2-40B4-BE49-F238E27FC236}">
                <a16:creationId xmlns:a16="http://schemas.microsoft.com/office/drawing/2014/main" id="{F06D1CDD-17E8-4310-817C-BCC5260958CD}"/>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records combined for one admission at one provider.</a:t>
            </a:r>
          </a:p>
        </p:txBody>
      </p:sp>
      <p:sp>
        <p:nvSpPr>
          <p:cNvPr id="7" name="">
            <a:extLst xmlns:a="http://schemas.openxmlformats.org/drawingml/2006/main">
              <a:ext uri="{FF2B5EF4-FFF2-40B4-BE49-F238E27FC236}">
                <a16:creationId xmlns:a16="http://schemas.microsoft.com/office/drawing/2014/main" id="{0DD17F38-DFED-4CC6-9DA1-A7F45CFA45B0}"/>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Validation</a:t>
            </a:r>
          </a:p>
        </p:txBody>
      </p:sp>
      <p:sp>
        <p:nvSpPr>
          <p:cNvPr id="8" name="">
            <a:extLst xmlns:a="http://schemas.openxmlformats.org/drawingml/2006/main">
              <a:ext uri="{FF2B5EF4-FFF2-40B4-BE49-F238E27FC236}">
                <a16:creationId xmlns:a16="http://schemas.microsoft.com/office/drawing/2014/main" id="{7F9B1EC4-9996-4B01-A882-E6F92241053D}"/>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One question checked by the framework, such as “Is the charge total correct?”</a:t>
            </a:r>
          </a:p>
        </p:txBody>
      </p:sp>
    </p:spTree>
    <p:extLst>
      <p:ext uri="{BB962C8B-B14F-4D97-AF65-F5344CB8AC3E}">
        <p14:creationId xmlns:p14="http://schemas.microsoft.com/office/powerpoint/2010/main" val="767130091"/>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70578CA-8C14-4BF4-A198-F28F267B7C4B}"/>
              </a:ext>
            </a:extLst>
          </p:cNvPr>
          <p:cNvCxnSpPr>
            <a:stCxn xmlns:a="http://schemas.openxmlformats.org/drawingml/2006/main" id="11" idx="3"/>
            <a:endCxn xmlns:a="http://schemas.openxmlformats.org/drawingml/2006/main" id="14" idx="1"/>
          </p:cNvCxnSpPr>
          <p:nvPr/>
        </p:nvCxnSpPr>
        <p:spPr>
          <a:xfrm xmlns:a="http://schemas.openxmlformats.org/drawingml/2006/main">
            <a:off x="9344025" y="2790825"/>
            <a:ext cx="257175"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12" name="">
            <a:extLst xmlns:a="http://schemas.openxmlformats.org/drawingml/2006/main">
              <a:ext uri="{FF2B5EF4-FFF2-40B4-BE49-F238E27FC236}">
                <a16:creationId xmlns:a16="http://schemas.microsoft.com/office/drawing/2014/main" id="{FB443E52-9B57-4D7C-9148-AE9BC3631ED5}"/>
              </a:ext>
            </a:extLst>
          </p:cNvPr>
          <p:cNvCxnSpPr>
            <a:stCxn xmlns:a="http://schemas.openxmlformats.org/drawingml/2006/main" id="8" idx="3"/>
            <a:endCxn xmlns:a="http://schemas.openxmlformats.org/drawingml/2006/main" id="11" idx="1"/>
          </p:cNvCxnSpPr>
          <p:nvPr/>
        </p:nvCxnSpPr>
        <p:spPr>
          <a:xfrm xmlns:a="http://schemas.openxmlformats.org/drawingml/2006/main">
            <a:off x="7105650" y="2790825"/>
            <a:ext cx="257175"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9" name="">
            <a:extLst xmlns:a="http://schemas.openxmlformats.org/drawingml/2006/main">
              <a:ext uri="{FF2B5EF4-FFF2-40B4-BE49-F238E27FC236}">
                <a16:creationId xmlns:a16="http://schemas.microsoft.com/office/drawing/2014/main" id="{44994D7D-2B7D-4F09-B553-7C63CB8DBE87}"/>
              </a:ext>
            </a:extLst>
          </p:cNvPr>
          <p:cNvCxnSpPr>
            <a:stCxn xmlns:a="http://schemas.openxmlformats.org/drawingml/2006/main" id="5" idx="3"/>
            <a:endCxn xmlns:a="http://schemas.openxmlformats.org/drawingml/2006/main" id="8" idx="1"/>
          </p:cNvCxnSpPr>
          <p:nvPr/>
        </p:nvCxnSpPr>
        <p:spPr>
          <a:xfrm xmlns:a="http://schemas.openxmlformats.org/drawingml/2006/main">
            <a:off x="4867275" y="2790825"/>
            <a:ext cx="257175"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6" name="">
            <a:extLst xmlns:a="http://schemas.openxmlformats.org/drawingml/2006/main">
              <a:ext uri="{FF2B5EF4-FFF2-40B4-BE49-F238E27FC236}">
                <a16:creationId xmlns:a16="http://schemas.microsoft.com/office/drawing/2014/main" id="{A55551FE-01F6-4420-9029-F6218811B7C1}"/>
              </a:ext>
            </a:extLst>
          </p:cNvPr>
          <p:cNvCxnSpPr>
            <a:stCxn xmlns:a="http://schemas.openxmlformats.org/drawingml/2006/main" id="3" idx="3"/>
            <a:endCxn xmlns:a="http://schemas.openxmlformats.org/drawingml/2006/main" id="5" idx="1"/>
          </p:cNvCxnSpPr>
          <p:nvPr/>
        </p:nvCxnSpPr>
        <p:spPr>
          <a:xfrm xmlns:a="http://schemas.openxmlformats.org/drawingml/2006/main">
            <a:off x="2628900" y="2790825"/>
            <a:ext cx="257175"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23" name="">
            <a:extLst xmlns:a="http://schemas.openxmlformats.org/drawingml/2006/main">
              <a:ext uri="{FF2B5EF4-FFF2-40B4-BE49-F238E27FC236}">
                <a16:creationId xmlns:a16="http://schemas.microsoft.com/office/drawing/2014/main" id="{191EAEE7-B423-4639-B0A9-4782995C51DC}"/>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The five-stage workflow</a:t>
            </a:r>
          </a:p>
        </p:txBody>
      </p:sp>
      <p:sp>
        <p:nvSpPr>
          <p:cNvPr id="2" name="">
            <a:extLst xmlns:a="http://schemas.openxmlformats.org/drawingml/2006/main">
              <a:ext uri="{FF2B5EF4-FFF2-40B4-BE49-F238E27FC236}">
                <a16:creationId xmlns:a16="http://schemas.microsoft.com/office/drawing/2014/main" id="{1677D3FF-3946-4799-827F-5D0BB2D257C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074B312-4BB0-4E34-8B1C-03C271B02524}"/>
              </a:ext>
            </a:extLst>
          </p:cNvPr>
          <p:cNvSpPr>
            <a:spLocks xmlns:a="http://schemas.openxmlformats.org/drawingml/2006/main" noGrp="1"/>
          </p:cNvSpPr>
          <p:nvPr/>
        </p:nvSpPr>
        <p:spPr>
          <a:xfrm xmlns:a="http://schemas.openxmlformats.org/drawingml/2006/main">
            <a:off x="647700" y="2276475"/>
            <a:ext cx="1981200" cy="10287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Final</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Action</a:t>
            </a:r>
          </a:p>
        </p:txBody>
      </p:sp>
      <p:sp>
        <p:nvSpPr>
          <p:cNvPr id="4" name="">
            <a:extLst xmlns:a="http://schemas.openxmlformats.org/drawingml/2006/main">
              <a:ext uri="{FF2B5EF4-FFF2-40B4-BE49-F238E27FC236}">
                <a16:creationId xmlns:a16="http://schemas.microsoft.com/office/drawing/2014/main" id="{070AAFA4-1A08-49CD-8673-8222BAA012FF}"/>
              </a:ext>
            </a:extLst>
          </p:cNvPr>
          <p:cNvSpPr>
            <a:spLocks xmlns:a="http://schemas.openxmlformats.org/drawingml/2006/main" noGrp="1"/>
          </p:cNvSpPr>
          <p:nvPr/>
        </p:nvSpPr>
        <p:spPr>
          <a:xfrm xmlns:a="http://schemas.openxmlformats.org/drawingml/2006/main">
            <a:off x="647700" y="177165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D89E895-C6C5-4FE4-899B-8FF8BE90BDF7}"/>
              </a:ext>
            </a:extLst>
          </p:cNvPr>
          <p:cNvSpPr>
            <a:spLocks xmlns:a="http://schemas.openxmlformats.org/drawingml/2006/main" noGrp="1"/>
          </p:cNvSpPr>
          <p:nvPr/>
        </p:nvSpPr>
        <p:spPr>
          <a:xfrm xmlns:a="http://schemas.openxmlformats.org/drawingml/2006/main">
            <a:off x="2886075" y="2276475"/>
            <a:ext cx="1981200" cy="10287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Four-year</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Split</a:t>
            </a:r>
          </a:p>
        </p:txBody>
      </p:sp>
      <p:sp>
        <p:nvSpPr>
          <p:cNvPr id="7" name="">
            <a:extLst xmlns:a="http://schemas.openxmlformats.org/drawingml/2006/main">
              <a:ext uri="{FF2B5EF4-FFF2-40B4-BE49-F238E27FC236}">
                <a16:creationId xmlns:a16="http://schemas.microsoft.com/office/drawing/2014/main" id="{D77464F6-589C-4111-A29D-905E1E01BBBF}"/>
              </a:ext>
            </a:extLst>
          </p:cNvPr>
          <p:cNvSpPr>
            <a:spLocks xmlns:a="http://schemas.openxmlformats.org/drawingml/2006/main" noGrp="1"/>
          </p:cNvSpPr>
          <p:nvPr/>
        </p:nvSpPr>
        <p:spPr>
          <a:xfrm xmlns:a="http://schemas.openxmlformats.org/drawingml/2006/main">
            <a:off x="2886075" y="177165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87D78"/>
                </a:solidFill>
                <a:latin typeface="Arial"/>
                <a:ea typeface="Arial"/>
                <a:cs typeface="Arial"/>
              </a:defRPr>
            </a:defPPr>
          </a:lstStyle>
          <a:p xmlns:a="http://schemas.openxmlformats.org/drawingml/2006/main">
            <a:pPr algn="l">
              <a:defRPr sz="2100" b="1">
                <a:solidFill>
                  <a:srgbClr val="087D78"/>
                </a:solidFill>
                <a:latin typeface="Arial"/>
                <a:ea typeface="Arial"/>
                <a:cs typeface="Arial"/>
              </a:defRPr>
            </a:pPr>
            <a:r>
              <a:rPr sz="2100" b="1">
                <a:solidFill>
                  <a:srgbClr val="087D78"/>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0A82E3C-256A-4935-930A-A2277374BBF5}"/>
              </a:ext>
            </a:extLst>
          </p:cNvPr>
          <p:cNvSpPr>
            <a:spLocks xmlns:a="http://schemas.openxmlformats.org/drawingml/2006/main" noGrp="1"/>
          </p:cNvSpPr>
          <p:nvPr/>
        </p:nvSpPr>
        <p:spPr>
          <a:xfrm xmlns:a="http://schemas.openxmlformats.org/drawingml/2006/main">
            <a:off x="5124450" y="2276475"/>
            <a:ext cx="1981200" cy="10287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Stay</a:t>
            </a:r>
          </a:p>
        </p:txBody>
      </p:sp>
      <p:sp>
        <p:nvSpPr>
          <p:cNvPr id="10" name="">
            <a:extLst xmlns:a="http://schemas.openxmlformats.org/drawingml/2006/main">
              <a:ext uri="{FF2B5EF4-FFF2-40B4-BE49-F238E27FC236}">
                <a16:creationId xmlns:a16="http://schemas.microsoft.com/office/drawing/2014/main" id="{FBC640D1-7C6F-467F-BBC8-96E1F9A3CCBC}"/>
              </a:ext>
            </a:extLst>
          </p:cNvPr>
          <p:cNvSpPr>
            <a:spLocks xmlns:a="http://schemas.openxmlformats.org/drawingml/2006/main" noGrp="1"/>
          </p:cNvSpPr>
          <p:nvPr/>
        </p:nvSpPr>
        <p:spPr>
          <a:xfrm xmlns:a="http://schemas.openxmlformats.org/drawingml/2006/main">
            <a:off x="5124450" y="177165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7354B8"/>
                </a:solidFill>
                <a:latin typeface="Arial"/>
                <a:ea typeface="Arial"/>
                <a:cs typeface="Arial"/>
              </a:defRPr>
            </a:defPPr>
          </a:lstStyle>
          <a:p xmlns:a="http://schemas.openxmlformats.org/drawingml/2006/main">
            <a:pPr algn="l">
              <a:defRPr sz="2100" b="1">
                <a:solidFill>
                  <a:srgbClr val="7354B8"/>
                </a:solidFill>
                <a:latin typeface="Arial"/>
                <a:ea typeface="Arial"/>
                <a:cs typeface="Arial"/>
              </a:defRPr>
            </a:pPr>
            <a:r>
              <a:rPr sz="2100" b="1">
                <a:solidFill>
                  <a:srgbClr val="7354B8"/>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6C3F6EC-0411-4EDF-A0D3-94D30D82C64D}"/>
              </a:ext>
            </a:extLst>
          </p:cNvPr>
          <p:cNvSpPr>
            <a:spLocks xmlns:a="http://schemas.openxmlformats.org/drawingml/2006/main" noGrp="1"/>
          </p:cNvSpPr>
          <p:nvPr/>
        </p:nvSpPr>
        <p:spPr>
          <a:xfrm xmlns:a="http://schemas.openxmlformats.org/drawingml/2006/main">
            <a:off x="7362825" y="2276475"/>
            <a:ext cx="1981200" cy="1028700"/>
          </a:xfrm>
          <a:prstGeom xmlns:a="http://schemas.openxmlformats.org/drawingml/2006/main" prst="rect">
            <a:avLst/>
          </a:prstGeom>
          <a:solidFill xmlns:a="http://schemas.openxmlformats.org/drawingml/2006/main">
            <a:srgbClr val="B66A10"/>
          </a:solidFill>
          <a:ln xmlns:a="http://schemas.openxmlformats.org/drawingml/2006/main" w="0">
            <a:solidFill>
              <a:srgbClr val="B66A10"/>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Intermediate</a:t>
            </a:r>
          </a:p>
        </p:txBody>
      </p:sp>
      <p:sp>
        <p:nvSpPr>
          <p:cNvPr id="13" name="">
            <a:extLst xmlns:a="http://schemas.openxmlformats.org/drawingml/2006/main">
              <a:ext uri="{FF2B5EF4-FFF2-40B4-BE49-F238E27FC236}">
                <a16:creationId xmlns:a16="http://schemas.microsoft.com/office/drawing/2014/main" id="{1ED7EDFC-75D6-4298-A91D-E99D5FA0B870}"/>
              </a:ext>
            </a:extLst>
          </p:cNvPr>
          <p:cNvSpPr>
            <a:spLocks xmlns:a="http://schemas.openxmlformats.org/drawingml/2006/main" noGrp="1"/>
          </p:cNvSpPr>
          <p:nvPr/>
        </p:nvSpPr>
        <p:spPr>
          <a:xfrm xmlns:a="http://schemas.openxmlformats.org/drawingml/2006/main">
            <a:off x="7362825" y="177165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B66A10"/>
                </a:solidFill>
                <a:latin typeface="Arial"/>
                <a:ea typeface="Arial"/>
                <a:cs typeface="Arial"/>
              </a:defRPr>
            </a:defPPr>
          </a:lstStyle>
          <a:p xmlns:a="http://schemas.openxmlformats.org/drawingml/2006/main">
            <a:pPr algn="l">
              <a:defRPr sz="2100" b="1">
                <a:solidFill>
                  <a:srgbClr val="B66A10"/>
                </a:solidFill>
                <a:latin typeface="Arial"/>
                <a:ea typeface="Arial"/>
                <a:cs typeface="Arial"/>
              </a:defRPr>
            </a:pPr>
            <a:r>
              <a:rPr sz="2100" b="1">
                <a:solidFill>
                  <a:srgbClr val="B66A10"/>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CA9756FC-794D-4148-A89B-621E5D082709}"/>
              </a:ext>
            </a:extLst>
          </p:cNvPr>
          <p:cNvSpPr>
            <a:spLocks xmlns:a="http://schemas.openxmlformats.org/drawingml/2006/main" noGrp="1"/>
          </p:cNvSpPr>
          <p:nvPr/>
        </p:nvSpPr>
        <p:spPr>
          <a:xfrm xmlns:a="http://schemas.openxmlformats.org/drawingml/2006/main">
            <a:off x="9601200" y="2276475"/>
            <a:ext cx="1981200" cy="102870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Final</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MEDPAR</a:t>
            </a:r>
          </a:p>
        </p:txBody>
      </p:sp>
      <p:sp>
        <p:nvSpPr>
          <p:cNvPr id="16" name="">
            <a:extLst xmlns:a="http://schemas.openxmlformats.org/drawingml/2006/main">
              <a:ext uri="{FF2B5EF4-FFF2-40B4-BE49-F238E27FC236}">
                <a16:creationId xmlns:a16="http://schemas.microsoft.com/office/drawing/2014/main" id="{0CE7CB1C-9934-44A8-8798-1AB0D307F609}"/>
              </a:ext>
            </a:extLst>
          </p:cNvPr>
          <p:cNvSpPr>
            <a:spLocks xmlns:a="http://schemas.openxmlformats.org/drawingml/2006/main" noGrp="1"/>
          </p:cNvSpPr>
          <p:nvPr/>
        </p:nvSpPr>
        <p:spPr>
          <a:xfrm xmlns:a="http://schemas.openxmlformats.org/drawingml/2006/main">
            <a:off x="9601200" y="1771650"/>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72B43"/>
                </a:solidFill>
                <a:latin typeface="Arial"/>
                <a:ea typeface="Arial"/>
                <a:cs typeface="Arial"/>
              </a:defRPr>
            </a:defPPr>
          </a:lstStyle>
          <a:p xmlns:a="http://schemas.openxmlformats.org/drawingml/2006/main">
            <a:pPr algn="l">
              <a:defRPr sz="2100" b="1">
                <a:solidFill>
                  <a:srgbClr val="172B43"/>
                </a:solidFill>
                <a:latin typeface="Arial"/>
                <a:ea typeface="Arial"/>
                <a:cs typeface="Arial"/>
              </a:defRPr>
            </a:pPr>
            <a:r>
              <a:rPr sz="2100" b="1">
                <a:solidFill>
                  <a:srgbClr val="172B43"/>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311D2156-D3D4-4338-980C-E716A5074158}"/>
              </a:ext>
            </a:extLst>
          </p:cNvPr>
          <p:cNvSpPr>
            <a:spLocks xmlns:a="http://schemas.openxmlformats.org/drawingml/2006/main" noGrp="1"/>
          </p:cNvSpPr>
          <p:nvPr/>
        </p:nvSpPr>
        <p:spPr>
          <a:xfrm xmlns:a="http://schemas.openxmlformats.org/drawingml/2006/main">
            <a:off x="647700" y="36861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Choose retained</a:t>
            </a:r>
          </a:p>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claims</a:t>
            </a:r>
          </a:p>
        </p:txBody>
      </p:sp>
      <p:sp>
        <p:nvSpPr>
          <p:cNvPr id="18" name="">
            <a:extLst xmlns:a="http://schemas.openxmlformats.org/drawingml/2006/main">
              <a:ext uri="{FF2B5EF4-FFF2-40B4-BE49-F238E27FC236}">
                <a16:creationId xmlns:a16="http://schemas.microsoft.com/office/drawing/2014/main" id="{9F99FD87-2564-47F4-BF4D-1C0A2F95DB62}"/>
              </a:ext>
            </a:extLst>
          </p:cNvPr>
          <p:cNvSpPr>
            <a:spLocks xmlns:a="http://schemas.openxmlformats.org/drawingml/2006/main" noGrp="1"/>
          </p:cNvSpPr>
          <p:nvPr/>
        </p:nvSpPr>
        <p:spPr>
          <a:xfrm xmlns:a="http://schemas.openxmlformats.org/drawingml/2006/main">
            <a:off x="2886075" y="36861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Keep records in</a:t>
            </a:r>
          </a:p>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the recent window</a:t>
            </a:r>
          </a:p>
        </p:txBody>
      </p:sp>
      <p:sp>
        <p:nvSpPr>
          <p:cNvPr id="19" name="">
            <a:extLst xmlns:a="http://schemas.openxmlformats.org/drawingml/2006/main">
              <a:ext uri="{FF2B5EF4-FFF2-40B4-BE49-F238E27FC236}">
                <a16:creationId xmlns:a16="http://schemas.microsoft.com/office/drawing/2014/main" id="{50D91CC8-4EDB-4B41-B7B6-C17951C27045}"/>
              </a:ext>
            </a:extLst>
          </p:cNvPr>
          <p:cNvSpPr>
            <a:spLocks xmlns:a="http://schemas.openxmlformats.org/drawingml/2006/main" noGrp="1"/>
          </p:cNvSpPr>
          <p:nvPr/>
        </p:nvSpPr>
        <p:spPr>
          <a:xfrm xmlns:a="http://schemas.openxmlformats.org/drawingml/2006/main">
            <a:off x="5124450" y="36861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Combine bills</a:t>
            </a:r>
          </a:p>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for one stay</a:t>
            </a:r>
          </a:p>
        </p:txBody>
      </p:sp>
      <p:sp>
        <p:nvSpPr>
          <p:cNvPr id="20" name="">
            <a:extLst xmlns:a="http://schemas.openxmlformats.org/drawingml/2006/main">
              <a:ext uri="{FF2B5EF4-FFF2-40B4-BE49-F238E27FC236}">
                <a16:creationId xmlns:a16="http://schemas.microsoft.com/office/drawing/2014/main" id="{E891B80A-3E0C-4FC5-9277-505EA28F6D08}"/>
              </a:ext>
            </a:extLst>
          </p:cNvPr>
          <p:cNvSpPr>
            <a:spLocks xmlns:a="http://schemas.openxmlformats.org/drawingml/2006/main" noGrp="1"/>
          </p:cNvSpPr>
          <p:nvPr/>
        </p:nvSpPr>
        <p:spPr>
          <a:xfrm xmlns:a="http://schemas.openxmlformats.org/drawingml/2006/main">
            <a:off x="7362825" y="36861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Calculate</a:t>
            </a:r>
          </a:p>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output fields</a:t>
            </a:r>
          </a:p>
        </p:txBody>
      </p:sp>
      <p:sp>
        <p:nvSpPr>
          <p:cNvPr id="21" name="">
            <a:extLst xmlns:a="http://schemas.openxmlformats.org/drawingml/2006/main">
              <a:ext uri="{FF2B5EF4-FFF2-40B4-BE49-F238E27FC236}">
                <a16:creationId xmlns:a16="http://schemas.microsoft.com/office/drawing/2014/main" id="{6AE2075E-B751-47C2-BC13-1F609782CAD8}"/>
              </a:ext>
            </a:extLst>
          </p:cNvPr>
          <p:cNvSpPr>
            <a:spLocks xmlns:a="http://schemas.openxmlformats.org/drawingml/2006/main" noGrp="1"/>
          </p:cNvSpPr>
          <p:nvPr/>
        </p:nvSpPr>
        <p:spPr>
          <a:xfrm xmlns:a="http://schemas.openxmlformats.org/drawingml/2006/main">
            <a:off x="9601200" y="3686175"/>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Check the final</a:t>
            </a:r>
          </a:p>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record format</a:t>
            </a:r>
          </a:p>
        </p:txBody>
      </p:sp>
      <p:sp>
        <p:nvSpPr>
          <p:cNvPr id="22" name="">
            <a:extLst xmlns:a="http://schemas.openxmlformats.org/drawingml/2006/main">
              <a:ext uri="{FF2B5EF4-FFF2-40B4-BE49-F238E27FC236}">
                <a16:creationId xmlns:a16="http://schemas.microsoft.com/office/drawing/2014/main" id="{85129768-60BA-40AA-AD41-1EB1506D5349}"/>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Each stage has its own inputs, matching rules and conclusion.</a:t>
            </a:r>
          </a:p>
        </p:txBody>
      </p:sp>
    </p:spTree>
    <p:extLst>
      <p:ext uri="{BB962C8B-B14F-4D97-AF65-F5344CB8AC3E}">
        <p14:creationId xmlns:p14="http://schemas.microsoft.com/office/powerpoint/2010/main" val="825762101"/>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F6948F7-8359-403D-8410-995BA07C309C}"/>
              </a:ext>
            </a:extLst>
          </p:cNvPr>
          <p:cNvCxnSpPr>
            <a:stCxn xmlns:a="http://schemas.openxmlformats.org/drawingml/2006/main" id="6" idx="3"/>
            <a:endCxn xmlns:a="http://schemas.openxmlformats.org/drawingml/2006/main" id="10" idx="1"/>
          </p:cNvCxnSpPr>
          <p:nvPr/>
        </p:nvCxnSpPr>
        <p:spPr>
          <a:xfrm xmlns:a="http://schemas.openxmlformats.org/drawingml/2006/main">
            <a:off x="8191500" y="4057650"/>
            <a:ext cx="1428750"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9" name="">
            <a:extLst xmlns:a="http://schemas.openxmlformats.org/drawingml/2006/main">
              <a:ext uri="{FF2B5EF4-FFF2-40B4-BE49-F238E27FC236}">
                <a16:creationId xmlns:a16="http://schemas.microsoft.com/office/drawing/2014/main" id="{297B06F3-FE8E-4747-B866-7297B220B385}"/>
              </a:ext>
            </a:extLst>
          </p:cNvPr>
          <p:cNvCxnSpPr>
            <a:stCxn xmlns:a="http://schemas.openxmlformats.org/drawingml/2006/main" id="5" idx="3"/>
            <a:endCxn xmlns:a="http://schemas.openxmlformats.org/drawingml/2006/main" id="6" idx="1"/>
          </p:cNvCxnSpPr>
          <p:nvPr/>
        </p:nvCxnSpPr>
        <p:spPr>
          <a:xfrm xmlns:a="http://schemas.openxmlformats.org/drawingml/2006/main" flipV="1">
            <a:off x="3695700" y="4057650"/>
            <a:ext cx="1638300" cy="1500188"/>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cxnSp>
        <p:nvCxnSpPr>
          <p:cNvPr id="8" name="">
            <a:extLst xmlns:a="http://schemas.openxmlformats.org/drawingml/2006/main">
              <a:ext uri="{FF2B5EF4-FFF2-40B4-BE49-F238E27FC236}">
                <a16:creationId xmlns:a16="http://schemas.microsoft.com/office/drawing/2014/main" id="{3EC4E1AC-F29A-498C-B03C-F1B14A3022F7}"/>
              </a:ext>
            </a:extLst>
          </p:cNvPr>
          <p:cNvCxnSpPr>
            <a:stCxn xmlns:a="http://schemas.openxmlformats.org/drawingml/2006/main" id="4" idx="3"/>
            <a:endCxn xmlns:a="http://schemas.openxmlformats.org/drawingml/2006/main" id="6" idx="1"/>
          </p:cNvCxnSpPr>
          <p:nvPr/>
        </p:nvCxnSpPr>
        <p:spPr>
          <a:xfrm xmlns:a="http://schemas.openxmlformats.org/drawingml/2006/main" flipV="1">
            <a:off x="3695700" y="4057650"/>
            <a:ext cx="1638300" cy="80963"/>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cxnSp>
        <p:nvCxnSpPr>
          <p:cNvPr id="7" name="">
            <a:extLst xmlns:a="http://schemas.openxmlformats.org/drawingml/2006/main">
              <a:ext uri="{FF2B5EF4-FFF2-40B4-BE49-F238E27FC236}">
                <a16:creationId xmlns:a16="http://schemas.microsoft.com/office/drawing/2014/main" id="{E4BA24C8-0335-4315-8017-FA262003C933}"/>
              </a:ext>
            </a:extLst>
          </p:cNvPr>
          <p:cNvCxnSpPr>
            <a:stCxn xmlns:a="http://schemas.openxmlformats.org/drawingml/2006/main" id="3" idx="3"/>
            <a:endCxn xmlns:a="http://schemas.openxmlformats.org/drawingml/2006/main" id="6" idx="1"/>
          </p:cNvCxnSpPr>
          <p:nvPr/>
        </p:nvCxnSpPr>
        <p:spPr>
          <a:xfrm xmlns:a="http://schemas.openxmlformats.org/drawingml/2006/main">
            <a:off x="3695700" y="2719388"/>
            <a:ext cx="1638300" cy="1338263"/>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sp>
        <p:nvSpPr>
          <p:cNvPr id="12" name="">
            <a:extLst xmlns:a="http://schemas.openxmlformats.org/drawingml/2006/main">
              <a:ext uri="{FF2B5EF4-FFF2-40B4-BE49-F238E27FC236}">
                <a16:creationId xmlns:a16="http://schemas.microsoft.com/office/drawing/2014/main" id="{4C1F2F9A-2E9E-40AD-A174-C73B635387F2}"/>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What goes into a validation run</a:t>
            </a:r>
          </a:p>
        </p:txBody>
      </p:sp>
      <p:sp>
        <p:nvSpPr>
          <p:cNvPr id="2" name="">
            <a:extLst xmlns:a="http://schemas.openxmlformats.org/drawingml/2006/main">
              <a:ext uri="{FF2B5EF4-FFF2-40B4-BE49-F238E27FC236}">
                <a16:creationId xmlns:a16="http://schemas.microsoft.com/office/drawing/2014/main" id="{2F295C54-5BFF-4B66-B559-DC7BE580B84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CF75A75-B615-43F7-B5AB-FC4A13853078}"/>
              </a:ext>
            </a:extLst>
          </p:cNvPr>
          <p:cNvSpPr>
            <a:spLocks xmlns:a="http://schemas.openxmlformats.org/drawingml/2006/main" noGrp="1"/>
          </p:cNvSpPr>
          <p:nvPr/>
        </p:nvSpPr>
        <p:spPr>
          <a:xfrm xmlns:a="http://schemas.openxmlformats.org/drawingml/2006/main">
            <a:off x="647700" y="2276475"/>
            <a:ext cx="3048000" cy="885825"/>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Source file</a:t>
            </a:r>
          </a:p>
        </p:txBody>
      </p:sp>
      <p:sp>
        <p:nvSpPr>
          <p:cNvPr id="4" name="">
            <a:extLst xmlns:a="http://schemas.openxmlformats.org/drawingml/2006/main">
              <a:ext uri="{FF2B5EF4-FFF2-40B4-BE49-F238E27FC236}">
                <a16:creationId xmlns:a16="http://schemas.microsoft.com/office/drawing/2014/main" id="{3F7E75C9-882F-400B-A196-6EA86D41E866}"/>
              </a:ext>
            </a:extLst>
          </p:cNvPr>
          <p:cNvSpPr>
            <a:spLocks xmlns:a="http://schemas.openxmlformats.org/drawingml/2006/main" noGrp="1"/>
          </p:cNvSpPr>
          <p:nvPr/>
        </p:nvSpPr>
        <p:spPr>
          <a:xfrm xmlns:a="http://schemas.openxmlformats.org/drawingml/2006/main">
            <a:off x="647700" y="3695700"/>
            <a:ext cx="3048000" cy="885825"/>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Actual output file</a:t>
            </a:r>
          </a:p>
        </p:txBody>
      </p:sp>
      <p:sp>
        <p:nvSpPr>
          <p:cNvPr id="5" name="">
            <a:extLst xmlns:a="http://schemas.openxmlformats.org/drawingml/2006/main">
              <a:ext uri="{FF2B5EF4-FFF2-40B4-BE49-F238E27FC236}">
                <a16:creationId xmlns:a16="http://schemas.microsoft.com/office/drawing/2014/main" id="{500487DA-C14D-48AE-92C6-0473254571C0}"/>
              </a:ext>
            </a:extLst>
          </p:cNvPr>
          <p:cNvSpPr>
            <a:spLocks xmlns:a="http://schemas.openxmlformats.org/drawingml/2006/main" noGrp="1"/>
          </p:cNvSpPr>
          <p:nvPr/>
        </p:nvSpPr>
        <p:spPr>
          <a:xfrm xmlns:a="http://schemas.openxmlformats.org/drawingml/2006/main">
            <a:off x="647700" y="5114925"/>
            <a:ext cx="3048000" cy="885825"/>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Approved expected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file (optional)</a:t>
            </a:r>
          </a:p>
        </p:txBody>
      </p:sp>
      <p:sp>
        <p:nvSpPr>
          <p:cNvPr id="6" name="">
            <a:extLst xmlns:a="http://schemas.openxmlformats.org/drawingml/2006/main">
              <a:ext uri="{FF2B5EF4-FFF2-40B4-BE49-F238E27FC236}">
                <a16:creationId xmlns:a16="http://schemas.microsoft.com/office/drawing/2014/main" id="{BDB19B40-6A6F-4CB3-A209-487F56AAE52D}"/>
              </a:ext>
            </a:extLst>
          </p:cNvPr>
          <p:cNvSpPr>
            <a:spLocks xmlns:a="http://schemas.openxmlformats.org/drawingml/2006/main" noGrp="1"/>
          </p:cNvSpPr>
          <p:nvPr/>
        </p:nvSpPr>
        <p:spPr>
          <a:xfrm xmlns:a="http://schemas.openxmlformats.org/drawingml/2006/main">
            <a:off x="5334000" y="3533775"/>
            <a:ext cx="2857500" cy="104775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Stage validator</a:t>
            </a:r>
          </a:p>
        </p:txBody>
      </p:sp>
      <p:sp>
        <p:nvSpPr>
          <p:cNvPr id="10" name="">
            <a:extLst xmlns:a="http://schemas.openxmlformats.org/drawingml/2006/main">
              <a:ext uri="{FF2B5EF4-FFF2-40B4-BE49-F238E27FC236}">
                <a16:creationId xmlns:a16="http://schemas.microsoft.com/office/drawing/2014/main" id="{E7DA3529-4831-432F-A550-743696B2DA9B}"/>
              </a:ext>
            </a:extLst>
          </p:cNvPr>
          <p:cNvSpPr>
            <a:spLocks xmlns:a="http://schemas.openxmlformats.org/drawingml/2006/main" noGrp="1"/>
          </p:cNvSpPr>
          <p:nvPr/>
        </p:nvSpPr>
        <p:spPr>
          <a:xfrm xmlns:a="http://schemas.openxmlformats.org/drawingml/2006/main">
            <a:off x="9620250" y="3533775"/>
            <a:ext cx="2000250" cy="104775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Explained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results</a:t>
            </a:r>
          </a:p>
        </p:txBody>
      </p:sp>
    </p:spTree>
    <p:extLst>
      <p:ext uri="{BB962C8B-B14F-4D97-AF65-F5344CB8AC3E}">
        <p14:creationId xmlns:p14="http://schemas.microsoft.com/office/powerpoint/2010/main" val="1819729889"/>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8890AFE1-619A-4DB3-9DB1-2FC7F14E456D}"/>
              </a:ext>
            </a:extLst>
          </p:cNvPr>
          <p:cNvCxnSpPr>
            <a:stCxn xmlns:a="http://schemas.openxmlformats.org/drawingml/2006/main" id="5" idx="3"/>
            <a:endCxn xmlns:a="http://schemas.openxmlformats.org/drawingml/2006/main" id="6" idx="1"/>
          </p:cNvCxnSpPr>
          <p:nvPr/>
        </p:nvCxnSpPr>
        <p:spPr>
          <a:xfrm xmlns:a="http://schemas.openxmlformats.org/drawingml/2006/main">
            <a:off x="6143625" y="3800475"/>
            <a:ext cx="18097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1E3DB376-5FAA-46FB-B29D-E3BCC8CFDFB9}"/>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1. Final Action</a:t>
            </a:r>
          </a:p>
        </p:txBody>
      </p:sp>
      <p:sp>
        <p:nvSpPr>
          <p:cNvPr id="2" name="">
            <a:extLst xmlns:a="http://schemas.openxmlformats.org/drawingml/2006/main">
              <a:ext uri="{FF2B5EF4-FFF2-40B4-BE49-F238E27FC236}">
                <a16:creationId xmlns:a16="http://schemas.microsoft.com/office/drawing/2014/main" id="{93CE607B-B3A3-4C2A-A0AD-787A6620D0FC}"/>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8265544-114E-4400-A3C3-525707CE9798}"/>
              </a:ext>
            </a:extLst>
          </p:cNvPr>
          <p:cNvSpPr>
            <a:spLocks xmlns:a="http://schemas.openxmlformats.org/drawingml/2006/main" noGrp="1"/>
          </p:cNvSpPr>
          <p:nvPr/>
        </p:nvSpPr>
        <p:spPr>
          <a:xfrm xmlns:a="http://schemas.openxmlformats.org/drawingml/2006/main">
            <a:off x="619125" y="1724025"/>
            <a:ext cx="1809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0" b="1">
                <a:solidFill>
                  <a:srgbClr val="2457D6"/>
                </a:solidFill>
                <a:latin typeface="Arial"/>
                <a:ea typeface="Arial"/>
                <a:cs typeface="Arial"/>
              </a:defRPr>
            </a:defPPr>
          </a:lstStyle>
          <a:p xmlns:a="http://schemas.openxmlformats.org/drawingml/2006/main">
            <a:pPr algn="l">
              <a:defRPr sz="10500" b="1">
                <a:solidFill>
                  <a:srgbClr val="2457D6"/>
                </a:solidFill>
                <a:latin typeface="Arial"/>
                <a:ea typeface="Arial"/>
                <a:cs typeface="Arial"/>
              </a:defRPr>
            </a:pPr>
            <a:r>
              <a:rPr sz="10500" b="1">
                <a:solidFill>
                  <a:srgbClr val="2457D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99397C4-E78D-4B6D-BC45-F566EAAE382F}"/>
              </a:ext>
            </a:extLst>
          </p:cNvPr>
          <p:cNvSpPr>
            <a:spLocks xmlns:a="http://schemas.openxmlformats.org/drawingml/2006/main" noGrp="1"/>
          </p:cNvSpPr>
          <p:nvPr/>
        </p:nvSpPr>
        <p:spPr>
          <a:xfrm xmlns:a="http://schemas.openxmlformats.org/drawingml/2006/main">
            <a:off x="2762250" y="18192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72B43"/>
                </a:solidFill>
                <a:latin typeface="Arial"/>
                <a:ea typeface="Arial"/>
                <a:cs typeface="Arial"/>
              </a:defRPr>
            </a:defPPr>
          </a:lstStyle>
          <a:p xmlns:a="http://schemas.openxmlformats.org/drawingml/2006/main">
            <a:pPr algn="l">
              <a:defRPr sz="2625" b="1">
                <a:solidFill>
                  <a:srgbClr val="172B43"/>
                </a:solidFill>
                <a:latin typeface="Arial"/>
                <a:ea typeface="Arial"/>
                <a:cs typeface="Arial"/>
              </a:defRPr>
            </a:pPr>
            <a:r>
              <a:rPr sz="2625" b="1">
                <a:solidFill>
                  <a:srgbClr val="172B43"/>
                </a:solidFill>
                <a:latin typeface="Arial"/>
                <a:ea typeface="Arial"/>
                <a:cs typeface="Arial"/>
              </a:rPr>
              <a:t>Choose the claims that should continue.</a:t>
            </a:r>
          </a:p>
        </p:txBody>
      </p:sp>
      <p:sp>
        <p:nvSpPr>
          <p:cNvPr id="5" name="">
            <a:extLst xmlns:a="http://schemas.openxmlformats.org/drawingml/2006/main">
              <a:ext uri="{FF2B5EF4-FFF2-40B4-BE49-F238E27FC236}">
                <a16:creationId xmlns:a16="http://schemas.microsoft.com/office/drawing/2014/main" id="{8ECDE8F5-5E9A-4801-A86C-4D4BCA0C4425}"/>
              </a:ext>
            </a:extLst>
          </p:cNvPr>
          <p:cNvSpPr>
            <a:spLocks xmlns:a="http://schemas.openxmlformats.org/drawingml/2006/main" noGrp="1"/>
          </p:cNvSpPr>
          <p:nvPr/>
        </p:nvSpPr>
        <p:spPr>
          <a:xfrm xmlns:a="http://schemas.openxmlformats.org/drawingml/2006/main">
            <a:off x="2762250" y="3286125"/>
            <a:ext cx="3381375" cy="10287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Claim records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and adjustments</a:t>
            </a:r>
          </a:p>
        </p:txBody>
      </p:sp>
      <p:sp>
        <p:nvSpPr>
          <p:cNvPr id="6" name="">
            <a:extLst xmlns:a="http://schemas.openxmlformats.org/drawingml/2006/main">
              <a:ext uri="{FF2B5EF4-FFF2-40B4-BE49-F238E27FC236}">
                <a16:creationId xmlns:a16="http://schemas.microsoft.com/office/drawing/2014/main" id="{04054E08-9D82-49F4-AA57-F6BB3AC67403}"/>
              </a:ext>
            </a:extLst>
          </p:cNvPr>
          <p:cNvSpPr>
            <a:spLocks xmlns:a="http://schemas.openxmlformats.org/drawingml/2006/main" noGrp="1"/>
          </p:cNvSpPr>
          <p:nvPr/>
        </p:nvSpPr>
        <p:spPr>
          <a:xfrm xmlns:a="http://schemas.openxmlformats.org/drawingml/2006/main">
            <a:off x="7953375" y="3286125"/>
            <a:ext cx="3381375" cy="10287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Retained claims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plus drop decisions</a:t>
            </a:r>
          </a:p>
        </p:txBody>
      </p:sp>
      <p:sp>
        <p:nvSpPr>
          <p:cNvPr id="8" name="">
            <a:extLst xmlns:a="http://schemas.openxmlformats.org/drawingml/2006/main">
              <a:ext uri="{FF2B5EF4-FFF2-40B4-BE49-F238E27FC236}">
                <a16:creationId xmlns:a16="http://schemas.microsoft.com/office/drawing/2014/main" id="{455625BE-B0F8-4C61-B543-80F9DF487065}"/>
              </a:ext>
            </a:extLst>
          </p:cNvPr>
          <p:cNvSpPr>
            <a:spLocks xmlns:a="http://schemas.openxmlformats.org/drawingml/2006/main" noGrp="1"/>
          </p:cNvSpPr>
          <p:nvPr/>
        </p:nvSpPr>
        <p:spPr>
          <a:xfrm xmlns:a="http://schemas.openxmlformats.org/drawingml/2006/main">
            <a:off x="2771775" y="4714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2457D6"/>
                </a:solidFill>
                <a:latin typeface="Arial"/>
                <a:ea typeface="Arial"/>
                <a:cs typeface="Arial"/>
              </a:defRPr>
            </a:defPPr>
          </a:lstStyle>
          <a:p xmlns:a="http://schemas.openxmlformats.org/drawingml/2006/main">
            <a:pPr algn="l">
              <a:defRPr sz="1875" b="1">
                <a:solidFill>
                  <a:srgbClr val="2457D6"/>
                </a:solidFill>
                <a:latin typeface="Arial"/>
                <a:ea typeface="Arial"/>
                <a:cs typeface="Arial"/>
              </a:defRPr>
            </a:pPr>
            <a:r>
              <a:rPr sz="1875" b="1">
                <a:solidFill>
                  <a:srgbClr val="2457D6"/>
                </a:solidFill>
                <a:latin typeface="Arial"/>
                <a:ea typeface="Arial"/>
                <a:cs typeface="Arial"/>
              </a:rPr>
              <a:t>The validator checks</a:t>
            </a:r>
          </a:p>
        </p:txBody>
      </p:sp>
      <p:sp>
        <p:nvSpPr>
          <p:cNvPr id="9" name="">
            <a:extLst xmlns:a="http://schemas.openxmlformats.org/drawingml/2006/main">
              <a:ext uri="{FF2B5EF4-FFF2-40B4-BE49-F238E27FC236}">
                <a16:creationId xmlns:a16="http://schemas.microsoft.com/office/drawing/2014/main" id="{5FE72229-8999-4CB4-A792-2E47F6E54162}"/>
              </a:ext>
            </a:extLst>
          </p:cNvPr>
          <p:cNvSpPr>
            <a:spLocks xmlns:a="http://schemas.openxmlformats.org/drawingml/2006/main" noGrp="1"/>
          </p:cNvSpPr>
          <p:nvPr/>
        </p:nvSpPr>
        <p:spPr>
          <a:xfrm xmlns:a="http://schemas.openxmlformats.org/drawingml/2006/main">
            <a:off x="2771775" y="5153025"/>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Which records belong together, which rule applies and whether the correct claims continue.</a:t>
            </a:r>
          </a:p>
        </p:txBody>
      </p:sp>
    </p:spTree>
    <p:extLst>
      <p:ext uri="{BB962C8B-B14F-4D97-AF65-F5344CB8AC3E}">
        <p14:creationId xmlns:p14="http://schemas.microsoft.com/office/powerpoint/2010/main" val="1025207488"/>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36BE7209-BAB6-4951-88DD-2E55C632B1A3}"/>
              </a:ext>
            </a:extLst>
          </p:cNvPr>
          <p:cNvCxnSpPr>
            <a:stCxn xmlns:a="http://schemas.openxmlformats.org/drawingml/2006/main" id="5" idx="3"/>
            <a:endCxn xmlns:a="http://schemas.openxmlformats.org/drawingml/2006/main" id="7" idx="1"/>
          </p:cNvCxnSpPr>
          <p:nvPr/>
        </p:nvCxnSpPr>
        <p:spPr>
          <a:xfrm xmlns:a="http://schemas.openxmlformats.org/drawingml/2006/main">
            <a:off x="4267200" y="4876800"/>
            <a:ext cx="3095625"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8" name="">
            <a:extLst xmlns:a="http://schemas.openxmlformats.org/drawingml/2006/main">
              <a:ext uri="{FF2B5EF4-FFF2-40B4-BE49-F238E27FC236}">
                <a16:creationId xmlns:a16="http://schemas.microsoft.com/office/drawing/2014/main" id="{C391845C-7336-4FDF-AA36-867FE0729257}"/>
              </a:ext>
            </a:extLst>
          </p:cNvPr>
          <p:cNvCxnSpPr>
            <a:stCxn xmlns:a="http://schemas.openxmlformats.org/drawingml/2006/main" id="4" idx="3"/>
            <a:endCxn xmlns:a="http://schemas.openxmlformats.org/drawingml/2006/main" id="6" idx="1"/>
          </p:cNvCxnSpPr>
          <p:nvPr/>
        </p:nvCxnSpPr>
        <p:spPr>
          <a:xfrm xmlns:a="http://schemas.openxmlformats.org/drawingml/2006/main">
            <a:off x="4267200" y="3152775"/>
            <a:ext cx="3095625"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1" name="">
            <a:extLst xmlns:a="http://schemas.openxmlformats.org/drawingml/2006/main">
              <a:ext uri="{FF2B5EF4-FFF2-40B4-BE49-F238E27FC236}">
                <a16:creationId xmlns:a16="http://schemas.microsoft.com/office/drawing/2014/main" id="{016D697F-107A-4B34-8059-DBF80CCF15A0}"/>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example: repeated claim number</a:t>
            </a:r>
          </a:p>
        </p:txBody>
      </p:sp>
      <p:sp>
        <p:nvSpPr>
          <p:cNvPr id="2" name="">
            <a:extLst xmlns:a="http://schemas.openxmlformats.org/drawingml/2006/main">
              <a:ext uri="{FF2B5EF4-FFF2-40B4-BE49-F238E27FC236}">
                <a16:creationId xmlns:a16="http://schemas.microsoft.com/office/drawing/2014/main" id="{6EB43964-D6BE-46B8-A627-6313409BD363}"/>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4DDE50F-4693-41C4-9D8F-C583B3DE03DF}"/>
              </a:ext>
            </a:extLst>
          </p:cNvPr>
          <p:cNvSpPr>
            <a:spLocks xmlns:a="http://schemas.openxmlformats.org/drawingml/2006/main" noGrp="1"/>
          </p:cNvSpPr>
          <p:nvPr/>
        </p:nvSpPr>
        <p:spPr>
          <a:xfrm xmlns:a="http://schemas.openxmlformats.org/drawingml/2006/main">
            <a:off x="6477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597080"/>
                </a:solidFill>
                <a:latin typeface="Arial"/>
                <a:ea typeface="Arial"/>
                <a:cs typeface="Arial"/>
              </a:defRPr>
            </a:defPPr>
          </a:lstStyle>
          <a:p xmlns:a="http://schemas.openxmlformats.org/drawingml/2006/main">
            <a:pPr algn="l">
              <a:defRPr sz="2175" b="0">
                <a:solidFill>
                  <a:srgbClr val="597080"/>
                </a:solidFill>
                <a:latin typeface="Arial"/>
                <a:ea typeface="Arial"/>
                <a:cs typeface="Arial"/>
              </a:defRPr>
            </a:pPr>
            <a:r>
              <a:rPr sz="2175" b="0">
                <a:solidFill>
                  <a:srgbClr val="597080"/>
                </a:solidFill>
                <a:latin typeface="Arial"/>
                <a:ea typeface="Arial"/>
                <a:cs typeface="Arial"/>
              </a:rPr>
              <a:t>Two versions of the same claim</a:t>
            </a:r>
          </a:p>
        </p:txBody>
      </p:sp>
      <p:sp>
        <p:nvSpPr>
          <p:cNvPr id="4" name="">
            <a:extLst xmlns:a="http://schemas.openxmlformats.org/drawingml/2006/main">
              <a:ext uri="{FF2B5EF4-FFF2-40B4-BE49-F238E27FC236}">
                <a16:creationId xmlns:a16="http://schemas.microsoft.com/office/drawing/2014/main" id="{C642A8C9-7529-4D59-BD73-25E1D56C3934}"/>
              </a:ext>
            </a:extLst>
          </p:cNvPr>
          <p:cNvSpPr>
            <a:spLocks xmlns:a="http://schemas.openxmlformats.org/drawingml/2006/main" noGrp="1"/>
          </p:cNvSpPr>
          <p:nvPr/>
        </p:nvSpPr>
        <p:spPr>
          <a:xfrm xmlns:a="http://schemas.openxmlformats.org/drawingml/2006/main">
            <a:off x="647700" y="2619375"/>
            <a:ext cx="3619500" cy="1066800"/>
          </a:xfrm>
          <a:prstGeom xmlns:a="http://schemas.openxmlformats.org/drawingml/2006/main" prst="rect">
            <a:avLst/>
          </a:prstGeom>
          <a:solidFill xmlns:a="http://schemas.openxmlformats.org/drawingml/2006/main">
            <a:srgbClr val="8796AA"/>
          </a:solidFill>
          <a:ln xmlns:a="http://schemas.openxmlformats.org/drawingml/2006/main" w="0">
            <a:solidFill>
              <a:srgbClr val="8796AA"/>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CLAIM-A</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Processed 1 March</a:t>
            </a:r>
          </a:p>
        </p:txBody>
      </p:sp>
      <p:sp>
        <p:nvSpPr>
          <p:cNvPr id="5" name="">
            <a:extLst xmlns:a="http://schemas.openxmlformats.org/drawingml/2006/main">
              <a:ext uri="{FF2B5EF4-FFF2-40B4-BE49-F238E27FC236}">
                <a16:creationId xmlns:a16="http://schemas.microsoft.com/office/drawing/2014/main" id="{C0541563-B913-4CF2-94B7-7960460B5112}"/>
              </a:ext>
            </a:extLst>
          </p:cNvPr>
          <p:cNvSpPr>
            <a:spLocks xmlns:a="http://schemas.openxmlformats.org/drawingml/2006/main" noGrp="1"/>
          </p:cNvSpPr>
          <p:nvPr/>
        </p:nvSpPr>
        <p:spPr>
          <a:xfrm xmlns:a="http://schemas.openxmlformats.org/drawingml/2006/main">
            <a:off x="647700" y="4343400"/>
            <a:ext cx="3619500" cy="106680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CLAIM-A</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Processed 5 March</a:t>
            </a:r>
          </a:p>
        </p:txBody>
      </p:sp>
      <p:sp>
        <p:nvSpPr>
          <p:cNvPr id="6" name="">
            <a:extLst xmlns:a="http://schemas.openxmlformats.org/drawingml/2006/main">
              <a:ext uri="{FF2B5EF4-FFF2-40B4-BE49-F238E27FC236}">
                <a16:creationId xmlns:a16="http://schemas.microsoft.com/office/drawing/2014/main" id="{55A890F5-C3E8-49D5-8A18-E914C0FAC7AB}"/>
              </a:ext>
            </a:extLst>
          </p:cNvPr>
          <p:cNvSpPr>
            <a:spLocks xmlns:a="http://schemas.openxmlformats.org/drawingml/2006/main" noGrp="1"/>
          </p:cNvSpPr>
          <p:nvPr/>
        </p:nvSpPr>
        <p:spPr>
          <a:xfrm xmlns:a="http://schemas.openxmlformats.org/drawingml/2006/main">
            <a:off x="7362825" y="2619375"/>
            <a:ext cx="4000500" cy="1066800"/>
          </a:xfrm>
          <a:prstGeom xmlns:a="http://schemas.openxmlformats.org/drawingml/2006/main" prst="rect">
            <a:avLst/>
          </a:prstGeom>
          <a:solidFill xmlns:a="http://schemas.openxmlformats.org/drawingml/2006/main">
            <a:srgbClr val="8796AA"/>
          </a:solidFill>
          <a:ln xmlns:a="http://schemas.openxmlformats.org/drawingml/2006/main" w="0">
            <a:solidFill>
              <a:srgbClr val="8796AA"/>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DROP older version</a:t>
            </a:r>
          </a:p>
        </p:txBody>
      </p:sp>
      <p:sp>
        <p:nvSpPr>
          <p:cNvPr id="7" name="">
            <a:extLst xmlns:a="http://schemas.openxmlformats.org/drawingml/2006/main">
              <a:ext uri="{FF2B5EF4-FFF2-40B4-BE49-F238E27FC236}">
                <a16:creationId xmlns:a16="http://schemas.microsoft.com/office/drawing/2014/main" id="{01CA329E-C62B-4152-973F-F028B30E27F2}"/>
              </a:ext>
            </a:extLst>
          </p:cNvPr>
          <p:cNvSpPr>
            <a:spLocks xmlns:a="http://schemas.openxmlformats.org/drawingml/2006/main" noGrp="1"/>
          </p:cNvSpPr>
          <p:nvPr/>
        </p:nvSpPr>
        <p:spPr>
          <a:xfrm xmlns:a="http://schemas.openxmlformats.org/drawingml/2006/main">
            <a:off x="7362825" y="4343400"/>
            <a:ext cx="4000500" cy="1066800"/>
          </a:xfrm>
          <a:prstGeom xmlns:a="http://schemas.openxmlformats.org/drawingml/2006/main" prst="rect">
            <a:avLst/>
          </a:prstGeom>
          <a:solidFill xmlns:a="http://schemas.openxmlformats.org/drawingml/2006/main">
            <a:srgbClr val="087D66"/>
          </a:solidFill>
          <a:ln xmlns:a="http://schemas.openxmlformats.org/drawingml/2006/main" w="0">
            <a:solidFill>
              <a:srgbClr val="087D6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KEEP later version</a:t>
            </a:r>
          </a:p>
        </p:txBody>
      </p:sp>
      <p:sp>
        <p:nvSpPr>
          <p:cNvPr id="10" name="">
            <a:extLst xmlns:a="http://schemas.openxmlformats.org/drawingml/2006/main">
              <a:ext uri="{FF2B5EF4-FFF2-40B4-BE49-F238E27FC236}">
                <a16:creationId xmlns:a16="http://schemas.microsoft.com/office/drawing/2014/main" id="{B0DBF8C6-0407-4AD2-AF26-B5BBD43E97CD}"/>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Both records have query code 1.</a:t>
            </a:r>
          </a:p>
        </p:txBody>
      </p:sp>
    </p:spTree>
    <p:extLst>
      <p:ext uri="{BB962C8B-B14F-4D97-AF65-F5344CB8AC3E}">
        <p14:creationId xmlns:p14="http://schemas.microsoft.com/office/powerpoint/2010/main" val="621012456"/>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C394B5BC-C960-4D64-83A4-5745A3E43FFB}"/>
              </a:ext>
            </a:extLst>
          </p:cNvPr>
          <p:cNvCxnSpPr>
            <a:stCxn xmlns:a="http://schemas.openxmlformats.org/drawingml/2006/main" id="5" idx="3"/>
            <a:endCxn xmlns:a="http://schemas.openxmlformats.org/drawingml/2006/main" id="6" idx="1"/>
          </p:cNvCxnSpPr>
          <p:nvPr/>
        </p:nvCxnSpPr>
        <p:spPr>
          <a:xfrm xmlns:a="http://schemas.openxmlformats.org/drawingml/2006/main">
            <a:off x="6143625" y="3800475"/>
            <a:ext cx="18097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88FA1228-B156-49ED-9927-EE7700073307}"/>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2. Four-year Split</a:t>
            </a:r>
          </a:p>
        </p:txBody>
      </p:sp>
      <p:sp>
        <p:nvSpPr>
          <p:cNvPr id="2" name="">
            <a:extLst xmlns:a="http://schemas.openxmlformats.org/drawingml/2006/main">
              <a:ext uri="{FF2B5EF4-FFF2-40B4-BE49-F238E27FC236}">
                <a16:creationId xmlns:a16="http://schemas.microsoft.com/office/drawing/2014/main" id="{35DCCAB6-AFED-477E-BB37-1C1F1AEFC382}"/>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7B97FF7-4EAB-4943-B26C-184CE2B159DB}"/>
              </a:ext>
            </a:extLst>
          </p:cNvPr>
          <p:cNvSpPr>
            <a:spLocks xmlns:a="http://schemas.openxmlformats.org/drawingml/2006/main" noGrp="1"/>
          </p:cNvSpPr>
          <p:nvPr/>
        </p:nvSpPr>
        <p:spPr>
          <a:xfrm xmlns:a="http://schemas.openxmlformats.org/drawingml/2006/main">
            <a:off x="619125" y="1724025"/>
            <a:ext cx="1809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0" b="1">
                <a:solidFill>
                  <a:srgbClr val="087D78"/>
                </a:solidFill>
                <a:latin typeface="Arial"/>
                <a:ea typeface="Arial"/>
                <a:cs typeface="Arial"/>
              </a:defRPr>
            </a:defPPr>
          </a:lstStyle>
          <a:p xmlns:a="http://schemas.openxmlformats.org/drawingml/2006/main">
            <a:pPr algn="l">
              <a:defRPr sz="10500" b="1">
                <a:solidFill>
                  <a:srgbClr val="087D78"/>
                </a:solidFill>
                <a:latin typeface="Arial"/>
                <a:ea typeface="Arial"/>
                <a:cs typeface="Arial"/>
              </a:defRPr>
            </a:pPr>
            <a:r>
              <a:rPr sz="10500" b="1">
                <a:solidFill>
                  <a:srgbClr val="087D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3E141AC-C50B-4B62-9F77-8106B144D022}"/>
              </a:ext>
            </a:extLst>
          </p:cNvPr>
          <p:cNvSpPr>
            <a:spLocks xmlns:a="http://schemas.openxmlformats.org/drawingml/2006/main" noGrp="1"/>
          </p:cNvSpPr>
          <p:nvPr/>
        </p:nvSpPr>
        <p:spPr>
          <a:xfrm xmlns:a="http://schemas.openxmlformats.org/drawingml/2006/main">
            <a:off x="2762250" y="18192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72B43"/>
                </a:solidFill>
                <a:latin typeface="Arial"/>
                <a:ea typeface="Arial"/>
                <a:cs typeface="Arial"/>
              </a:defRPr>
            </a:defPPr>
          </a:lstStyle>
          <a:p xmlns:a="http://schemas.openxmlformats.org/drawingml/2006/main">
            <a:pPr algn="l">
              <a:defRPr sz="2625" b="1">
                <a:solidFill>
                  <a:srgbClr val="172B43"/>
                </a:solidFill>
                <a:latin typeface="Arial"/>
                <a:ea typeface="Arial"/>
                <a:cs typeface="Arial"/>
              </a:defRPr>
            </a:pPr>
            <a:r>
              <a:rPr sz="2625" b="1">
                <a:solidFill>
                  <a:srgbClr val="172B43"/>
                </a:solidFill>
                <a:latin typeface="Arial"/>
                <a:ea typeface="Arial"/>
                <a:cs typeface="Arial"/>
              </a:rPr>
              <a:t>Select records in the allowed calendar years.</a:t>
            </a:r>
          </a:p>
        </p:txBody>
      </p:sp>
      <p:sp>
        <p:nvSpPr>
          <p:cNvPr id="5" name="">
            <a:extLst xmlns:a="http://schemas.openxmlformats.org/drawingml/2006/main">
              <a:ext uri="{FF2B5EF4-FFF2-40B4-BE49-F238E27FC236}">
                <a16:creationId xmlns:a16="http://schemas.microsoft.com/office/drawing/2014/main" id="{FFB1F560-FA13-4EC7-B264-4BA62EF94A88}"/>
              </a:ext>
            </a:extLst>
          </p:cNvPr>
          <p:cNvSpPr>
            <a:spLocks xmlns:a="http://schemas.openxmlformats.org/drawingml/2006/main" noGrp="1"/>
          </p:cNvSpPr>
          <p:nvPr/>
        </p:nvSpPr>
        <p:spPr>
          <a:xfrm xmlns:a="http://schemas.openxmlformats.org/drawingml/2006/main">
            <a:off x="2762250" y="3286125"/>
            <a:ext cx="3381375" cy="10287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Retained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Final Action records</a:t>
            </a:r>
          </a:p>
        </p:txBody>
      </p:sp>
      <p:sp>
        <p:nvSpPr>
          <p:cNvPr id="6" name="">
            <a:extLst xmlns:a="http://schemas.openxmlformats.org/drawingml/2006/main">
              <a:ext uri="{FF2B5EF4-FFF2-40B4-BE49-F238E27FC236}">
                <a16:creationId xmlns:a16="http://schemas.microsoft.com/office/drawing/2014/main" id="{40958B52-B66D-44F1-BADD-E5EB5D6175A1}"/>
              </a:ext>
            </a:extLst>
          </p:cNvPr>
          <p:cNvSpPr>
            <a:spLocks xmlns:a="http://schemas.openxmlformats.org/drawingml/2006/main" noGrp="1"/>
          </p:cNvSpPr>
          <p:nvPr/>
        </p:nvSpPr>
        <p:spPr>
          <a:xfrm xmlns:a="http://schemas.openxmlformats.org/drawingml/2006/main">
            <a:off x="7953375" y="3286125"/>
            <a:ext cx="3381375" cy="10287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Records within</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the four-year window</a:t>
            </a:r>
          </a:p>
        </p:txBody>
      </p:sp>
      <p:sp>
        <p:nvSpPr>
          <p:cNvPr id="8" name="">
            <a:extLst xmlns:a="http://schemas.openxmlformats.org/drawingml/2006/main">
              <a:ext uri="{FF2B5EF4-FFF2-40B4-BE49-F238E27FC236}">
                <a16:creationId xmlns:a16="http://schemas.microsoft.com/office/drawing/2014/main" id="{BD797C19-C11C-4E3A-BC76-40552666EE57}"/>
              </a:ext>
            </a:extLst>
          </p:cNvPr>
          <p:cNvSpPr>
            <a:spLocks xmlns:a="http://schemas.openxmlformats.org/drawingml/2006/main" noGrp="1"/>
          </p:cNvSpPr>
          <p:nvPr/>
        </p:nvSpPr>
        <p:spPr>
          <a:xfrm xmlns:a="http://schemas.openxmlformats.org/drawingml/2006/main">
            <a:off x="2771775" y="4714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087D78"/>
                </a:solidFill>
                <a:latin typeface="Arial"/>
                <a:ea typeface="Arial"/>
                <a:cs typeface="Arial"/>
              </a:defRPr>
            </a:defPPr>
          </a:lstStyle>
          <a:p xmlns:a="http://schemas.openxmlformats.org/drawingml/2006/main">
            <a:pPr algn="l">
              <a:defRPr sz="1875" b="1">
                <a:solidFill>
                  <a:srgbClr val="087D78"/>
                </a:solidFill>
                <a:latin typeface="Arial"/>
                <a:ea typeface="Arial"/>
                <a:cs typeface="Arial"/>
              </a:defRPr>
            </a:pPr>
            <a:r>
              <a:rPr sz="1875" b="1">
                <a:solidFill>
                  <a:srgbClr val="087D78"/>
                </a:solidFill>
                <a:latin typeface="Arial"/>
                <a:ea typeface="Arial"/>
                <a:cs typeface="Arial"/>
              </a:rPr>
              <a:t>The validator checks</a:t>
            </a:r>
          </a:p>
        </p:txBody>
      </p:sp>
      <p:sp>
        <p:nvSpPr>
          <p:cNvPr id="9" name="">
            <a:extLst xmlns:a="http://schemas.openxmlformats.org/drawingml/2006/main">
              <a:ext uri="{FF2B5EF4-FFF2-40B4-BE49-F238E27FC236}">
                <a16:creationId xmlns:a16="http://schemas.microsoft.com/office/drawing/2014/main" id="{84F493D3-8422-4D63-8B65-C5D103912ABE}"/>
              </a:ext>
            </a:extLst>
          </p:cNvPr>
          <p:cNvSpPr>
            <a:spLocks xmlns:a="http://schemas.openxmlformats.org/drawingml/2006/main" noGrp="1"/>
          </p:cNvSpPr>
          <p:nvPr/>
        </p:nvSpPr>
        <p:spPr>
          <a:xfrm xmlns:a="http://schemas.openxmlformats.org/drawingml/2006/main">
            <a:off x="2771775" y="5153025"/>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Which year applies, which records remain and whether charges still balance.</a:t>
            </a:r>
          </a:p>
        </p:txBody>
      </p:sp>
    </p:spTree>
    <p:extLst>
      <p:ext uri="{BB962C8B-B14F-4D97-AF65-F5344CB8AC3E}">
        <p14:creationId xmlns:p14="http://schemas.microsoft.com/office/powerpoint/2010/main" val="318222357"/>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3C2CBBE-D62C-4ACE-BE22-F873ECA82FC0}"/>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Split example: a run in 2026</a:t>
            </a:r>
          </a:p>
        </p:txBody>
      </p:sp>
      <p:sp>
        <p:nvSpPr>
          <p:cNvPr id="2" name="">
            <a:extLst xmlns:a="http://schemas.openxmlformats.org/drawingml/2006/main">
              <a:ext uri="{FF2B5EF4-FFF2-40B4-BE49-F238E27FC236}">
                <a16:creationId xmlns:a16="http://schemas.microsoft.com/office/drawing/2014/main" id="{483636FC-47F2-4666-A40F-FCB403ACA641}"/>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66AEAB0-82E6-4F53-83E2-FE5F946D3186}"/>
              </a:ext>
            </a:extLst>
          </p:cNvPr>
          <p:cNvSpPr>
            <a:spLocks xmlns:a="http://schemas.openxmlformats.org/drawingml/2006/main" noGrp="1"/>
          </p:cNvSpPr>
          <p:nvPr/>
        </p:nvSpPr>
        <p:spPr>
          <a:xfrm xmlns:a="http://schemas.openxmlformats.org/drawingml/2006/main">
            <a:off x="647700" y="2676525"/>
            <a:ext cx="1981200" cy="1181100"/>
          </a:xfrm>
          <a:prstGeom xmlns:a="http://schemas.openxmlformats.org/drawingml/2006/main" prst="rect">
            <a:avLst/>
          </a:prstGeom>
          <a:solidFill xmlns:a="http://schemas.openxmlformats.org/drawingml/2006/main">
            <a:srgbClr val="8796AA"/>
          </a:solidFill>
          <a:ln xmlns:a="http://schemas.openxmlformats.org/drawingml/2006/main" w="0">
            <a:solidFill>
              <a:srgbClr val="8796AA"/>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2022</a:t>
            </a:r>
          </a:p>
        </p:txBody>
      </p:sp>
      <p:sp>
        <p:nvSpPr>
          <p:cNvPr id="4" name="">
            <a:extLst xmlns:a="http://schemas.openxmlformats.org/drawingml/2006/main">
              <a:ext uri="{FF2B5EF4-FFF2-40B4-BE49-F238E27FC236}">
                <a16:creationId xmlns:a16="http://schemas.microsoft.com/office/drawing/2014/main" id="{1E2EA883-8BE7-4939-A75B-F70198797E6F}"/>
              </a:ext>
            </a:extLst>
          </p:cNvPr>
          <p:cNvSpPr>
            <a:spLocks xmlns:a="http://schemas.openxmlformats.org/drawingml/2006/main" noGrp="1"/>
          </p:cNvSpPr>
          <p:nvPr/>
        </p:nvSpPr>
        <p:spPr>
          <a:xfrm xmlns:a="http://schemas.openxmlformats.org/drawingml/2006/main">
            <a:off x="647700" y="412432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597080"/>
                </a:solidFill>
                <a:latin typeface="Arial"/>
                <a:ea typeface="Arial"/>
                <a:cs typeface="Arial"/>
              </a:defRPr>
            </a:defPPr>
          </a:lstStyle>
          <a:p xmlns:a="http://schemas.openxmlformats.org/drawingml/2006/main">
            <a:pPr algn="l">
              <a:defRPr sz="2100" b="1">
                <a:solidFill>
                  <a:srgbClr val="597080"/>
                </a:solidFill>
                <a:latin typeface="Arial"/>
                <a:ea typeface="Arial"/>
                <a:cs typeface="Arial"/>
              </a:defRPr>
            </a:pPr>
            <a:r>
              <a:rPr sz="2100" b="1">
                <a:solidFill>
                  <a:srgbClr val="597080"/>
                </a:solidFill>
                <a:latin typeface="Arial"/>
                <a:ea typeface="Arial"/>
                <a:cs typeface="Arial"/>
              </a:rPr>
              <a:t>Outside window</a:t>
            </a:r>
          </a:p>
        </p:txBody>
      </p:sp>
      <p:sp>
        <p:nvSpPr>
          <p:cNvPr id="5" name="">
            <a:extLst xmlns:a="http://schemas.openxmlformats.org/drawingml/2006/main">
              <a:ext uri="{FF2B5EF4-FFF2-40B4-BE49-F238E27FC236}">
                <a16:creationId xmlns:a16="http://schemas.microsoft.com/office/drawing/2014/main" id="{8AD8430A-FF31-4087-8771-FF0E697E5A1A}"/>
              </a:ext>
            </a:extLst>
          </p:cNvPr>
          <p:cNvSpPr>
            <a:spLocks xmlns:a="http://schemas.openxmlformats.org/drawingml/2006/main" noGrp="1"/>
          </p:cNvSpPr>
          <p:nvPr/>
        </p:nvSpPr>
        <p:spPr>
          <a:xfrm xmlns:a="http://schemas.openxmlformats.org/drawingml/2006/main">
            <a:off x="2886075" y="2676525"/>
            <a:ext cx="1981200" cy="11811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2023</a:t>
            </a:r>
          </a:p>
        </p:txBody>
      </p:sp>
      <p:sp>
        <p:nvSpPr>
          <p:cNvPr id="6" name="">
            <a:extLst xmlns:a="http://schemas.openxmlformats.org/drawingml/2006/main">
              <a:ext uri="{FF2B5EF4-FFF2-40B4-BE49-F238E27FC236}">
                <a16:creationId xmlns:a16="http://schemas.microsoft.com/office/drawing/2014/main" id="{87C4457F-A0AF-4177-82BC-B411E2D7F7F2}"/>
              </a:ext>
            </a:extLst>
          </p:cNvPr>
          <p:cNvSpPr>
            <a:spLocks xmlns:a="http://schemas.openxmlformats.org/drawingml/2006/main" noGrp="1"/>
          </p:cNvSpPr>
          <p:nvPr/>
        </p:nvSpPr>
        <p:spPr>
          <a:xfrm xmlns:a="http://schemas.openxmlformats.org/drawingml/2006/main">
            <a:off x="2886075" y="412432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87D78"/>
                </a:solidFill>
                <a:latin typeface="Arial"/>
                <a:ea typeface="Arial"/>
                <a:cs typeface="Arial"/>
              </a:defRPr>
            </a:defPPr>
          </a:lstStyle>
          <a:p xmlns:a="http://schemas.openxmlformats.org/drawingml/2006/main">
            <a:pPr algn="l">
              <a:defRPr sz="2100" b="1">
                <a:solidFill>
                  <a:srgbClr val="087D78"/>
                </a:solidFill>
                <a:latin typeface="Arial"/>
                <a:ea typeface="Arial"/>
                <a:cs typeface="Arial"/>
              </a:defRPr>
            </a:pPr>
            <a:r>
              <a:rPr sz="2100" b="1">
                <a:solidFill>
                  <a:srgbClr val="087D78"/>
                </a:solidFill>
                <a:latin typeface="Arial"/>
                <a:ea typeface="Arial"/>
                <a:cs typeface="Arial"/>
              </a:rPr>
              <a:t>Y3</a:t>
            </a:r>
          </a:p>
        </p:txBody>
      </p:sp>
      <p:sp>
        <p:nvSpPr>
          <p:cNvPr id="7" name="">
            <a:extLst xmlns:a="http://schemas.openxmlformats.org/drawingml/2006/main">
              <a:ext uri="{FF2B5EF4-FFF2-40B4-BE49-F238E27FC236}">
                <a16:creationId xmlns:a16="http://schemas.microsoft.com/office/drawing/2014/main" id="{D137743C-B4DC-4F3F-B594-9B30252639A1}"/>
              </a:ext>
            </a:extLst>
          </p:cNvPr>
          <p:cNvSpPr>
            <a:spLocks xmlns:a="http://schemas.openxmlformats.org/drawingml/2006/main" noGrp="1"/>
          </p:cNvSpPr>
          <p:nvPr/>
        </p:nvSpPr>
        <p:spPr>
          <a:xfrm xmlns:a="http://schemas.openxmlformats.org/drawingml/2006/main">
            <a:off x="5124450" y="2676525"/>
            <a:ext cx="1981200" cy="11811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2024</a:t>
            </a:r>
          </a:p>
        </p:txBody>
      </p:sp>
      <p:sp>
        <p:nvSpPr>
          <p:cNvPr id="8" name="">
            <a:extLst xmlns:a="http://schemas.openxmlformats.org/drawingml/2006/main">
              <a:ext uri="{FF2B5EF4-FFF2-40B4-BE49-F238E27FC236}">
                <a16:creationId xmlns:a16="http://schemas.microsoft.com/office/drawing/2014/main" id="{1777AF30-525B-437F-BA0D-FD0946146999}"/>
              </a:ext>
            </a:extLst>
          </p:cNvPr>
          <p:cNvSpPr>
            <a:spLocks xmlns:a="http://schemas.openxmlformats.org/drawingml/2006/main" noGrp="1"/>
          </p:cNvSpPr>
          <p:nvPr/>
        </p:nvSpPr>
        <p:spPr>
          <a:xfrm xmlns:a="http://schemas.openxmlformats.org/drawingml/2006/main">
            <a:off x="5124450" y="412432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87D78"/>
                </a:solidFill>
                <a:latin typeface="Arial"/>
                <a:ea typeface="Arial"/>
                <a:cs typeface="Arial"/>
              </a:defRPr>
            </a:defPPr>
          </a:lstStyle>
          <a:p xmlns:a="http://schemas.openxmlformats.org/drawingml/2006/main">
            <a:pPr algn="l">
              <a:defRPr sz="2100" b="1">
                <a:solidFill>
                  <a:srgbClr val="087D78"/>
                </a:solidFill>
                <a:latin typeface="Arial"/>
                <a:ea typeface="Arial"/>
                <a:cs typeface="Arial"/>
              </a:defRPr>
            </a:pPr>
            <a:r>
              <a:rPr sz="2100" b="1">
                <a:solidFill>
                  <a:srgbClr val="087D78"/>
                </a:solidFill>
                <a:latin typeface="Arial"/>
                <a:ea typeface="Arial"/>
                <a:cs typeface="Arial"/>
              </a:rPr>
              <a:t>Y2</a:t>
            </a:r>
          </a:p>
        </p:txBody>
      </p:sp>
      <p:sp>
        <p:nvSpPr>
          <p:cNvPr id="9" name="">
            <a:extLst xmlns:a="http://schemas.openxmlformats.org/drawingml/2006/main">
              <a:ext uri="{FF2B5EF4-FFF2-40B4-BE49-F238E27FC236}">
                <a16:creationId xmlns:a16="http://schemas.microsoft.com/office/drawing/2014/main" id="{CFF40C31-3AA4-49BD-801F-9730503671CC}"/>
              </a:ext>
            </a:extLst>
          </p:cNvPr>
          <p:cNvSpPr>
            <a:spLocks xmlns:a="http://schemas.openxmlformats.org/drawingml/2006/main" noGrp="1"/>
          </p:cNvSpPr>
          <p:nvPr/>
        </p:nvSpPr>
        <p:spPr>
          <a:xfrm xmlns:a="http://schemas.openxmlformats.org/drawingml/2006/main">
            <a:off x="7362825" y="2676525"/>
            <a:ext cx="1981200" cy="11811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2025</a:t>
            </a:r>
          </a:p>
        </p:txBody>
      </p:sp>
      <p:sp>
        <p:nvSpPr>
          <p:cNvPr id="10" name="">
            <a:extLst xmlns:a="http://schemas.openxmlformats.org/drawingml/2006/main">
              <a:ext uri="{FF2B5EF4-FFF2-40B4-BE49-F238E27FC236}">
                <a16:creationId xmlns:a16="http://schemas.microsoft.com/office/drawing/2014/main" id="{6665DDE4-F134-4F2C-8FC2-68D62E051677}"/>
              </a:ext>
            </a:extLst>
          </p:cNvPr>
          <p:cNvSpPr>
            <a:spLocks xmlns:a="http://schemas.openxmlformats.org/drawingml/2006/main" noGrp="1"/>
          </p:cNvSpPr>
          <p:nvPr/>
        </p:nvSpPr>
        <p:spPr>
          <a:xfrm xmlns:a="http://schemas.openxmlformats.org/drawingml/2006/main">
            <a:off x="7362825" y="412432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87D78"/>
                </a:solidFill>
                <a:latin typeface="Arial"/>
                <a:ea typeface="Arial"/>
                <a:cs typeface="Arial"/>
              </a:defRPr>
            </a:defPPr>
          </a:lstStyle>
          <a:p xmlns:a="http://schemas.openxmlformats.org/drawingml/2006/main">
            <a:pPr algn="l">
              <a:defRPr sz="2100" b="1">
                <a:solidFill>
                  <a:srgbClr val="087D78"/>
                </a:solidFill>
                <a:latin typeface="Arial"/>
                <a:ea typeface="Arial"/>
                <a:cs typeface="Arial"/>
              </a:defRPr>
            </a:pPr>
            <a:r>
              <a:rPr sz="2100" b="1">
                <a:solidFill>
                  <a:srgbClr val="087D78"/>
                </a:solidFill>
                <a:latin typeface="Arial"/>
                <a:ea typeface="Arial"/>
                <a:cs typeface="Arial"/>
              </a:rPr>
              <a:t>Y1</a:t>
            </a:r>
          </a:p>
        </p:txBody>
      </p:sp>
      <p:sp>
        <p:nvSpPr>
          <p:cNvPr id="11" name="">
            <a:extLst xmlns:a="http://schemas.openxmlformats.org/drawingml/2006/main">
              <a:ext uri="{FF2B5EF4-FFF2-40B4-BE49-F238E27FC236}">
                <a16:creationId xmlns:a16="http://schemas.microsoft.com/office/drawing/2014/main" id="{E3F7191B-836E-405B-ABFB-07AF2F40A602}"/>
              </a:ext>
            </a:extLst>
          </p:cNvPr>
          <p:cNvSpPr>
            <a:spLocks xmlns:a="http://schemas.openxmlformats.org/drawingml/2006/main" noGrp="1"/>
          </p:cNvSpPr>
          <p:nvPr/>
        </p:nvSpPr>
        <p:spPr>
          <a:xfrm xmlns:a="http://schemas.openxmlformats.org/drawingml/2006/main">
            <a:off x="9601200" y="2676525"/>
            <a:ext cx="1981200" cy="11811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6C071092-36B1-42F9-BA9A-5E0612B66E87}"/>
              </a:ext>
            </a:extLst>
          </p:cNvPr>
          <p:cNvSpPr>
            <a:spLocks xmlns:a="http://schemas.openxmlformats.org/drawingml/2006/main" noGrp="1"/>
          </p:cNvSpPr>
          <p:nvPr/>
        </p:nvSpPr>
        <p:spPr>
          <a:xfrm xmlns:a="http://schemas.openxmlformats.org/drawingml/2006/main">
            <a:off x="9601200" y="4124325"/>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87D78"/>
                </a:solidFill>
                <a:latin typeface="Arial"/>
                <a:ea typeface="Arial"/>
                <a:cs typeface="Arial"/>
              </a:defRPr>
            </a:defPPr>
          </a:lstStyle>
          <a:p xmlns:a="http://schemas.openxmlformats.org/drawingml/2006/main">
            <a:pPr algn="l">
              <a:defRPr sz="2100" b="1">
                <a:solidFill>
                  <a:srgbClr val="087D78"/>
                </a:solidFill>
                <a:latin typeface="Arial"/>
                <a:ea typeface="Arial"/>
                <a:cs typeface="Arial"/>
              </a:defRPr>
            </a:pPr>
            <a:r>
              <a:rPr sz="2100" b="1">
                <a:solidFill>
                  <a:srgbClr val="087D78"/>
                </a:solidFill>
                <a:latin typeface="Arial"/>
                <a:ea typeface="Arial"/>
                <a:cs typeface="Arial"/>
              </a:rPr>
              <a:t>Y0</a:t>
            </a:r>
          </a:p>
        </p:txBody>
      </p:sp>
      <p:sp>
        <p:nvSpPr>
          <p:cNvPr id="13" name="">
            <a:extLst xmlns:a="http://schemas.openxmlformats.org/drawingml/2006/main">
              <a:ext uri="{FF2B5EF4-FFF2-40B4-BE49-F238E27FC236}">
                <a16:creationId xmlns:a16="http://schemas.microsoft.com/office/drawing/2014/main" id="{1889684E-2AD8-44AD-ABE7-AD0DE6473311}"/>
              </a:ext>
            </a:extLst>
          </p:cNvPr>
          <p:cNvSpPr>
            <a:spLocks xmlns:a="http://schemas.openxmlformats.org/drawingml/2006/main" noGrp="1"/>
          </p:cNvSpPr>
          <p:nvPr/>
        </p:nvSpPr>
        <p:spPr>
          <a:xfrm xmlns:a="http://schemas.openxmlformats.org/drawingml/2006/main">
            <a:off x="666750" y="168592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72B43"/>
                </a:solidFill>
                <a:latin typeface="Arial"/>
                <a:ea typeface="Arial"/>
                <a:cs typeface="Arial"/>
              </a:defRPr>
            </a:defPPr>
          </a:lstStyle>
          <a:p xmlns:a="http://schemas.openxmlformats.org/drawingml/2006/main">
            <a:pPr algn="l">
              <a:defRPr sz="2250" b="0">
                <a:solidFill>
                  <a:srgbClr val="172B43"/>
                </a:solidFill>
                <a:latin typeface="Arial"/>
                <a:ea typeface="Arial"/>
                <a:cs typeface="Arial"/>
              </a:defRPr>
            </a:pPr>
            <a:r>
              <a:rPr sz="2250" b="0">
                <a:solidFill>
                  <a:srgbClr val="172B43"/>
                </a:solidFill>
                <a:latin typeface="Arial"/>
                <a:ea typeface="Arial"/>
                <a:cs typeface="Arial"/>
              </a:rPr>
              <a:t>The record’s reference year determines its year group.</a:t>
            </a:r>
          </a:p>
        </p:txBody>
      </p:sp>
      <p:sp>
        <p:nvSpPr>
          <p:cNvPr id="14" name="">
            <a:extLst xmlns:a="http://schemas.openxmlformats.org/drawingml/2006/main">
              <a:ext uri="{FF2B5EF4-FFF2-40B4-BE49-F238E27FC236}">
                <a16:creationId xmlns:a16="http://schemas.microsoft.com/office/drawing/2014/main" id="{F469F926-8636-48AA-BB82-3B3076D4F223}"/>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The run date and the stage’s reference-date rule control the decision.</a:t>
            </a:r>
          </a:p>
        </p:txBody>
      </p:sp>
    </p:spTree>
    <p:extLst>
      <p:ext uri="{BB962C8B-B14F-4D97-AF65-F5344CB8AC3E}">
        <p14:creationId xmlns:p14="http://schemas.microsoft.com/office/powerpoint/2010/main" val="1614214062"/>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8474011-1B47-4DE3-A930-A883A2D93917}"/>
              </a:ext>
            </a:extLst>
          </p:cNvPr>
          <p:cNvCxnSpPr>
            <a:stCxn xmlns:a="http://schemas.openxmlformats.org/drawingml/2006/main" id="5" idx="3"/>
            <a:endCxn xmlns:a="http://schemas.openxmlformats.org/drawingml/2006/main" id="6" idx="1"/>
          </p:cNvCxnSpPr>
          <p:nvPr/>
        </p:nvCxnSpPr>
        <p:spPr>
          <a:xfrm xmlns:a="http://schemas.openxmlformats.org/drawingml/2006/main">
            <a:off x="6143625" y="3800475"/>
            <a:ext cx="18097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4B5D9AD8-B89E-4DD5-B9B5-2F804D1E114E}"/>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3. Stay</a:t>
            </a:r>
          </a:p>
        </p:txBody>
      </p:sp>
      <p:sp>
        <p:nvSpPr>
          <p:cNvPr id="2" name="">
            <a:extLst xmlns:a="http://schemas.openxmlformats.org/drawingml/2006/main">
              <a:ext uri="{FF2B5EF4-FFF2-40B4-BE49-F238E27FC236}">
                <a16:creationId xmlns:a16="http://schemas.microsoft.com/office/drawing/2014/main" id="{5343A68D-253D-4B12-BA7D-777DCA14CBFE}"/>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8893932-63B3-4D6A-A9E8-F96A9719F0C9}"/>
              </a:ext>
            </a:extLst>
          </p:cNvPr>
          <p:cNvSpPr>
            <a:spLocks xmlns:a="http://schemas.openxmlformats.org/drawingml/2006/main" noGrp="1"/>
          </p:cNvSpPr>
          <p:nvPr/>
        </p:nvSpPr>
        <p:spPr>
          <a:xfrm xmlns:a="http://schemas.openxmlformats.org/drawingml/2006/main">
            <a:off x="619125" y="1724025"/>
            <a:ext cx="1809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0" b="1">
                <a:solidFill>
                  <a:srgbClr val="7354B8"/>
                </a:solidFill>
                <a:latin typeface="Arial"/>
                <a:ea typeface="Arial"/>
                <a:cs typeface="Arial"/>
              </a:defRPr>
            </a:defPPr>
          </a:lstStyle>
          <a:p xmlns:a="http://schemas.openxmlformats.org/drawingml/2006/main">
            <a:pPr algn="l">
              <a:defRPr sz="10500" b="1">
                <a:solidFill>
                  <a:srgbClr val="7354B8"/>
                </a:solidFill>
                <a:latin typeface="Arial"/>
                <a:ea typeface="Arial"/>
                <a:cs typeface="Arial"/>
              </a:defRPr>
            </a:pPr>
            <a:r>
              <a:rPr sz="10500" b="1">
                <a:solidFill>
                  <a:srgbClr val="7354B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D7BF780-2715-4544-B3A0-EFBF4B320777}"/>
              </a:ext>
            </a:extLst>
          </p:cNvPr>
          <p:cNvSpPr>
            <a:spLocks xmlns:a="http://schemas.openxmlformats.org/drawingml/2006/main" noGrp="1"/>
          </p:cNvSpPr>
          <p:nvPr/>
        </p:nvSpPr>
        <p:spPr>
          <a:xfrm xmlns:a="http://schemas.openxmlformats.org/drawingml/2006/main">
            <a:off x="2762250" y="18192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72B43"/>
                </a:solidFill>
                <a:latin typeface="Arial"/>
                <a:ea typeface="Arial"/>
                <a:cs typeface="Arial"/>
              </a:defRPr>
            </a:defPPr>
          </a:lstStyle>
          <a:p xmlns:a="http://schemas.openxmlformats.org/drawingml/2006/main">
            <a:pPr algn="l">
              <a:defRPr sz="2625" b="1">
                <a:solidFill>
                  <a:srgbClr val="172B43"/>
                </a:solidFill>
                <a:latin typeface="Arial"/>
                <a:ea typeface="Arial"/>
                <a:cs typeface="Arial"/>
              </a:defRPr>
            </a:pPr>
            <a:r>
              <a:rPr sz="2625" b="1">
                <a:solidFill>
                  <a:srgbClr val="172B43"/>
                </a:solidFill>
                <a:latin typeface="Arial"/>
                <a:ea typeface="Arial"/>
                <a:cs typeface="Arial"/>
              </a:rPr>
              <a:t>Combine bills that belong to one admission.</a:t>
            </a:r>
          </a:p>
        </p:txBody>
      </p:sp>
      <p:sp>
        <p:nvSpPr>
          <p:cNvPr id="5" name="">
            <a:extLst xmlns:a="http://schemas.openxmlformats.org/drawingml/2006/main">
              <a:ext uri="{FF2B5EF4-FFF2-40B4-BE49-F238E27FC236}">
                <a16:creationId xmlns:a16="http://schemas.microsoft.com/office/drawing/2014/main" id="{6EE62A56-FB5D-438E-93C7-3AE17EC6C665}"/>
              </a:ext>
            </a:extLst>
          </p:cNvPr>
          <p:cNvSpPr>
            <a:spLocks xmlns:a="http://schemas.openxmlformats.org/drawingml/2006/main" noGrp="1"/>
          </p:cNvSpPr>
          <p:nvPr/>
        </p:nvSpPr>
        <p:spPr>
          <a:xfrm xmlns:a="http://schemas.openxmlformats.org/drawingml/2006/main">
            <a:off x="2762250" y="3286125"/>
            <a:ext cx="3381375" cy="10287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Bills in the</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selected window</a:t>
            </a:r>
          </a:p>
        </p:txBody>
      </p:sp>
      <p:sp>
        <p:nvSpPr>
          <p:cNvPr id="6" name="">
            <a:extLst xmlns:a="http://schemas.openxmlformats.org/drawingml/2006/main">
              <a:ext uri="{FF2B5EF4-FFF2-40B4-BE49-F238E27FC236}">
                <a16:creationId xmlns:a16="http://schemas.microsoft.com/office/drawing/2014/main" id="{2CD7398F-290F-42A0-9F31-E405A157C390}"/>
              </a:ext>
            </a:extLst>
          </p:cNvPr>
          <p:cNvSpPr>
            <a:spLocks xmlns:a="http://schemas.openxmlformats.org/drawingml/2006/main" noGrp="1"/>
          </p:cNvSpPr>
          <p:nvPr/>
        </p:nvSpPr>
        <p:spPr>
          <a:xfrm xmlns:a="http://schemas.openxmlformats.org/drawingml/2006/main">
            <a:off x="7953375" y="3286125"/>
            <a:ext cx="3381375" cy="10287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One merged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stay record</a:t>
            </a:r>
          </a:p>
        </p:txBody>
      </p:sp>
      <p:sp>
        <p:nvSpPr>
          <p:cNvPr id="8" name="">
            <a:extLst xmlns:a="http://schemas.openxmlformats.org/drawingml/2006/main">
              <a:ext uri="{FF2B5EF4-FFF2-40B4-BE49-F238E27FC236}">
                <a16:creationId xmlns:a16="http://schemas.microsoft.com/office/drawing/2014/main" id="{C3A3B331-AE93-453A-A769-7C3EEA6083B7}"/>
              </a:ext>
            </a:extLst>
          </p:cNvPr>
          <p:cNvSpPr>
            <a:spLocks xmlns:a="http://schemas.openxmlformats.org/drawingml/2006/main" noGrp="1"/>
          </p:cNvSpPr>
          <p:nvPr/>
        </p:nvSpPr>
        <p:spPr>
          <a:xfrm xmlns:a="http://schemas.openxmlformats.org/drawingml/2006/main">
            <a:off x="2771775" y="4714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7354B8"/>
                </a:solidFill>
                <a:latin typeface="Arial"/>
                <a:ea typeface="Arial"/>
                <a:cs typeface="Arial"/>
              </a:defRPr>
            </a:defPPr>
          </a:lstStyle>
          <a:p xmlns:a="http://schemas.openxmlformats.org/drawingml/2006/main">
            <a:pPr algn="l">
              <a:defRPr sz="1875" b="1">
                <a:solidFill>
                  <a:srgbClr val="7354B8"/>
                </a:solidFill>
                <a:latin typeface="Arial"/>
                <a:ea typeface="Arial"/>
                <a:cs typeface="Arial"/>
              </a:defRPr>
            </a:pPr>
            <a:r>
              <a:rPr sz="1875" b="1">
                <a:solidFill>
                  <a:srgbClr val="7354B8"/>
                </a:solidFill>
                <a:latin typeface="Arial"/>
                <a:ea typeface="Arial"/>
                <a:cs typeface="Arial"/>
              </a:rPr>
              <a:t>The validator checks</a:t>
            </a:r>
          </a:p>
        </p:txBody>
      </p:sp>
      <p:sp>
        <p:nvSpPr>
          <p:cNvPr id="9" name="">
            <a:extLst xmlns:a="http://schemas.openxmlformats.org/drawingml/2006/main">
              <a:ext uri="{FF2B5EF4-FFF2-40B4-BE49-F238E27FC236}">
                <a16:creationId xmlns:a16="http://schemas.microsoft.com/office/drawing/2014/main" id="{F4BC3D0B-4449-4F28-99CC-11D342184B77}"/>
              </a:ext>
            </a:extLst>
          </p:cNvPr>
          <p:cNvSpPr>
            <a:spLocks xmlns:a="http://schemas.openxmlformats.org/drawingml/2006/main" noGrp="1"/>
          </p:cNvSpPr>
          <p:nvPr/>
        </p:nvSpPr>
        <p:spPr>
          <a:xfrm xmlns:a="http://schemas.openxmlformats.org/drawingml/2006/main">
            <a:off x="2771775" y="5153025"/>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Which bills belong together, how each field is combined and whether the totals agree.</a:t>
            </a:r>
          </a:p>
        </p:txBody>
      </p:sp>
    </p:spTree>
    <p:extLst>
      <p:ext uri="{BB962C8B-B14F-4D97-AF65-F5344CB8AC3E}">
        <p14:creationId xmlns:p14="http://schemas.microsoft.com/office/powerpoint/2010/main" val="1047403672"/>
      </p:ext>
    </p:extLst>
  </p:cSld>
</p:sld>
</file>

<file path=ppt/slides/slide1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0A3D84B0-C7A5-4747-89BA-82E16F4F0111}"/>
              </a:ext>
            </a:extLst>
          </p:cNvPr>
          <p:cNvCxnSpPr>
            <a:stCxn xmlns:a="http://schemas.openxmlformats.org/drawingml/2006/main" id="4" idx="3"/>
            <a:endCxn xmlns:a="http://schemas.openxmlformats.org/drawingml/2006/main" id="5" idx="1"/>
          </p:cNvCxnSpPr>
          <p:nvPr/>
        </p:nvCxnSpPr>
        <p:spPr>
          <a:xfrm xmlns:a="http://schemas.openxmlformats.org/drawingml/2006/main" flipV="1">
            <a:off x="3981450" y="3838575"/>
            <a:ext cx="3257550" cy="933450"/>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cxnSp>
        <p:nvCxnSpPr>
          <p:cNvPr id="6" name="">
            <a:extLst xmlns:a="http://schemas.openxmlformats.org/drawingml/2006/main">
              <a:ext uri="{FF2B5EF4-FFF2-40B4-BE49-F238E27FC236}">
                <a16:creationId xmlns:a16="http://schemas.microsoft.com/office/drawing/2014/main" id="{FD1C5807-02A6-4969-A34F-D2DBA7A2187B}"/>
              </a:ext>
            </a:extLst>
          </p:cNvPr>
          <p:cNvCxnSpPr>
            <a:stCxn xmlns:a="http://schemas.openxmlformats.org/drawingml/2006/main" id="3" idx="3"/>
            <a:endCxn xmlns:a="http://schemas.openxmlformats.org/drawingml/2006/main" id="5" idx="1"/>
          </p:cNvCxnSpPr>
          <p:nvPr/>
        </p:nvCxnSpPr>
        <p:spPr>
          <a:xfrm xmlns:a="http://schemas.openxmlformats.org/drawingml/2006/main">
            <a:off x="3981450" y="2714625"/>
            <a:ext cx="3257550" cy="1123950"/>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sp>
        <p:nvSpPr>
          <p:cNvPr id="9" name="">
            <a:extLst xmlns:a="http://schemas.openxmlformats.org/drawingml/2006/main">
              <a:ext uri="{FF2B5EF4-FFF2-40B4-BE49-F238E27FC236}">
                <a16:creationId xmlns:a16="http://schemas.microsoft.com/office/drawing/2014/main" id="{21A344CE-C58F-45C4-9EB1-511FC7833B15}"/>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Stay example: two bills, one total</a:t>
            </a:r>
          </a:p>
        </p:txBody>
      </p:sp>
      <p:sp>
        <p:nvSpPr>
          <p:cNvPr id="2" name="">
            <a:extLst xmlns:a="http://schemas.openxmlformats.org/drawingml/2006/main">
              <a:ext uri="{FF2B5EF4-FFF2-40B4-BE49-F238E27FC236}">
                <a16:creationId xmlns:a16="http://schemas.microsoft.com/office/drawing/2014/main" id="{C63AC88F-441D-46B6-9AE4-34401C7D257A}"/>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6C73987-042A-4BD7-9819-D02E7E7CA02B}"/>
              </a:ext>
            </a:extLst>
          </p:cNvPr>
          <p:cNvSpPr>
            <a:spLocks xmlns:a="http://schemas.openxmlformats.org/drawingml/2006/main" noGrp="1"/>
          </p:cNvSpPr>
          <p:nvPr/>
        </p:nvSpPr>
        <p:spPr>
          <a:xfrm xmlns:a="http://schemas.openxmlformats.org/drawingml/2006/main">
            <a:off x="647700" y="2047875"/>
            <a:ext cx="3333750" cy="13335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Bill 1</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10–12 January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Charges 100.25</a:t>
            </a:r>
          </a:p>
        </p:txBody>
      </p:sp>
      <p:sp>
        <p:nvSpPr>
          <p:cNvPr id="4" name="">
            <a:extLst xmlns:a="http://schemas.openxmlformats.org/drawingml/2006/main">
              <a:ext uri="{FF2B5EF4-FFF2-40B4-BE49-F238E27FC236}">
                <a16:creationId xmlns:a16="http://schemas.microsoft.com/office/drawing/2014/main" id="{3B6BE6F8-A8CD-47B0-BD68-56E5D05D5B1A}"/>
              </a:ext>
            </a:extLst>
          </p:cNvPr>
          <p:cNvSpPr>
            <a:spLocks xmlns:a="http://schemas.openxmlformats.org/drawingml/2006/main" noGrp="1"/>
          </p:cNvSpPr>
          <p:nvPr/>
        </p:nvSpPr>
        <p:spPr>
          <a:xfrm xmlns:a="http://schemas.openxmlformats.org/drawingml/2006/main">
            <a:off x="647700" y="4105275"/>
            <a:ext cx="3333750" cy="13335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Bill 2</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13–15 January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Charges 200.75</a:t>
            </a:r>
          </a:p>
        </p:txBody>
      </p:sp>
      <p:sp>
        <p:nvSpPr>
          <p:cNvPr id="5" name="">
            <a:extLst xmlns:a="http://schemas.openxmlformats.org/drawingml/2006/main">
              <a:ext uri="{FF2B5EF4-FFF2-40B4-BE49-F238E27FC236}">
                <a16:creationId xmlns:a16="http://schemas.microsoft.com/office/drawing/2014/main" id="{88416586-B585-4CAC-A9BE-D9BA25BC26E8}"/>
              </a:ext>
            </a:extLst>
          </p:cNvPr>
          <p:cNvSpPr>
            <a:spLocks xmlns:a="http://schemas.openxmlformats.org/drawingml/2006/main" noGrp="1"/>
          </p:cNvSpPr>
          <p:nvPr/>
        </p:nvSpPr>
        <p:spPr>
          <a:xfrm xmlns:a="http://schemas.openxmlformats.org/drawingml/2006/main">
            <a:off x="7239000" y="3057525"/>
            <a:ext cx="4048125" cy="15621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Merged stay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10–15 January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Charges 301.00</a:t>
            </a:r>
          </a:p>
        </p:txBody>
      </p:sp>
      <p:sp>
        <p:nvSpPr>
          <p:cNvPr id="8" name="">
            <a:extLst xmlns:a="http://schemas.openxmlformats.org/drawingml/2006/main">
              <a:ext uri="{FF2B5EF4-FFF2-40B4-BE49-F238E27FC236}">
                <a16:creationId xmlns:a16="http://schemas.microsoft.com/office/drawing/2014/main" id="{B29F30B3-2218-4B9F-B286-0CD5814EADDA}"/>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Both bills belong to the same admission.</a:t>
            </a:r>
          </a:p>
        </p:txBody>
      </p:sp>
    </p:spTree>
    <p:extLst>
      <p:ext uri="{BB962C8B-B14F-4D97-AF65-F5344CB8AC3E}">
        <p14:creationId xmlns:p14="http://schemas.microsoft.com/office/powerpoint/2010/main" val="1116634425"/>
      </p:ext>
    </p:extLst>
  </p:cSld>
</p:sld>
</file>

<file path=ppt/slides/slide1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3429E9-722C-4971-9437-05CD205CA23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Stay fields follow different merge rules</a:t>
            </a:r>
          </a:p>
        </p:txBody>
      </p:sp>
      <p:sp>
        <p:nvSpPr>
          <p:cNvPr id="2" name="">
            <a:extLst xmlns:a="http://schemas.openxmlformats.org/drawingml/2006/main">
              <a:ext uri="{FF2B5EF4-FFF2-40B4-BE49-F238E27FC236}">
                <a16:creationId xmlns:a16="http://schemas.microsoft.com/office/drawing/2014/main" id="{F05E1905-906A-4C9D-BC81-690764D52971}"/>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4962570-731E-41E0-A59B-216070FF9AAE}"/>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7354B8"/>
                </a:solidFill>
                <a:latin typeface="Arial"/>
                <a:ea typeface="Arial"/>
                <a:cs typeface="Arial"/>
              </a:defRPr>
            </a:defPPr>
          </a:lstStyle>
          <a:p xmlns:a="http://schemas.openxmlformats.org/drawingml/2006/main">
            <a:pPr algn="l">
              <a:defRPr sz="2100" b="1">
                <a:solidFill>
                  <a:srgbClr val="7354B8"/>
                </a:solidFill>
                <a:latin typeface="Arial"/>
                <a:ea typeface="Arial"/>
                <a:cs typeface="Arial"/>
              </a:defRPr>
            </a:pPr>
            <a:r>
              <a:rPr sz="2100" b="1">
                <a:solidFill>
                  <a:srgbClr val="7354B8"/>
                </a:solidFill>
                <a:latin typeface="Arial"/>
                <a:ea typeface="Arial"/>
                <a:cs typeface="Arial"/>
              </a:rPr>
              <a:t>Use the earliest date</a:t>
            </a:r>
          </a:p>
        </p:txBody>
      </p:sp>
      <p:sp>
        <p:nvSpPr>
          <p:cNvPr id="4" name="">
            <a:extLst xmlns:a="http://schemas.openxmlformats.org/drawingml/2006/main">
              <a:ext uri="{FF2B5EF4-FFF2-40B4-BE49-F238E27FC236}">
                <a16:creationId xmlns:a16="http://schemas.microsoft.com/office/drawing/2014/main" id="{0AD23CE5-EF85-41CE-B5A4-3605426B9387}"/>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stay begins on the earliest valid from date.</a:t>
            </a:r>
          </a:p>
        </p:txBody>
      </p:sp>
      <p:sp>
        <p:nvSpPr>
          <p:cNvPr id="5" name="">
            <a:extLst xmlns:a="http://schemas.openxmlformats.org/drawingml/2006/main">
              <a:ext uri="{FF2B5EF4-FFF2-40B4-BE49-F238E27FC236}">
                <a16:creationId xmlns:a16="http://schemas.microsoft.com/office/drawing/2014/main" id="{C6DD823A-4E21-4238-B7C1-342BC3E8AFAB}"/>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7354B8"/>
                </a:solidFill>
                <a:latin typeface="Arial"/>
                <a:ea typeface="Arial"/>
                <a:cs typeface="Arial"/>
              </a:defRPr>
            </a:defPPr>
          </a:lstStyle>
          <a:p xmlns:a="http://schemas.openxmlformats.org/drawingml/2006/main">
            <a:pPr algn="l">
              <a:defRPr sz="2100" b="1">
                <a:solidFill>
                  <a:srgbClr val="7354B8"/>
                </a:solidFill>
                <a:latin typeface="Arial"/>
                <a:ea typeface="Arial"/>
                <a:cs typeface="Arial"/>
              </a:defRPr>
            </a:pPr>
            <a:r>
              <a:rPr sz="2100" b="1">
                <a:solidFill>
                  <a:srgbClr val="7354B8"/>
                </a:solidFill>
                <a:latin typeface="Arial"/>
                <a:ea typeface="Arial"/>
                <a:cs typeface="Arial"/>
              </a:rPr>
              <a:t>Use the latest date</a:t>
            </a:r>
          </a:p>
        </p:txBody>
      </p:sp>
      <p:sp>
        <p:nvSpPr>
          <p:cNvPr id="6" name="">
            <a:extLst xmlns:a="http://schemas.openxmlformats.org/drawingml/2006/main">
              <a:ext uri="{FF2B5EF4-FFF2-40B4-BE49-F238E27FC236}">
                <a16:creationId xmlns:a16="http://schemas.microsoft.com/office/drawing/2014/main" id="{3D37E9B6-6B2C-4FB2-A6E5-91254345B21A}"/>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stay ends on the latest valid through date.</a:t>
            </a:r>
          </a:p>
        </p:txBody>
      </p:sp>
      <p:sp>
        <p:nvSpPr>
          <p:cNvPr id="7" name="">
            <a:extLst xmlns:a="http://schemas.openxmlformats.org/drawingml/2006/main">
              <a:ext uri="{FF2B5EF4-FFF2-40B4-BE49-F238E27FC236}">
                <a16:creationId xmlns:a16="http://schemas.microsoft.com/office/drawing/2014/main" id="{4DB03EDB-6301-4F31-B21C-F21D784580F7}"/>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7354B8"/>
                </a:solidFill>
                <a:latin typeface="Arial"/>
                <a:ea typeface="Arial"/>
                <a:cs typeface="Arial"/>
              </a:defRPr>
            </a:defPPr>
          </a:lstStyle>
          <a:p xmlns:a="http://schemas.openxmlformats.org/drawingml/2006/main">
            <a:pPr algn="l">
              <a:defRPr sz="2100" b="1">
                <a:solidFill>
                  <a:srgbClr val="7354B8"/>
                </a:solidFill>
                <a:latin typeface="Arial"/>
                <a:ea typeface="Arial"/>
                <a:cs typeface="Arial"/>
              </a:defRPr>
            </a:pPr>
            <a:r>
              <a:rPr sz="2100" b="1">
                <a:solidFill>
                  <a:srgbClr val="7354B8"/>
                </a:solidFill>
                <a:latin typeface="Arial"/>
                <a:ea typeface="Arial"/>
                <a:cs typeface="Arial"/>
              </a:rPr>
              <a:t>Add selected amounts</a:t>
            </a:r>
          </a:p>
        </p:txBody>
      </p:sp>
      <p:sp>
        <p:nvSpPr>
          <p:cNvPr id="8" name="">
            <a:extLst xmlns:a="http://schemas.openxmlformats.org/drawingml/2006/main">
              <a:ext uri="{FF2B5EF4-FFF2-40B4-BE49-F238E27FC236}">
                <a16:creationId xmlns:a16="http://schemas.microsoft.com/office/drawing/2014/main" id="{2651870B-3D96-4FA3-BF76-D3B05542B6DB}"/>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Sum every required operand. A missing bill amount can block the total.</a:t>
            </a:r>
          </a:p>
        </p:txBody>
      </p:sp>
    </p:spTree>
    <p:extLst>
      <p:ext uri="{BB962C8B-B14F-4D97-AF65-F5344CB8AC3E}">
        <p14:creationId xmlns:p14="http://schemas.microsoft.com/office/powerpoint/2010/main" val="2065726222"/>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C0ED54D-8368-4BB8-9A34-88447E084725}"/>
              </a:ext>
            </a:extLst>
          </p:cNvPr>
          <p:cNvCxnSpPr>
            <a:stCxn xmlns:a="http://schemas.openxmlformats.org/drawingml/2006/main" id="5" idx="3"/>
            <a:endCxn xmlns:a="http://schemas.openxmlformats.org/drawingml/2006/main" id="6" idx="1"/>
          </p:cNvCxnSpPr>
          <p:nvPr/>
        </p:nvCxnSpPr>
        <p:spPr>
          <a:xfrm xmlns:a="http://schemas.openxmlformats.org/drawingml/2006/main">
            <a:off x="6143625" y="3800475"/>
            <a:ext cx="18097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72B8B774-943E-4E3D-A6EB-D23B49FF9627}"/>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4. Intermediate</a:t>
            </a:r>
          </a:p>
        </p:txBody>
      </p:sp>
      <p:sp>
        <p:nvSpPr>
          <p:cNvPr id="2" name="">
            <a:extLst xmlns:a="http://schemas.openxmlformats.org/drawingml/2006/main">
              <a:ext uri="{FF2B5EF4-FFF2-40B4-BE49-F238E27FC236}">
                <a16:creationId xmlns:a16="http://schemas.microsoft.com/office/drawing/2014/main" id="{2FEBFB7D-8A06-4507-8BAC-A6E4A5413C9D}"/>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30C39B6-1B80-454A-A26F-D7192B242E40}"/>
              </a:ext>
            </a:extLst>
          </p:cNvPr>
          <p:cNvSpPr>
            <a:spLocks xmlns:a="http://schemas.openxmlformats.org/drawingml/2006/main" noGrp="1"/>
          </p:cNvSpPr>
          <p:nvPr/>
        </p:nvSpPr>
        <p:spPr>
          <a:xfrm xmlns:a="http://schemas.openxmlformats.org/drawingml/2006/main">
            <a:off x="619125" y="1724025"/>
            <a:ext cx="1809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0" b="1">
                <a:solidFill>
                  <a:srgbClr val="B66A10"/>
                </a:solidFill>
                <a:latin typeface="Arial"/>
                <a:ea typeface="Arial"/>
                <a:cs typeface="Arial"/>
              </a:defRPr>
            </a:defPPr>
          </a:lstStyle>
          <a:p xmlns:a="http://schemas.openxmlformats.org/drawingml/2006/main">
            <a:pPr algn="l">
              <a:defRPr sz="10500" b="1">
                <a:solidFill>
                  <a:srgbClr val="B66A10"/>
                </a:solidFill>
                <a:latin typeface="Arial"/>
                <a:ea typeface="Arial"/>
                <a:cs typeface="Arial"/>
              </a:defRPr>
            </a:pPr>
            <a:r>
              <a:rPr sz="10500" b="1">
                <a:solidFill>
                  <a:srgbClr val="B66A1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5B5C6E8-12F3-4DB4-9E31-0303F507CCA5}"/>
              </a:ext>
            </a:extLst>
          </p:cNvPr>
          <p:cNvSpPr>
            <a:spLocks xmlns:a="http://schemas.openxmlformats.org/drawingml/2006/main" noGrp="1"/>
          </p:cNvSpPr>
          <p:nvPr/>
        </p:nvSpPr>
        <p:spPr>
          <a:xfrm xmlns:a="http://schemas.openxmlformats.org/drawingml/2006/main">
            <a:off x="2762250" y="18192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72B43"/>
                </a:solidFill>
                <a:latin typeface="Arial"/>
                <a:ea typeface="Arial"/>
                <a:cs typeface="Arial"/>
              </a:defRPr>
            </a:defPPr>
          </a:lstStyle>
          <a:p xmlns:a="http://schemas.openxmlformats.org/drawingml/2006/main">
            <a:pPr algn="l">
              <a:defRPr sz="2625" b="1">
                <a:solidFill>
                  <a:srgbClr val="172B43"/>
                </a:solidFill>
                <a:latin typeface="Arial"/>
                <a:ea typeface="Arial"/>
                <a:cs typeface="Arial"/>
              </a:defRPr>
            </a:pPr>
            <a:r>
              <a:rPr sz="2625" b="1">
                <a:solidFill>
                  <a:srgbClr val="172B43"/>
                </a:solidFill>
                <a:latin typeface="Arial"/>
                <a:ea typeface="Arial"/>
                <a:cs typeface="Arial"/>
              </a:rPr>
              <a:t>Calculate the fields needed for the output.</a:t>
            </a:r>
          </a:p>
        </p:txBody>
      </p:sp>
      <p:sp>
        <p:nvSpPr>
          <p:cNvPr id="5" name="">
            <a:extLst xmlns:a="http://schemas.openxmlformats.org/drawingml/2006/main">
              <a:ext uri="{FF2B5EF4-FFF2-40B4-BE49-F238E27FC236}">
                <a16:creationId xmlns:a16="http://schemas.microsoft.com/office/drawing/2014/main" id="{370C5D4D-5862-4345-BA12-3452E22D1BBA}"/>
              </a:ext>
            </a:extLst>
          </p:cNvPr>
          <p:cNvSpPr>
            <a:spLocks xmlns:a="http://schemas.openxmlformats.org/drawingml/2006/main" noGrp="1"/>
          </p:cNvSpPr>
          <p:nvPr/>
        </p:nvSpPr>
        <p:spPr>
          <a:xfrm xmlns:a="http://schemas.openxmlformats.org/drawingml/2006/main">
            <a:off x="2762250" y="3286125"/>
            <a:ext cx="3381375" cy="1028700"/>
          </a:xfrm>
          <a:prstGeom xmlns:a="http://schemas.openxmlformats.org/drawingml/2006/main" prst="rect">
            <a:avLst/>
          </a:prstGeom>
          <a:solidFill xmlns:a="http://schemas.openxmlformats.org/drawingml/2006/main">
            <a:srgbClr val="B66A10"/>
          </a:solidFill>
          <a:ln xmlns:a="http://schemas.openxmlformats.org/drawingml/2006/main" w="0">
            <a:solidFill>
              <a:srgbClr val="B66A10"/>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Merged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stay records</a:t>
            </a:r>
          </a:p>
        </p:txBody>
      </p:sp>
      <p:sp>
        <p:nvSpPr>
          <p:cNvPr id="6" name="">
            <a:extLst xmlns:a="http://schemas.openxmlformats.org/drawingml/2006/main">
              <a:ext uri="{FF2B5EF4-FFF2-40B4-BE49-F238E27FC236}">
                <a16:creationId xmlns:a16="http://schemas.microsoft.com/office/drawing/2014/main" id="{7214CCDA-83E8-479B-99FE-AA18238699DB}"/>
              </a:ext>
            </a:extLst>
          </p:cNvPr>
          <p:cNvSpPr>
            <a:spLocks xmlns:a="http://schemas.openxmlformats.org/drawingml/2006/main" noGrp="1"/>
          </p:cNvSpPr>
          <p:nvPr/>
        </p:nvSpPr>
        <p:spPr>
          <a:xfrm xmlns:a="http://schemas.openxmlformats.org/drawingml/2006/main">
            <a:off x="7953375" y="3286125"/>
            <a:ext cx="3381375" cy="1028700"/>
          </a:xfrm>
          <a:prstGeom xmlns:a="http://schemas.openxmlformats.org/drawingml/2006/main" prst="rect">
            <a:avLst/>
          </a:prstGeom>
          <a:solidFill xmlns:a="http://schemas.openxmlformats.org/drawingml/2006/main">
            <a:srgbClr val="B66A10"/>
          </a:solidFill>
          <a:ln xmlns:a="http://schemas.openxmlformats.org/drawingml/2006/main" w="0">
            <a:solidFill>
              <a:srgbClr val="B66A10"/>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Derived MedPAR</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field values</a:t>
            </a:r>
          </a:p>
        </p:txBody>
      </p:sp>
      <p:sp>
        <p:nvSpPr>
          <p:cNvPr id="8" name="">
            <a:extLst xmlns:a="http://schemas.openxmlformats.org/drawingml/2006/main">
              <a:ext uri="{FF2B5EF4-FFF2-40B4-BE49-F238E27FC236}">
                <a16:creationId xmlns:a16="http://schemas.microsoft.com/office/drawing/2014/main" id="{BCBDC4DF-3892-48EA-B238-549E7502903D}"/>
              </a:ext>
            </a:extLst>
          </p:cNvPr>
          <p:cNvSpPr>
            <a:spLocks xmlns:a="http://schemas.openxmlformats.org/drawingml/2006/main" noGrp="1"/>
          </p:cNvSpPr>
          <p:nvPr/>
        </p:nvSpPr>
        <p:spPr>
          <a:xfrm xmlns:a="http://schemas.openxmlformats.org/drawingml/2006/main">
            <a:off x="2771775" y="4714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B66A10"/>
                </a:solidFill>
                <a:latin typeface="Arial"/>
                <a:ea typeface="Arial"/>
                <a:cs typeface="Arial"/>
              </a:defRPr>
            </a:defPPr>
          </a:lstStyle>
          <a:p xmlns:a="http://schemas.openxmlformats.org/drawingml/2006/main">
            <a:pPr algn="l">
              <a:defRPr sz="1875" b="1">
                <a:solidFill>
                  <a:srgbClr val="B66A10"/>
                </a:solidFill>
                <a:latin typeface="Arial"/>
                <a:ea typeface="Arial"/>
                <a:cs typeface="Arial"/>
              </a:defRPr>
            </a:pPr>
            <a:r>
              <a:rPr sz="1875" b="1">
                <a:solidFill>
                  <a:srgbClr val="B66A10"/>
                </a:solidFill>
                <a:latin typeface="Arial"/>
                <a:ea typeface="Arial"/>
                <a:cs typeface="Arial"/>
              </a:rPr>
              <a:t>The validator checks</a:t>
            </a:r>
          </a:p>
        </p:txBody>
      </p:sp>
      <p:sp>
        <p:nvSpPr>
          <p:cNvPr id="9" name="">
            <a:extLst xmlns:a="http://schemas.openxmlformats.org/drawingml/2006/main">
              <a:ext uri="{FF2B5EF4-FFF2-40B4-BE49-F238E27FC236}">
                <a16:creationId xmlns:a16="http://schemas.microsoft.com/office/drawing/2014/main" id="{F5149C03-32B3-4C43-BB8E-576F8CE9632C}"/>
              </a:ext>
            </a:extLst>
          </p:cNvPr>
          <p:cNvSpPr>
            <a:spLocks xmlns:a="http://schemas.openxmlformats.org/drawingml/2006/main" noGrp="1"/>
          </p:cNvSpPr>
          <p:nvPr/>
        </p:nvSpPr>
        <p:spPr>
          <a:xfrm xmlns:a="http://schemas.openxmlformats.org/drawingml/2006/main">
            <a:off x="2771775" y="5153025"/>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Whether dates, age, payment amounts and other derived fields match the source data.</a:t>
            </a:r>
          </a:p>
        </p:txBody>
      </p:sp>
    </p:spTree>
    <p:extLst>
      <p:ext uri="{BB962C8B-B14F-4D97-AF65-F5344CB8AC3E}">
        <p14:creationId xmlns:p14="http://schemas.microsoft.com/office/powerpoint/2010/main" val="2047939462"/>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F05E10-5581-4B60-9794-7678E81925E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Length of stay: a worked example</a:t>
            </a:r>
          </a:p>
        </p:txBody>
      </p:sp>
      <p:sp>
        <p:nvSpPr>
          <p:cNvPr id="2" name="">
            <a:extLst xmlns:a="http://schemas.openxmlformats.org/drawingml/2006/main">
              <a:ext uri="{FF2B5EF4-FFF2-40B4-BE49-F238E27FC236}">
                <a16:creationId xmlns:a16="http://schemas.microsoft.com/office/drawing/2014/main" id="{83DEF8DD-1A21-4168-AFEF-3CE5CDFB152B}"/>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1A7D45A7-78ED-4734-85D8-96536173F8EE}"/>
              </a:ext>
            </a:extLst>
          </p:cNvPr>
          <p:cNvSpPr>
            <a:spLocks xmlns:a="http://schemas.openxmlformats.org/drawingml/2006/main" noGrp="1"/>
          </p:cNvSpPr>
          <p:nvPr/>
        </p:nvSpPr>
        <p:spPr>
          <a:xfrm xmlns:a="http://schemas.openxmlformats.org/drawingml/2006/main">
            <a:off x="666750" y="167640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597080"/>
                </a:solidFill>
                <a:latin typeface="Arial"/>
                <a:ea typeface="Arial"/>
                <a:cs typeface="Arial"/>
              </a:defRPr>
            </a:defPPr>
          </a:lstStyle>
          <a:p xmlns:a="http://schemas.openxmlformats.org/drawingml/2006/main">
            <a:pPr algn="l">
              <a:defRPr sz="2025" b="0">
                <a:solidFill>
                  <a:srgbClr val="597080"/>
                </a:solidFill>
                <a:latin typeface="Arial"/>
                <a:ea typeface="Arial"/>
                <a:cs typeface="Arial"/>
              </a:defRPr>
            </a:pPr>
            <a:r>
              <a:rPr sz="2025" b="0">
                <a:solidFill>
                  <a:srgbClr val="597080"/>
                </a:solidFill>
                <a:latin typeface="Arial"/>
                <a:ea typeface="Arial"/>
                <a:cs typeface="Arial"/>
              </a:rPr>
              <a:t>Admission is 10 January. Through date is 15 January.</a:t>
            </a:r>
          </a:p>
        </p:txBody>
      </p:sp>
      <p:sp>
        <p:nvSpPr>
          <p:cNvPr id="4" name="">
            <a:extLst xmlns:a="http://schemas.openxmlformats.org/drawingml/2006/main">
              <a:ext uri="{FF2B5EF4-FFF2-40B4-BE49-F238E27FC236}">
                <a16:creationId xmlns:a16="http://schemas.microsoft.com/office/drawing/2014/main" id="{F579D30D-2534-411C-962D-B38D748FC183}"/>
              </a:ext>
            </a:extLst>
          </p:cNvPr>
          <p:cNvSpPr>
            <a:spLocks xmlns:a="http://schemas.openxmlformats.org/drawingml/2006/main" noGrp="1"/>
          </p:cNvSpPr>
          <p:nvPr/>
        </p:nvSpPr>
        <p:spPr>
          <a:xfrm xmlns:a="http://schemas.openxmlformats.org/drawingml/2006/main">
            <a:off x="723900" y="2686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800" b="1">
                <a:solidFill>
                  <a:srgbClr val="172B43"/>
                </a:solidFill>
                <a:latin typeface="Arial"/>
                <a:ea typeface="Arial"/>
                <a:cs typeface="Arial"/>
              </a:defRPr>
            </a:defPPr>
          </a:lstStyle>
          <a:p xmlns:a="http://schemas.openxmlformats.org/drawingml/2006/main">
            <a:pPr algn="l">
              <a:defRPr sz="4800" b="1">
                <a:solidFill>
                  <a:srgbClr val="172B43"/>
                </a:solidFill>
                <a:latin typeface="Arial"/>
                <a:ea typeface="Arial"/>
                <a:cs typeface="Arial"/>
              </a:defRPr>
            </a:pPr>
            <a:r>
              <a:rPr sz="4800" b="1">
                <a:solidFill>
                  <a:srgbClr val="172B43"/>
                </a:solidFill>
                <a:latin typeface="Arial"/>
                <a:ea typeface="Arial"/>
                <a:cs typeface="Arial"/>
              </a:rPr>
              <a:t>15 January − 10 January = 5 days</a:t>
            </a:r>
          </a:p>
        </p:txBody>
      </p:sp>
      <p:sp>
        <p:nvSpPr>
          <p:cNvPr id="5" name="">
            <a:extLst xmlns:a="http://schemas.openxmlformats.org/drawingml/2006/main">
              <a:ext uri="{FF2B5EF4-FFF2-40B4-BE49-F238E27FC236}">
                <a16:creationId xmlns:a16="http://schemas.microsoft.com/office/drawing/2014/main" id="{08F2875F-B4F3-4CB5-BCD9-22173E3FA95A}"/>
              </a:ext>
            </a:extLst>
          </p:cNvPr>
          <p:cNvSpPr>
            <a:spLocks xmlns:a="http://schemas.openxmlformats.org/drawingml/2006/main" noGrp="1"/>
          </p:cNvSpPr>
          <p:nvPr/>
        </p:nvSpPr>
        <p:spPr>
          <a:xfrm xmlns:a="http://schemas.openxmlformats.org/drawingml/2006/main">
            <a:off x="742950" y="37052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0">
                <a:solidFill>
                  <a:srgbClr val="597080"/>
                </a:solidFill>
                <a:latin typeface="Arial"/>
                <a:ea typeface="Arial"/>
                <a:cs typeface="Arial"/>
              </a:defRPr>
            </a:defPPr>
          </a:lstStyle>
          <a:p xmlns:a="http://schemas.openxmlformats.org/drawingml/2006/main">
            <a:pPr algn="l">
              <a:defRPr sz="3150" b="0">
                <a:solidFill>
                  <a:srgbClr val="597080"/>
                </a:solidFill>
                <a:latin typeface="Arial"/>
                <a:ea typeface="Arial"/>
                <a:cs typeface="Arial"/>
              </a:defRPr>
            </a:pPr>
            <a:r>
              <a:rPr sz="3150" b="0">
                <a:solidFill>
                  <a:srgbClr val="597080"/>
                </a:solidFill>
                <a:latin typeface="Arial"/>
                <a:ea typeface="Arial"/>
                <a:cs typeface="Arial"/>
              </a:rPr>
              <a:t>If the patient is still admitted, add 1 day.</a:t>
            </a:r>
          </a:p>
        </p:txBody>
      </p:sp>
      <p:sp>
        <p:nvSpPr>
          <p:cNvPr id="6" name="">
            <a:extLst xmlns:a="http://schemas.openxmlformats.org/drawingml/2006/main">
              <a:ext uri="{FF2B5EF4-FFF2-40B4-BE49-F238E27FC236}">
                <a16:creationId xmlns:a16="http://schemas.microsoft.com/office/drawing/2014/main" id="{941091C5-7B84-4634-AA22-E89C466C1093}"/>
              </a:ext>
            </a:extLst>
          </p:cNvPr>
          <p:cNvSpPr>
            <a:spLocks xmlns:a="http://schemas.openxmlformats.org/drawingml/2006/main" noGrp="1"/>
          </p:cNvSpPr>
          <p:nvPr/>
        </p:nvSpPr>
        <p:spPr>
          <a:xfrm xmlns:a="http://schemas.openxmlformats.org/drawingml/2006/main">
            <a:off x="742950" y="46482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500" b="1">
                <a:solidFill>
                  <a:srgbClr val="B66A10"/>
                </a:solidFill>
                <a:latin typeface="Arial"/>
                <a:ea typeface="Arial"/>
                <a:cs typeface="Arial"/>
              </a:defRPr>
            </a:defPPr>
          </a:lstStyle>
          <a:p xmlns:a="http://schemas.openxmlformats.org/drawingml/2006/main">
            <a:pPr algn="l">
              <a:defRPr sz="4500" b="1">
                <a:solidFill>
                  <a:srgbClr val="B66A10"/>
                </a:solidFill>
                <a:latin typeface="Arial"/>
                <a:ea typeface="Arial"/>
                <a:cs typeface="Arial"/>
              </a:defRPr>
            </a:pPr>
            <a:r>
              <a:rPr sz="4500" b="1">
                <a:solidFill>
                  <a:srgbClr val="B66A10"/>
                </a:solidFill>
                <a:latin typeface="Arial"/>
                <a:ea typeface="Arial"/>
                <a:cs typeface="Arial"/>
              </a:rPr>
              <a:t>Undischarged result = 6 days</a:t>
            </a:r>
          </a:p>
        </p:txBody>
      </p:sp>
      <p:sp>
        <p:nvSpPr>
          <p:cNvPr id="7" name="">
            <a:extLst xmlns:a="http://schemas.openxmlformats.org/drawingml/2006/main">
              <a:ext uri="{FF2B5EF4-FFF2-40B4-BE49-F238E27FC236}">
                <a16:creationId xmlns:a16="http://schemas.microsoft.com/office/drawing/2014/main" id="{49188850-6E59-4A97-9B2F-0CF8F0DB2213}"/>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with invented values</a:t>
            </a:r>
          </a:p>
        </p:txBody>
      </p:sp>
    </p:spTree>
    <p:extLst>
      <p:ext uri="{BB962C8B-B14F-4D97-AF65-F5344CB8AC3E}">
        <p14:creationId xmlns:p14="http://schemas.microsoft.com/office/powerpoint/2010/main" val="1012294778"/>
      </p:ext>
    </p:extLst>
  </p:cSld>
</p:sld>
</file>

<file path=ppt/slides/slide1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6E1704-19B4-40AA-B22B-6CF18F52AF57}"/>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Per diem: rounding happens before multiplication</a:t>
            </a:r>
          </a:p>
        </p:txBody>
      </p:sp>
      <p:sp>
        <p:nvSpPr>
          <p:cNvPr id="2" name="">
            <a:extLst xmlns:a="http://schemas.openxmlformats.org/drawingml/2006/main">
              <a:ext uri="{FF2B5EF4-FFF2-40B4-BE49-F238E27FC236}">
                <a16:creationId xmlns:a16="http://schemas.microsoft.com/office/drawing/2014/main" id="{3D24D11B-E205-4600-BED9-257B0824A07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35DEA8B5-619A-4DBE-A3BA-1CED02CF7002}"/>
              </a:ext>
            </a:extLst>
          </p:cNvPr>
          <p:cNvSpPr>
            <a:spLocks xmlns:a="http://schemas.openxmlformats.org/drawingml/2006/main" noGrp="1"/>
          </p:cNvSpPr>
          <p:nvPr/>
        </p:nvSpPr>
        <p:spPr>
          <a:xfrm xmlns:a="http://schemas.openxmlformats.org/drawingml/2006/main">
            <a:off x="666750" y="167640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597080"/>
                </a:solidFill>
                <a:latin typeface="Arial"/>
                <a:ea typeface="Arial"/>
                <a:cs typeface="Arial"/>
              </a:defRPr>
            </a:defPPr>
          </a:lstStyle>
          <a:p xmlns:a="http://schemas.openxmlformats.org/drawingml/2006/main">
            <a:pPr algn="l">
              <a:defRPr sz="2025" b="0">
                <a:solidFill>
                  <a:srgbClr val="597080"/>
                </a:solidFill>
                <a:latin typeface="Arial"/>
                <a:ea typeface="Arial"/>
                <a:cs typeface="Arial"/>
              </a:defRPr>
            </a:pPr>
            <a:r>
              <a:rPr sz="2025" b="0">
                <a:solidFill>
                  <a:srgbClr val="597080"/>
                </a:solidFill>
                <a:latin typeface="Arial"/>
                <a:ea typeface="Arial"/>
                <a:cs typeface="Arial"/>
              </a:rPr>
              <a:t>A daily amount of 12.50 applies to 3 utilization days.</a:t>
            </a:r>
          </a:p>
        </p:txBody>
      </p:sp>
      <p:sp>
        <p:nvSpPr>
          <p:cNvPr id="4" name="">
            <a:extLst xmlns:a="http://schemas.openxmlformats.org/drawingml/2006/main">
              <a:ext uri="{FF2B5EF4-FFF2-40B4-BE49-F238E27FC236}">
                <a16:creationId xmlns:a16="http://schemas.microsoft.com/office/drawing/2014/main" id="{09A995C5-3891-44AD-8D70-9C5A7F201673}"/>
              </a:ext>
            </a:extLst>
          </p:cNvPr>
          <p:cNvSpPr>
            <a:spLocks xmlns:a="http://schemas.openxmlformats.org/drawingml/2006/main" noGrp="1"/>
          </p:cNvSpPr>
          <p:nvPr/>
        </p:nvSpPr>
        <p:spPr>
          <a:xfrm xmlns:a="http://schemas.openxmlformats.org/drawingml/2006/main">
            <a:off x="723900" y="2686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800" b="1">
                <a:solidFill>
                  <a:srgbClr val="172B43"/>
                </a:solidFill>
                <a:latin typeface="Arial"/>
                <a:ea typeface="Arial"/>
                <a:cs typeface="Arial"/>
              </a:defRPr>
            </a:defPPr>
          </a:lstStyle>
          <a:p xmlns:a="http://schemas.openxmlformats.org/drawingml/2006/main">
            <a:pPr algn="l">
              <a:defRPr sz="4800" b="1">
                <a:solidFill>
                  <a:srgbClr val="172B43"/>
                </a:solidFill>
                <a:latin typeface="Arial"/>
                <a:ea typeface="Arial"/>
                <a:cs typeface="Arial"/>
              </a:defRPr>
            </a:pPr>
            <a:r>
              <a:rPr sz="4800" b="1">
                <a:solidFill>
                  <a:srgbClr val="172B43"/>
                </a:solidFill>
                <a:latin typeface="Arial"/>
                <a:ea typeface="Arial"/>
                <a:cs typeface="Arial"/>
              </a:rPr>
              <a:t>12.50 rounds to 13</a:t>
            </a:r>
          </a:p>
        </p:txBody>
      </p:sp>
      <p:sp>
        <p:nvSpPr>
          <p:cNvPr id="5" name="">
            <a:extLst xmlns:a="http://schemas.openxmlformats.org/drawingml/2006/main">
              <a:ext uri="{FF2B5EF4-FFF2-40B4-BE49-F238E27FC236}">
                <a16:creationId xmlns:a16="http://schemas.microsoft.com/office/drawing/2014/main" id="{9F95C412-0262-4A9A-85E8-DA921A7FA4AE}"/>
              </a:ext>
            </a:extLst>
          </p:cNvPr>
          <p:cNvSpPr>
            <a:spLocks xmlns:a="http://schemas.openxmlformats.org/drawingml/2006/main" noGrp="1"/>
          </p:cNvSpPr>
          <p:nvPr/>
        </p:nvSpPr>
        <p:spPr>
          <a:xfrm xmlns:a="http://schemas.openxmlformats.org/drawingml/2006/main">
            <a:off x="742950" y="37052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0">
                <a:solidFill>
                  <a:srgbClr val="597080"/>
                </a:solidFill>
                <a:latin typeface="Arial"/>
                <a:ea typeface="Arial"/>
                <a:cs typeface="Arial"/>
              </a:defRPr>
            </a:defPPr>
          </a:lstStyle>
          <a:p xmlns:a="http://schemas.openxmlformats.org/drawingml/2006/main">
            <a:pPr algn="l">
              <a:defRPr sz="3150" b="0">
                <a:solidFill>
                  <a:srgbClr val="597080"/>
                </a:solidFill>
                <a:latin typeface="Arial"/>
                <a:ea typeface="Arial"/>
                <a:cs typeface="Arial"/>
              </a:defRPr>
            </a:pPr>
            <a:r>
              <a:rPr sz="3150" b="0">
                <a:solidFill>
                  <a:srgbClr val="597080"/>
                </a:solidFill>
                <a:latin typeface="Arial"/>
                <a:ea typeface="Arial"/>
                <a:cs typeface="Arial"/>
              </a:rPr>
              <a:t>13 × 3 utilization days</a:t>
            </a:r>
          </a:p>
        </p:txBody>
      </p:sp>
      <p:sp>
        <p:nvSpPr>
          <p:cNvPr id="6" name="">
            <a:extLst xmlns:a="http://schemas.openxmlformats.org/drawingml/2006/main">
              <a:ext uri="{FF2B5EF4-FFF2-40B4-BE49-F238E27FC236}">
                <a16:creationId xmlns:a16="http://schemas.microsoft.com/office/drawing/2014/main" id="{27704B71-681A-4809-906C-43ADE6D3310F}"/>
              </a:ext>
            </a:extLst>
          </p:cNvPr>
          <p:cNvSpPr>
            <a:spLocks xmlns:a="http://schemas.openxmlformats.org/drawingml/2006/main" noGrp="1"/>
          </p:cNvSpPr>
          <p:nvPr/>
        </p:nvSpPr>
        <p:spPr>
          <a:xfrm xmlns:a="http://schemas.openxmlformats.org/drawingml/2006/main">
            <a:off x="742950" y="46482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500" b="1">
                <a:solidFill>
                  <a:srgbClr val="B66A10"/>
                </a:solidFill>
                <a:latin typeface="Arial"/>
                <a:ea typeface="Arial"/>
                <a:cs typeface="Arial"/>
              </a:defRPr>
            </a:defPPr>
          </a:lstStyle>
          <a:p xmlns:a="http://schemas.openxmlformats.org/drawingml/2006/main">
            <a:pPr algn="l">
              <a:defRPr sz="4500" b="1">
                <a:solidFill>
                  <a:srgbClr val="B66A10"/>
                </a:solidFill>
                <a:latin typeface="Arial"/>
                <a:ea typeface="Arial"/>
                <a:cs typeface="Arial"/>
              </a:defRPr>
            </a:pPr>
            <a:r>
              <a:rPr sz="4500" b="1">
                <a:solidFill>
                  <a:srgbClr val="B66A10"/>
                </a:solidFill>
                <a:latin typeface="Arial"/>
                <a:ea typeface="Arial"/>
                <a:cs typeface="Arial"/>
              </a:rPr>
              <a:t>Expected amount = 39</a:t>
            </a:r>
          </a:p>
        </p:txBody>
      </p:sp>
      <p:sp>
        <p:nvSpPr>
          <p:cNvPr id="7" name="">
            <a:extLst xmlns:a="http://schemas.openxmlformats.org/drawingml/2006/main">
              <a:ext uri="{FF2B5EF4-FFF2-40B4-BE49-F238E27FC236}">
                <a16:creationId xmlns:a16="http://schemas.microsoft.com/office/drawing/2014/main" id="{41C4A2CB-FEA8-48DD-8BA1-C32F97DC72A6}"/>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with invented values</a:t>
            </a:r>
          </a:p>
        </p:txBody>
      </p:sp>
    </p:spTree>
    <p:extLst>
      <p:ext uri="{BB962C8B-B14F-4D97-AF65-F5344CB8AC3E}">
        <p14:creationId xmlns:p14="http://schemas.microsoft.com/office/powerpoint/2010/main" val="1322780944"/>
      </p:ext>
    </p:extLst>
  </p:cSld>
</p:sld>
</file>

<file path=ppt/slides/slide1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C39766-670B-4094-A3F1-8EDD3F4347E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Missing birth date: why a check is blocked</a:t>
            </a:r>
          </a:p>
        </p:txBody>
      </p:sp>
      <p:sp>
        <p:nvSpPr>
          <p:cNvPr id="2" name="">
            <a:extLst xmlns:a="http://schemas.openxmlformats.org/drawingml/2006/main">
              <a:ext uri="{FF2B5EF4-FFF2-40B4-BE49-F238E27FC236}">
                <a16:creationId xmlns:a16="http://schemas.microsoft.com/office/drawing/2014/main" id="{D8FD1ADA-AAEC-4187-8C80-D7EDEB2EA3E8}"/>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A31960AB-28C4-4CBA-B5DB-080D99EA2602}"/>
              </a:ext>
            </a:extLst>
          </p:cNvPr>
          <p:cNvSpPr>
            <a:spLocks xmlns:a="http://schemas.openxmlformats.org/drawingml/2006/main" noGrp="1"/>
          </p:cNvSpPr>
          <p:nvPr/>
        </p:nvSpPr>
        <p:spPr>
          <a:xfrm xmlns:a="http://schemas.openxmlformats.org/drawingml/2006/main">
            <a:off x="666750" y="191452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597080"/>
                </a:solidFill>
                <a:latin typeface="Arial"/>
                <a:ea typeface="Arial"/>
                <a:cs typeface="Arial"/>
              </a:defRPr>
            </a:defPPr>
          </a:lstStyle>
          <a:p xmlns:a="http://schemas.openxmlformats.org/drawingml/2006/main">
            <a:pPr algn="l">
              <a:defRPr sz="2175" b="0">
                <a:solidFill>
                  <a:srgbClr val="597080"/>
                </a:solidFill>
                <a:latin typeface="Arial"/>
                <a:ea typeface="Arial"/>
                <a:cs typeface="Arial"/>
              </a:defRPr>
            </a:pPr>
            <a:r>
              <a:rPr sz="2175" b="0">
                <a:solidFill>
                  <a:srgbClr val="597080"/>
                </a:solidFill>
                <a:latin typeface="Arial"/>
                <a:ea typeface="Arial"/>
                <a:cs typeface="Arial"/>
              </a:rPr>
              <a:t>Source birth date</a:t>
            </a:r>
          </a:p>
        </p:txBody>
      </p:sp>
      <p:sp>
        <p:nvSpPr>
          <p:cNvPr id="4" name="">
            <a:extLst xmlns:a="http://schemas.openxmlformats.org/drawingml/2006/main">
              <a:ext uri="{FF2B5EF4-FFF2-40B4-BE49-F238E27FC236}">
                <a16:creationId xmlns:a16="http://schemas.microsoft.com/office/drawing/2014/main" id="{45595591-D872-4316-BEF9-4B461D2E3ED5}"/>
              </a:ext>
            </a:extLst>
          </p:cNvPr>
          <p:cNvSpPr>
            <a:spLocks xmlns:a="http://schemas.openxmlformats.org/drawingml/2006/main" noGrp="1"/>
          </p:cNvSpPr>
          <p:nvPr/>
        </p:nvSpPr>
        <p:spPr>
          <a:xfrm xmlns:a="http://schemas.openxmlformats.org/drawingml/2006/main">
            <a:off x="647700" y="2543175"/>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700" b="1">
                <a:solidFill>
                  <a:srgbClr val="172B43"/>
                </a:solidFill>
                <a:latin typeface="Arial"/>
                <a:ea typeface="Arial"/>
                <a:cs typeface="Arial"/>
              </a:defRPr>
            </a:defPPr>
          </a:lstStyle>
          <a:p xmlns:a="http://schemas.openxmlformats.org/drawingml/2006/main">
            <a:pPr algn="l">
              <a:defRPr sz="5700" b="1">
                <a:solidFill>
                  <a:srgbClr val="172B43"/>
                </a:solidFill>
                <a:latin typeface="Arial"/>
                <a:ea typeface="Arial"/>
                <a:cs typeface="Arial"/>
              </a:defRPr>
            </a:pPr>
            <a:r>
              <a:rPr sz="5700" b="1">
                <a:solidFill>
                  <a:srgbClr val="172B43"/>
                </a:solidFill>
                <a:latin typeface="Arial"/>
                <a:ea typeface="Arial"/>
                <a:cs typeface="Arial"/>
              </a:rPr>
              <a:t>00000000</a:t>
            </a:r>
          </a:p>
        </p:txBody>
      </p:sp>
      <p:sp>
        <p:nvSpPr>
          <p:cNvPr id="5" name="">
            <a:extLst xmlns:a="http://schemas.openxmlformats.org/drawingml/2006/main">
              <a:ext uri="{FF2B5EF4-FFF2-40B4-BE49-F238E27FC236}">
                <a16:creationId xmlns:a16="http://schemas.microsoft.com/office/drawing/2014/main" id="{0F90C0AB-3802-4613-B77D-D75AA3FBD119}"/>
              </a:ext>
            </a:extLst>
          </p:cNvPr>
          <p:cNvSpPr>
            <a:spLocks xmlns:a="http://schemas.openxmlformats.org/drawingml/2006/main" noGrp="1"/>
          </p:cNvSpPr>
          <p:nvPr/>
        </p:nvSpPr>
        <p:spPr>
          <a:xfrm xmlns:a="http://schemas.openxmlformats.org/drawingml/2006/main">
            <a:off x="6572250" y="206692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B66A10"/>
                </a:solidFill>
                <a:latin typeface="Arial"/>
                <a:ea typeface="Arial"/>
                <a:cs typeface="Arial"/>
              </a:defRPr>
            </a:defPPr>
          </a:lstStyle>
          <a:p xmlns:a="http://schemas.openxmlformats.org/drawingml/2006/main">
            <a:pPr algn="l">
              <a:defRPr sz="3225" b="1">
                <a:solidFill>
                  <a:srgbClr val="B66A10"/>
                </a:solidFill>
                <a:latin typeface="Arial"/>
                <a:ea typeface="Arial"/>
                <a:cs typeface="Arial"/>
              </a:defRPr>
            </a:pPr>
            <a:r>
              <a:rPr sz="3225" b="1">
                <a:solidFill>
                  <a:srgbClr val="B66A10"/>
                </a:solidFill>
                <a:latin typeface="Arial"/>
                <a:ea typeface="Arial"/>
                <a:cs typeface="Arial"/>
              </a:rPr>
              <a:t>Age cannot be calculated</a:t>
            </a:r>
          </a:p>
        </p:txBody>
      </p:sp>
      <p:sp>
        <p:nvSpPr>
          <p:cNvPr id="6" name="">
            <a:extLst xmlns:a="http://schemas.openxmlformats.org/drawingml/2006/main">
              <a:ext uri="{FF2B5EF4-FFF2-40B4-BE49-F238E27FC236}">
                <a16:creationId xmlns:a16="http://schemas.microsoft.com/office/drawing/2014/main" id="{AC7E352F-E89E-4958-BDA0-DCA9BD66B746}"/>
              </a:ext>
            </a:extLst>
          </p:cNvPr>
          <p:cNvSpPr>
            <a:spLocks xmlns:a="http://schemas.openxmlformats.org/drawingml/2006/main" noGrp="1"/>
          </p:cNvSpPr>
          <p:nvPr/>
        </p:nvSpPr>
        <p:spPr>
          <a:xfrm xmlns:a="http://schemas.openxmlformats.org/drawingml/2006/main">
            <a:off x="6572250" y="372427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72B43"/>
                </a:solidFill>
                <a:latin typeface="Arial"/>
                <a:ea typeface="Arial"/>
                <a:cs typeface="Arial"/>
              </a:defRPr>
            </a:defPPr>
          </a:lstStyle>
          <a:p xmlns:a="http://schemas.openxmlformats.org/drawingml/2006/main">
            <a:pPr algn="l">
              <a:defRPr sz="2250" b="0">
                <a:solidFill>
                  <a:srgbClr val="172B43"/>
                </a:solidFill>
                <a:latin typeface="Arial"/>
                <a:ea typeface="Arial"/>
                <a:cs typeface="Arial"/>
              </a:defRPr>
            </a:pPr>
            <a:r>
              <a:rPr sz="2250" b="0">
                <a:solidFill>
                  <a:srgbClr val="172B43"/>
                </a:solidFill>
                <a:latin typeface="Arial"/>
                <a:ea typeface="Arial"/>
                <a:cs typeface="Arial"/>
              </a:rPr>
              <a:t>The report states the missing input and the action needed.</a:t>
            </a:r>
          </a:p>
        </p:txBody>
      </p:sp>
      <p:sp>
        <p:nvSpPr>
          <p:cNvPr id="7" name="">
            <a:extLst xmlns:a="http://schemas.openxmlformats.org/drawingml/2006/main">
              <a:ext uri="{FF2B5EF4-FFF2-40B4-BE49-F238E27FC236}">
                <a16:creationId xmlns:a16="http://schemas.microsoft.com/office/drawing/2014/main" id="{1876F01C-AFB7-42A9-A6AE-3D821EDAFE17}"/>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BLOCKED means the validator needs evidence before it can decide.</a:t>
            </a:r>
          </a:p>
        </p:txBody>
      </p:sp>
    </p:spTree>
    <p:extLst>
      <p:ext uri="{BB962C8B-B14F-4D97-AF65-F5344CB8AC3E}">
        <p14:creationId xmlns:p14="http://schemas.microsoft.com/office/powerpoint/2010/main" val="675530726"/>
      </p:ext>
    </p:extLst>
  </p:cSld>
</p:sld>
</file>

<file path=ppt/slides/slide1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43032D59-64FB-43DB-9560-C56DFF6012A7}"/>
              </a:ext>
            </a:extLst>
          </p:cNvPr>
          <p:cNvCxnSpPr>
            <a:stCxn xmlns:a="http://schemas.openxmlformats.org/drawingml/2006/main" id="5" idx="3"/>
            <a:endCxn xmlns:a="http://schemas.openxmlformats.org/drawingml/2006/main" id="6" idx="1"/>
          </p:cNvCxnSpPr>
          <p:nvPr/>
        </p:nvCxnSpPr>
        <p:spPr>
          <a:xfrm xmlns:a="http://schemas.openxmlformats.org/drawingml/2006/main">
            <a:off x="6143625" y="3800475"/>
            <a:ext cx="18097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0" name="">
            <a:extLst xmlns:a="http://schemas.openxmlformats.org/drawingml/2006/main">
              <a:ext uri="{FF2B5EF4-FFF2-40B4-BE49-F238E27FC236}">
                <a16:creationId xmlns:a16="http://schemas.microsoft.com/office/drawing/2014/main" id="{2B89EAA1-901A-479A-A892-FF4F19B0A098}"/>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5. Final MEDPAR</a:t>
            </a:r>
          </a:p>
        </p:txBody>
      </p:sp>
      <p:sp>
        <p:nvSpPr>
          <p:cNvPr id="2" name="">
            <a:extLst xmlns:a="http://schemas.openxmlformats.org/drawingml/2006/main">
              <a:ext uri="{FF2B5EF4-FFF2-40B4-BE49-F238E27FC236}">
                <a16:creationId xmlns:a16="http://schemas.microsoft.com/office/drawing/2014/main" id="{84680204-C3B5-4E86-AD43-221002F927F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A5BB2D11-389E-4FD0-B5C2-85123F368901}"/>
              </a:ext>
            </a:extLst>
          </p:cNvPr>
          <p:cNvSpPr>
            <a:spLocks xmlns:a="http://schemas.openxmlformats.org/drawingml/2006/main" noGrp="1"/>
          </p:cNvSpPr>
          <p:nvPr/>
        </p:nvSpPr>
        <p:spPr>
          <a:xfrm xmlns:a="http://schemas.openxmlformats.org/drawingml/2006/main">
            <a:off x="619125" y="1724025"/>
            <a:ext cx="1809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0" b="1">
                <a:solidFill>
                  <a:srgbClr val="172B43"/>
                </a:solidFill>
                <a:latin typeface="Arial"/>
                <a:ea typeface="Arial"/>
                <a:cs typeface="Arial"/>
              </a:defRPr>
            </a:defPPr>
          </a:lstStyle>
          <a:p xmlns:a="http://schemas.openxmlformats.org/drawingml/2006/main">
            <a:pPr algn="l">
              <a:defRPr sz="10500" b="1">
                <a:solidFill>
                  <a:srgbClr val="172B43"/>
                </a:solidFill>
                <a:latin typeface="Arial"/>
                <a:ea typeface="Arial"/>
                <a:cs typeface="Arial"/>
              </a:defRPr>
            </a:pPr>
            <a:r>
              <a:rPr sz="10500" b="1">
                <a:solidFill>
                  <a:srgbClr val="172B43"/>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E9E0812-BDC2-4CB9-BD32-B4833B787C3C}"/>
              </a:ext>
            </a:extLst>
          </p:cNvPr>
          <p:cNvSpPr>
            <a:spLocks xmlns:a="http://schemas.openxmlformats.org/drawingml/2006/main" noGrp="1"/>
          </p:cNvSpPr>
          <p:nvPr/>
        </p:nvSpPr>
        <p:spPr>
          <a:xfrm xmlns:a="http://schemas.openxmlformats.org/drawingml/2006/main">
            <a:off x="2762250" y="18192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72B43"/>
                </a:solidFill>
                <a:latin typeface="Arial"/>
                <a:ea typeface="Arial"/>
                <a:cs typeface="Arial"/>
              </a:defRPr>
            </a:defPPr>
          </a:lstStyle>
          <a:p xmlns:a="http://schemas.openxmlformats.org/drawingml/2006/main">
            <a:pPr algn="l">
              <a:defRPr sz="2625" b="1">
                <a:solidFill>
                  <a:srgbClr val="172B43"/>
                </a:solidFill>
                <a:latin typeface="Arial"/>
                <a:ea typeface="Arial"/>
                <a:cs typeface="Arial"/>
              </a:defRPr>
            </a:pPr>
            <a:r>
              <a:rPr sz="2625" b="1">
                <a:solidFill>
                  <a:srgbClr val="172B43"/>
                </a:solidFill>
                <a:latin typeface="Arial"/>
                <a:ea typeface="Arial"/>
                <a:cs typeface="Arial"/>
              </a:rPr>
              <a:t>Validate the final record and its format.</a:t>
            </a:r>
          </a:p>
        </p:txBody>
      </p:sp>
      <p:sp>
        <p:nvSpPr>
          <p:cNvPr id="5" name="">
            <a:extLst xmlns:a="http://schemas.openxmlformats.org/drawingml/2006/main">
              <a:ext uri="{FF2B5EF4-FFF2-40B4-BE49-F238E27FC236}">
                <a16:creationId xmlns:a16="http://schemas.microsoft.com/office/drawing/2014/main" id="{A094E768-4D9D-4BAC-84ED-16D226104743}"/>
              </a:ext>
            </a:extLst>
          </p:cNvPr>
          <p:cNvSpPr>
            <a:spLocks xmlns:a="http://schemas.openxmlformats.org/drawingml/2006/main" noGrp="1"/>
          </p:cNvSpPr>
          <p:nvPr/>
        </p:nvSpPr>
        <p:spPr>
          <a:xfrm xmlns:a="http://schemas.openxmlformats.org/drawingml/2006/main">
            <a:off x="2762250" y="3286125"/>
            <a:ext cx="3381375" cy="102870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Structured records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or raw source bytes</a:t>
            </a:r>
          </a:p>
        </p:txBody>
      </p:sp>
      <p:sp>
        <p:nvSpPr>
          <p:cNvPr id="6" name="">
            <a:extLst xmlns:a="http://schemas.openxmlformats.org/drawingml/2006/main">
              <a:ext uri="{FF2B5EF4-FFF2-40B4-BE49-F238E27FC236}">
                <a16:creationId xmlns:a16="http://schemas.microsoft.com/office/drawing/2014/main" id="{97E8BEE8-45CC-4860-AD86-A40D5769A96F}"/>
              </a:ext>
            </a:extLst>
          </p:cNvPr>
          <p:cNvSpPr>
            <a:spLocks xmlns:a="http://schemas.openxmlformats.org/drawingml/2006/main" noGrp="1"/>
          </p:cNvSpPr>
          <p:nvPr/>
        </p:nvSpPr>
        <p:spPr>
          <a:xfrm xmlns:a="http://schemas.openxmlformats.org/drawingml/2006/main">
            <a:off x="7953375" y="3286125"/>
            <a:ext cx="3381375" cy="102870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Final MEDPAR</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record</a:t>
            </a:r>
          </a:p>
        </p:txBody>
      </p:sp>
      <p:sp>
        <p:nvSpPr>
          <p:cNvPr id="8" name="">
            <a:extLst xmlns:a="http://schemas.openxmlformats.org/drawingml/2006/main">
              <a:ext uri="{FF2B5EF4-FFF2-40B4-BE49-F238E27FC236}">
                <a16:creationId xmlns:a16="http://schemas.microsoft.com/office/drawing/2014/main" id="{C860978E-D32C-43CA-ABFC-3311567A190A}"/>
              </a:ext>
            </a:extLst>
          </p:cNvPr>
          <p:cNvSpPr>
            <a:spLocks xmlns:a="http://schemas.openxmlformats.org/drawingml/2006/main" noGrp="1"/>
          </p:cNvSpPr>
          <p:nvPr/>
        </p:nvSpPr>
        <p:spPr>
          <a:xfrm xmlns:a="http://schemas.openxmlformats.org/drawingml/2006/main">
            <a:off x="2771775" y="4714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The validator checks</a:t>
            </a:r>
          </a:p>
        </p:txBody>
      </p:sp>
      <p:sp>
        <p:nvSpPr>
          <p:cNvPr id="9" name="">
            <a:extLst xmlns:a="http://schemas.openxmlformats.org/drawingml/2006/main">
              <a:ext uri="{FF2B5EF4-FFF2-40B4-BE49-F238E27FC236}">
                <a16:creationId xmlns:a16="http://schemas.microsoft.com/office/drawing/2014/main" id="{F301A1E8-8B55-40AB-B546-E5ED6D6E1A53}"/>
              </a:ext>
            </a:extLst>
          </p:cNvPr>
          <p:cNvSpPr>
            <a:spLocks xmlns:a="http://schemas.openxmlformats.org/drawingml/2006/main" noGrp="1"/>
          </p:cNvSpPr>
          <p:nvPr/>
        </p:nvSpPr>
        <p:spPr>
          <a:xfrm xmlns:a="http://schemas.openxmlformats.org/drawingml/2006/main">
            <a:off x="2771775" y="5153025"/>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Whether the correct record has the required class, length and content.</a:t>
            </a:r>
          </a:p>
        </p:txBody>
      </p:sp>
    </p:spTree>
    <p:extLst>
      <p:ext uri="{BB962C8B-B14F-4D97-AF65-F5344CB8AC3E}">
        <p14:creationId xmlns:p14="http://schemas.microsoft.com/office/powerpoint/2010/main" val="218997307"/>
      </p:ext>
    </p:extLst>
  </p:cSld>
</p:sld>
</file>

<file path=ppt/slides/slide1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5" name="">
            <a:extLst xmlns:a="http://schemas.openxmlformats.org/drawingml/2006/main">
              <a:ext uri="{FF2B5EF4-FFF2-40B4-BE49-F238E27FC236}">
                <a16:creationId xmlns:a16="http://schemas.microsoft.com/office/drawing/2014/main" id="{881DD6DF-D473-4246-A035-03CF766AB239}"/>
              </a:ext>
            </a:extLst>
          </p:cNvPr>
          <p:cNvCxnSpPr>
            <a:stCxn xmlns:a="http://schemas.openxmlformats.org/drawingml/2006/main" id="3" idx="3"/>
            <a:endCxn xmlns:a="http://schemas.openxmlformats.org/drawingml/2006/main" id="4" idx="1"/>
          </p:cNvCxnSpPr>
          <p:nvPr/>
        </p:nvCxnSpPr>
        <p:spPr>
          <a:xfrm xmlns:a="http://schemas.openxmlformats.org/drawingml/2006/main">
            <a:off x="4467225" y="2828925"/>
            <a:ext cx="306705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9" name="">
            <a:extLst xmlns:a="http://schemas.openxmlformats.org/drawingml/2006/main">
              <a:ext uri="{FF2B5EF4-FFF2-40B4-BE49-F238E27FC236}">
                <a16:creationId xmlns:a16="http://schemas.microsoft.com/office/drawing/2014/main" id="{488A6E8E-65B8-4D75-94B9-39F96ADB31E5}"/>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record: 3,050 bytes become 3,000 bytes</a:t>
            </a:r>
          </a:p>
        </p:txBody>
      </p:sp>
      <p:sp>
        <p:nvSpPr>
          <p:cNvPr id="2" name="">
            <a:extLst xmlns:a="http://schemas.openxmlformats.org/drawingml/2006/main">
              <a:ext uri="{FF2B5EF4-FFF2-40B4-BE49-F238E27FC236}">
                <a16:creationId xmlns:a16="http://schemas.microsoft.com/office/drawing/2014/main" id="{1B56665A-8889-49A5-9CC2-6FC17A6F4AFD}"/>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E8E46335-27FF-4996-9025-0CB9622565D1}"/>
              </a:ext>
            </a:extLst>
          </p:cNvPr>
          <p:cNvSpPr>
            <a:spLocks xmlns:a="http://schemas.openxmlformats.org/drawingml/2006/main" noGrp="1"/>
          </p:cNvSpPr>
          <p:nvPr/>
        </p:nvSpPr>
        <p:spPr>
          <a:xfrm xmlns:a="http://schemas.openxmlformats.org/drawingml/2006/main">
            <a:off x="657225" y="2209800"/>
            <a:ext cx="3810000" cy="123825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Source record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3,050 bytes</a:t>
            </a:r>
          </a:p>
        </p:txBody>
      </p:sp>
      <p:sp>
        <p:nvSpPr>
          <p:cNvPr id="4" name="">
            <a:extLst xmlns:a="http://schemas.openxmlformats.org/drawingml/2006/main">
              <a:ext uri="{FF2B5EF4-FFF2-40B4-BE49-F238E27FC236}">
                <a16:creationId xmlns:a16="http://schemas.microsoft.com/office/drawing/2014/main" id="{28F906D6-8DB3-45EE-90AA-076FCB6C27B7}"/>
              </a:ext>
            </a:extLst>
          </p:cNvPr>
          <p:cNvSpPr>
            <a:spLocks xmlns:a="http://schemas.openxmlformats.org/drawingml/2006/main" noGrp="1"/>
          </p:cNvSpPr>
          <p:nvPr/>
        </p:nvSpPr>
        <p:spPr>
          <a:xfrm xmlns:a="http://schemas.openxmlformats.org/drawingml/2006/main">
            <a:off x="7534275" y="2209800"/>
            <a:ext cx="3905250" cy="123825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Output record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first 3,000 bytes</a:t>
            </a:r>
          </a:p>
        </p:txBody>
      </p:sp>
      <p:sp>
        <p:nvSpPr>
          <p:cNvPr id="6" name="">
            <a:extLst xmlns:a="http://schemas.openxmlformats.org/drawingml/2006/main">
              <a:ext uri="{FF2B5EF4-FFF2-40B4-BE49-F238E27FC236}">
                <a16:creationId xmlns:a16="http://schemas.microsoft.com/office/drawing/2014/main" id="{F040F384-AEA0-4FCD-866F-18C8C40ADE0C}"/>
              </a:ext>
            </a:extLst>
          </p:cNvPr>
          <p:cNvSpPr>
            <a:spLocks xmlns:a="http://schemas.openxmlformats.org/drawingml/2006/main" noGrp="1"/>
          </p:cNvSpPr>
          <p:nvPr/>
        </p:nvSpPr>
        <p:spPr>
          <a:xfrm xmlns:a="http://schemas.openxmlformats.org/drawingml/2006/main">
            <a:off x="666750" y="423862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750" b="1">
                <a:solidFill>
                  <a:srgbClr val="B66A10"/>
                </a:solidFill>
                <a:latin typeface="Arial"/>
                <a:ea typeface="Arial"/>
                <a:cs typeface="Arial"/>
              </a:defRPr>
            </a:defPPr>
          </a:lstStyle>
          <a:p xmlns:a="http://schemas.openxmlformats.org/drawingml/2006/main">
            <a:pPr algn="l">
              <a:defRPr sz="6750" b="1">
                <a:solidFill>
                  <a:srgbClr val="B66A10"/>
                </a:solidFill>
                <a:latin typeface="Arial"/>
                <a:ea typeface="Arial"/>
                <a:cs typeface="Arial"/>
              </a:defRPr>
            </a:pPr>
            <a:r>
              <a:rPr sz="6750" b="1">
                <a:solidFill>
                  <a:srgbClr val="B66A10"/>
                </a:solidFill>
                <a:latin typeface="Arial"/>
                <a:ea typeface="Arial"/>
                <a:cs typeface="Arial"/>
              </a:rPr>
              <a:t>50</a:t>
            </a:r>
          </a:p>
        </p:txBody>
      </p:sp>
      <p:sp>
        <p:nvSpPr>
          <p:cNvPr id="7" name="">
            <a:extLst xmlns:a="http://schemas.openxmlformats.org/drawingml/2006/main">
              <a:ext uri="{FF2B5EF4-FFF2-40B4-BE49-F238E27FC236}">
                <a16:creationId xmlns:a16="http://schemas.microsoft.com/office/drawing/2014/main" id="{4735CA72-C1D6-4903-8D4A-6C67CA480FF9}"/>
              </a:ext>
            </a:extLst>
          </p:cNvPr>
          <p:cNvSpPr>
            <a:spLocks xmlns:a="http://schemas.openxmlformats.org/drawingml/2006/main" noGrp="1"/>
          </p:cNvSpPr>
          <p:nvPr/>
        </p:nvSpPr>
        <p:spPr>
          <a:xfrm xmlns:a="http://schemas.openxmlformats.org/drawingml/2006/main">
            <a:off x="2762250" y="445770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0">
                <a:solidFill>
                  <a:srgbClr val="172B43"/>
                </a:solidFill>
                <a:latin typeface="Arial"/>
                <a:ea typeface="Arial"/>
                <a:cs typeface="Arial"/>
              </a:defRPr>
            </a:defPPr>
          </a:lstStyle>
          <a:p xmlns:a="http://schemas.openxmlformats.org/drawingml/2006/main">
            <a:pPr algn="l">
              <a:defRPr sz="2850" b="0">
                <a:solidFill>
                  <a:srgbClr val="172B43"/>
                </a:solidFill>
                <a:latin typeface="Arial"/>
                <a:ea typeface="Arial"/>
                <a:cs typeface="Arial"/>
              </a:defRPr>
            </a:pPr>
            <a:r>
              <a:rPr sz="2850" b="0">
                <a:solidFill>
                  <a:srgbClr val="172B43"/>
                </a:solidFill>
                <a:latin typeface="Arial"/>
                <a:ea typeface="Arial"/>
                <a:cs typeface="Arial"/>
              </a:rPr>
              <a:t>trailer bytes removed</a:t>
            </a:r>
          </a:p>
        </p:txBody>
      </p:sp>
      <p:sp>
        <p:nvSpPr>
          <p:cNvPr id="8" name="">
            <a:extLst xmlns:a="http://schemas.openxmlformats.org/drawingml/2006/main">
              <a:ext uri="{FF2B5EF4-FFF2-40B4-BE49-F238E27FC236}">
                <a16:creationId xmlns:a16="http://schemas.microsoft.com/office/drawing/2014/main" id="{9E764156-6E02-42E8-BFDE-1451BF0E6FCE}"/>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Required evidence: raw output, approved layout and encoding, and an approved expected record.</a:t>
            </a:r>
          </a:p>
        </p:txBody>
      </p:sp>
    </p:spTree>
    <p:extLst>
      <p:ext uri="{BB962C8B-B14F-4D97-AF65-F5344CB8AC3E}">
        <p14:creationId xmlns:p14="http://schemas.microsoft.com/office/powerpoint/2010/main" val="1768611479"/>
      </p:ext>
    </p:extLst>
  </p:cSld>
</p:sld>
</file>

<file path=ppt/slides/slide1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2FF545E-08C1-4C10-8FA8-9FC852DA9130}"/>
              </a:ext>
            </a:extLst>
          </p:cNvPr>
          <p:cNvCxnSpPr>
            <a:stCxn xmlns:a="http://schemas.openxmlformats.org/drawingml/2006/main" id="8" idx="2"/>
            <a:endCxn xmlns:a="http://schemas.openxmlformats.org/drawingml/2006/main" id="9" idx="0"/>
          </p:cNvCxnSpPr>
          <p:nvPr/>
        </p:nvCxnSpPr>
        <p:spPr>
          <a:xfrm xmlns:a="http://schemas.openxmlformats.org/drawingml/2006/main">
            <a:off x="9429750" y="4276725"/>
            <a:ext cx="0" cy="57150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10" name="">
            <a:extLst xmlns:a="http://schemas.openxmlformats.org/drawingml/2006/main">
              <a:ext uri="{FF2B5EF4-FFF2-40B4-BE49-F238E27FC236}">
                <a16:creationId xmlns:a16="http://schemas.microsoft.com/office/drawing/2014/main" id="{BFE71588-69BE-471C-B5D0-8567241FE0C4}"/>
              </a:ext>
            </a:extLst>
          </p:cNvPr>
          <p:cNvCxnSpPr>
            <a:stCxn xmlns:a="http://schemas.openxmlformats.org/drawingml/2006/main" id="5" idx="3"/>
            <a:endCxn xmlns:a="http://schemas.openxmlformats.org/drawingml/2006/main" id="8" idx="1"/>
          </p:cNvCxnSpPr>
          <p:nvPr/>
        </p:nvCxnSpPr>
        <p:spPr>
          <a:xfrm xmlns:a="http://schemas.openxmlformats.org/drawingml/2006/main" flipV="1">
            <a:off x="5219700" y="3800475"/>
            <a:ext cx="2209800" cy="1524000"/>
          </a:xfrm>
          <a:prstGeom xmlns:a="http://schemas.openxmlformats.org/drawingml/2006/main" prst="bentConnector3">
            <a:avLst>
              <a:gd name="adj1" fmla="val 50000"/>
            </a:avLst>
          </a:prstGeom>
          <a:ln xmlns:a="http://schemas.openxmlformats.org/drawingml/2006/main" w="28575">
            <a:solidFill>
              <a:srgbClr val="71879B"/>
            </a:solidFill>
            <a:tailEnd type="triangle" w="med" len="med"/>
          </a:ln>
        </p:spPr>
      </p:cxnSp>
      <p:cxnSp>
        <p:nvCxnSpPr>
          <p:cNvPr id="7" name="">
            <a:extLst xmlns:a="http://schemas.openxmlformats.org/drawingml/2006/main">
              <a:ext uri="{FF2B5EF4-FFF2-40B4-BE49-F238E27FC236}">
                <a16:creationId xmlns:a16="http://schemas.microsoft.com/office/drawing/2014/main" id="{DB681DFC-BE1D-43C0-9B32-76DC9DE253F1}"/>
              </a:ext>
            </a:extLst>
          </p:cNvPr>
          <p:cNvCxnSpPr>
            <a:stCxn xmlns:a="http://schemas.openxmlformats.org/drawingml/2006/main" id="4" idx="2"/>
            <a:endCxn xmlns:a="http://schemas.openxmlformats.org/drawingml/2006/main" id="5" idx="0"/>
          </p:cNvCxnSpPr>
          <p:nvPr/>
        </p:nvCxnSpPr>
        <p:spPr>
          <a:xfrm xmlns:a="http://schemas.openxmlformats.org/drawingml/2006/main">
            <a:off x="2933700" y="4276725"/>
            <a:ext cx="0" cy="57150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6" name="">
            <a:extLst xmlns:a="http://schemas.openxmlformats.org/drawingml/2006/main">
              <a:ext uri="{FF2B5EF4-FFF2-40B4-BE49-F238E27FC236}">
                <a16:creationId xmlns:a16="http://schemas.microsoft.com/office/drawing/2014/main" id="{137D86EA-54C0-4E43-AAED-FED706252BE4}"/>
              </a:ext>
            </a:extLst>
          </p:cNvPr>
          <p:cNvCxnSpPr>
            <a:stCxn xmlns:a="http://schemas.openxmlformats.org/drawingml/2006/main" id="3" idx="2"/>
            <a:endCxn xmlns:a="http://schemas.openxmlformats.org/drawingml/2006/main" id="4" idx="0"/>
          </p:cNvCxnSpPr>
          <p:nvPr/>
        </p:nvCxnSpPr>
        <p:spPr>
          <a:xfrm xmlns:a="http://schemas.openxmlformats.org/drawingml/2006/main">
            <a:off x="2933700" y="2771775"/>
            <a:ext cx="0" cy="55245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2" name="">
            <a:extLst xmlns:a="http://schemas.openxmlformats.org/drawingml/2006/main">
              <a:ext uri="{FF2B5EF4-FFF2-40B4-BE49-F238E27FC236}">
                <a16:creationId xmlns:a16="http://schemas.microsoft.com/office/drawing/2014/main" id="{6F513349-DAC0-47CC-BA3D-E52C3431E6BE}"/>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How the code is organized</a:t>
            </a:r>
          </a:p>
        </p:txBody>
      </p:sp>
      <p:sp>
        <p:nvSpPr>
          <p:cNvPr id="2" name="">
            <a:extLst xmlns:a="http://schemas.openxmlformats.org/drawingml/2006/main">
              <a:ext uri="{FF2B5EF4-FFF2-40B4-BE49-F238E27FC236}">
                <a16:creationId xmlns:a16="http://schemas.microsoft.com/office/drawing/2014/main" id="{8A9DD659-0608-46EB-9B4D-904C31EC19DE}"/>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97327EB5-6EF8-4625-9C0B-39848D359E35}"/>
              </a:ext>
            </a:extLst>
          </p:cNvPr>
          <p:cNvSpPr>
            <a:spLocks xmlns:a="http://schemas.openxmlformats.org/drawingml/2006/main" noGrp="1"/>
          </p:cNvSpPr>
          <p:nvPr/>
        </p:nvSpPr>
        <p:spPr>
          <a:xfrm xmlns:a="http://schemas.openxmlformats.org/drawingml/2006/main">
            <a:off x="647700" y="1914525"/>
            <a:ext cx="4572000" cy="85725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Configuration</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run_commands.py / manifest</a:t>
            </a:r>
          </a:p>
        </p:txBody>
      </p:sp>
      <p:sp>
        <p:nvSpPr>
          <p:cNvPr id="4" name="">
            <a:extLst xmlns:a="http://schemas.openxmlformats.org/drawingml/2006/main">
              <a:ext uri="{FF2B5EF4-FFF2-40B4-BE49-F238E27FC236}">
                <a16:creationId xmlns:a16="http://schemas.microsoft.com/office/drawing/2014/main" id="{0574FE49-9B6D-4BAF-B021-AAD51CA341F3}"/>
              </a:ext>
            </a:extLst>
          </p:cNvPr>
          <p:cNvSpPr>
            <a:spLocks xmlns:a="http://schemas.openxmlformats.org/drawingml/2006/main" noGrp="1"/>
          </p:cNvSpPr>
          <p:nvPr/>
        </p:nvSpPr>
        <p:spPr>
          <a:xfrm xmlns:a="http://schemas.openxmlformats.org/drawingml/2006/main">
            <a:off x="647700" y="3324225"/>
            <a:ext cx="4572000" cy="95250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Read and normalize files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ingestion/ and normalization/</a:t>
            </a:r>
          </a:p>
        </p:txBody>
      </p:sp>
      <p:sp>
        <p:nvSpPr>
          <p:cNvPr id="5" name="">
            <a:extLst xmlns:a="http://schemas.openxmlformats.org/drawingml/2006/main">
              <a:ext uri="{FF2B5EF4-FFF2-40B4-BE49-F238E27FC236}">
                <a16:creationId xmlns:a16="http://schemas.microsoft.com/office/drawing/2014/main" id="{38863595-56B3-4B07-848D-90BB32DE3B91}"/>
              </a:ext>
            </a:extLst>
          </p:cNvPr>
          <p:cNvSpPr>
            <a:spLocks xmlns:a="http://schemas.openxmlformats.org/drawingml/2006/main" noGrp="1"/>
          </p:cNvSpPr>
          <p:nvPr/>
        </p:nvSpPr>
        <p:spPr>
          <a:xfrm xmlns:a="http://schemas.openxmlformats.org/drawingml/2006/main">
            <a:off x="647700" y="4848225"/>
            <a:ext cx="4572000" cy="95250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Run the stage rules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orchestration/ and stages/</a:t>
            </a:r>
          </a:p>
        </p:txBody>
      </p:sp>
      <p:sp>
        <p:nvSpPr>
          <p:cNvPr id="8" name="">
            <a:extLst xmlns:a="http://schemas.openxmlformats.org/drawingml/2006/main">
              <a:ext uri="{FF2B5EF4-FFF2-40B4-BE49-F238E27FC236}">
                <a16:creationId xmlns:a16="http://schemas.microsoft.com/office/drawing/2014/main" id="{5C5DF091-7F57-41ED-B757-8A5DBA4110B4}"/>
              </a:ext>
            </a:extLst>
          </p:cNvPr>
          <p:cNvSpPr>
            <a:spLocks xmlns:a="http://schemas.openxmlformats.org/drawingml/2006/main" noGrp="1"/>
          </p:cNvSpPr>
          <p:nvPr/>
        </p:nvSpPr>
        <p:spPr>
          <a:xfrm xmlns:a="http://schemas.openxmlformats.org/drawingml/2006/main">
            <a:off x="7429500" y="3324225"/>
            <a:ext cx="4000500" cy="952500"/>
          </a:xfrm>
          <a:prstGeom xmlns:a="http://schemas.openxmlformats.org/drawingml/2006/main" prst="rect">
            <a:avLst/>
          </a:prstGeom>
          <a:solidFill xmlns:a="http://schemas.openxmlformats.org/drawingml/2006/main">
            <a:srgbClr val="B66A10"/>
          </a:solidFill>
          <a:ln xmlns:a="http://schemas.openxmlformats.org/drawingml/2006/main" w="0">
            <a:solidFill>
              <a:srgbClr val="B66A10"/>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RuleResult</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Expected, observed, reason</a:t>
            </a:r>
          </a:p>
        </p:txBody>
      </p:sp>
      <p:sp>
        <p:nvSpPr>
          <p:cNvPr id="9" name="">
            <a:extLst xmlns:a="http://schemas.openxmlformats.org/drawingml/2006/main">
              <a:ext uri="{FF2B5EF4-FFF2-40B4-BE49-F238E27FC236}">
                <a16:creationId xmlns:a16="http://schemas.microsoft.com/office/drawing/2014/main" id="{CB3B09AA-AEE8-4805-8DD6-1885B60FF638}"/>
              </a:ext>
            </a:extLst>
          </p:cNvPr>
          <p:cNvSpPr>
            <a:spLocks xmlns:a="http://schemas.openxmlformats.org/drawingml/2006/main" noGrp="1"/>
          </p:cNvSpPr>
          <p:nvPr/>
        </p:nvSpPr>
        <p:spPr>
          <a:xfrm xmlns:a="http://schemas.openxmlformats.org/drawingml/2006/main">
            <a:off x="7429500" y="4848225"/>
            <a:ext cx="4000500" cy="95250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StageResult and reports</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models.py and reporting/</a:t>
            </a:r>
          </a:p>
        </p:txBody>
      </p:sp>
    </p:spTree>
    <p:extLst>
      <p:ext uri="{BB962C8B-B14F-4D97-AF65-F5344CB8AC3E}">
        <p14:creationId xmlns:p14="http://schemas.microsoft.com/office/powerpoint/2010/main" val="184954078"/>
      </p:ext>
    </p:extLst>
  </p:cSld>
</p:sld>
</file>

<file path=ppt/slides/slide2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5DF390-52CE-4151-82D2-9EDBB2BB552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Where to find the code</a:t>
            </a:r>
          </a:p>
        </p:txBody>
      </p:sp>
      <p:sp>
        <p:nvSpPr>
          <p:cNvPr id="2" name="">
            <a:extLst xmlns:a="http://schemas.openxmlformats.org/drawingml/2006/main">
              <a:ext uri="{FF2B5EF4-FFF2-40B4-BE49-F238E27FC236}">
                <a16:creationId xmlns:a16="http://schemas.microsoft.com/office/drawing/2014/main" id="{7975A469-D8D8-4993-81B0-26A29ADE44E4}"/>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37DA63B8-DF47-4989-A6E0-CA0517EBE536}"/>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config/</a:t>
            </a:r>
          </a:p>
        </p:txBody>
      </p:sp>
      <p:sp>
        <p:nvSpPr>
          <p:cNvPr id="4" name="">
            <a:extLst xmlns:a="http://schemas.openxmlformats.org/drawingml/2006/main">
              <a:ext uri="{FF2B5EF4-FFF2-40B4-BE49-F238E27FC236}">
                <a16:creationId xmlns:a16="http://schemas.microsoft.com/office/drawing/2014/main" id="{3C481E2F-CF40-448D-977D-A28DBB8D1EA9}"/>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Run dates, file paths, aliases and rule settings.</a:t>
            </a:r>
          </a:p>
        </p:txBody>
      </p:sp>
      <p:sp>
        <p:nvSpPr>
          <p:cNvPr id="5" name="">
            <a:extLst xmlns:a="http://schemas.openxmlformats.org/drawingml/2006/main">
              <a:ext uri="{FF2B5EF4-FFF2-40B4-BE49-F238E27FC236}">
                <a16:creationId xmlns:a16="http://schemas.microsoft.com/office/drawing/2014/main" id="{63230DCD-9C60-4B38-9781-BB477C3252DF}"/>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src/medpar_qa/stages/</a:t>
            </a:r>
          </a:p>
        </p:txBody>
      </p:sp>
      <p:sp>
        <p:nvSpPr>
          <p:cNvPr id="6" name="">
            <a:extLst xmlns:a="http://schemas.openxmlformats.org/drawingml/2006/main">
              <a:ext uri="{FF2B5EF4-FFF2-40B4-BE49-F238E27FC236}">
                <a16:creationId xmlns:a16="http://schemas.microsoft.com/office/drawing/2014/main" id="{C52479C2-287D-44EE-B21E-3C1150BD7BD9}"/>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business checks for the five stages.</a:t>
            </a:r>
          </a:p>
        </p:txBody>
      </p:sp>
      <p:sp>
        <p:nvSpPr>
          <p:cNvPr id="7" name="">
            <a:extLst xmlns:a="http://schemas.openxmlformats.org/drawingml/2006/main">
              <a:ext uri="{FF2B5EF4-FFF2-40B4-BE49-F238E27FC236}">
                <a16:creationId xmlns:a16="http://schemas.microsoft.com/office/drawing/2014/main" id="{07153BA7-6D20-4075-909A-C2990A58F0EF}"/>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tests/ and README.md</a:t>
            </a:r>
          </a:p>
        </p:txBody>
      </p:sp>
      <p:sp>
        <p:nvSpPr>
          <p:cNvPr id="8" name="">
            <a:extLst xmlns:a="http://schemas.openxmlformats.org/drawingml/2006/main">
              <a:ext uri="{FF2B5EF4-FFF2-40B4-BE49-F238E27FC236}">
                <a16:creationId xmlns:a16="http://schemas.microsoft.com/office/drawing/2014/main" id="{7DA502CF-CAA9-47A1-9297-5BB7F14BE620}"/>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Worked test cases and the complete function-by-function code guide.</a:t>
            </a:r>
          </a:p>
        </p:txBody>
      </p:sp>
    </p:spTree>
    <p:extLst>
      <p:ext uri="{BB962C8B-B14F-4D97-AF65-F5344CB8AC3E}">
        <p14:creationId xmlns:p14="http://schemas.microsoft.com/office/powerpoint/2010/main" val="163860951"/>
      </p:ext>
    </p:extLst>
  </p:cSld>
</p:sld>
</file>

<file path=ppt/slides/slide2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5478C55-168C-4EA9-A7CF-9ABF6A9F6A1D}"/>
              </a:ext>
            </a:extLst>
          </p:cNvPr>
          <p:cNvCxnSpPr>
            <a:stCxn xmlns:a="http://schemas.openxmlformats.org/drawingml/2006/main" id="6" idx="3"/>
            <a:endCxn xmlns:a="http://schemas.openxmlformats.org/drawingml/2006/main" id="8" idx="1"/>
          </p:cNvCxnSpPr>
          <p:nvPr/>
        </p:nvCxnSpPr>
        <p:spPr>
          <a:xfrm xmlns:a="http://schemas.openxmlformats.org/drawingml/2006/main">
            <a:off x="8705850" y="2833688"/>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7" name="">
            <a:extLst xmlns:a="http://schemas.openxmlformats.org/drawingml/2006/main">
              <a:ext uri="{FF2B5EF4-FFF2-40B4-BE49-F238E27FC236}">
                <a16:creationId xmlns:a16="http://schemas.microsoft.com/office/drawing/2014/main" id="{62BB637F-FCCB-4BC5-9B79-CF8282C7B9E4}"/>
              </a:ext>
            </a:extLst>
          </p:cNvPr>
          <p:cNvCxnSpPr>
            <a:stCxn xmlns:a="http://schemas.openxmlformats.org/drawingml/2006/main" id="4" idx="3"/>
            <a:endCxn xmlns:a="http://schemas.openxmlformats.org/drawingml/2006/main" id="6" idx="1"/>
          </p:cNvCxnSpPr>
          <p:nvPr/>
        </p:nvCxnSpPr>
        <p:spPr>
          <a:xfrm xmlns:a="http://schemas.openxmlformats.org/drawingml/2006/main">
            <a:off x="5905500" y="2833688"/>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5" name="">
            <a:extLst xmlns:a="http://schemas.openxmlformats.org/drawingml/2006/main">
              <a:ext uri="{FF2B5EF4-FFF2-40B4-BE49-F238E27FC236}">
                <a16:creationId xmlns:a16="http://schemas.microsoft.com/office/drawing/2014/main" id="{B5590B21-1C1F-42D9-A717-C0D3AC6FC263}"/>
              </a:ext>
            </a:extLst>
          </p:cNvPr>
          <p:cNvCxnSpPr>
            <a:stCxn xmlns:a="http://schemas.openxmlformats.org/drawingml/2006/main" id="3" idx="3"/>
            <a:endCxn xmlns:a="http://schemas.openxmlformats.org/drawingml/2006/main" id="4" idx="1"/>
          </p:cNvCxnSpPr>
          <p:nvPr/>
        </p:nvCxnSpPr>
        <p:spPr>
          <a:xfrm xmlns:a="http://schemas.openxmlformats.org/drawingml/2006/main">
            <a:off x="3105150" y="2833688"/>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5" name="">
            <a:extLst xmlns:a="http://schemas.openxmlformats.org/drawingml/2006/main">
              <a:ext uri="{FF2B5EF4-FFF2-40B4-BE49-F238E27FC236}">
                <a16:creationId xmlns:a16="http://schemas.microsoft.com/office/drawing/2014/main" id="{B4388C99-16EE-4EAB-B1E7-1A4E580CF7E6}"/>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One check through the Python code</a:t>
            </a:r>
          </a:p>
        </p:txBody>
      </p:sp>
      <p:sp>
        <p:nvSpPr>
          <p:cNvPr id="2" name="">
            <a:extLst xmlns:a="http://schemas.openxmlformats.org/drawingml/2006/main">
              <a:ext uri="{FF2B5EF4-FFF2-40B4-BE49-F238E27FC236}">
                <a16:creationId xmlns:a16="http://schemas.microsoft.com/office/drawing/2014/main" id="{7D5B6F41-6944-4F9D-9B7A-AA99A5BE389C}"/>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F1B1B129-71D8-455A-B316-367B1B98284A}"/>
              </a:ext>
            </a:extLst>
          </p:cNvPr>
          <p:cNvSpPr>
            <a:spLocks xmlns:a="http://schemas.openxmlformats.org/drawingml/2006/main" noGrp="1"/>
          </p:cNvSpPr>
          <p:nvPr/>
        </p:nvSpPr>
        <p:spPr>
          <a:xfrm xmlns:a="http://schemas.openxmlformats.org/drawingml/2006/main">
            <a:off x="647700" y="2352675"/>
            <a:ext cx="2457450" cy="962025"/>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Pipeline.run()</a:t>
            </a:r>
          </a:p>
        </p:txBody>
      </p:sp>
      <p:sp>
        <p:nvSpPr>
          <p:cNvPr id="4" name="">
            <a:extLst xmlns:a="http://schemas.openxmlformats.org/drawingml/2006/main">
              <a:ext uri="{FF2B5EF4-FFF2-40B4-BE49-F238E27FC236}">
                <a16:creationId xmlns:a16="http://schemas.microsoft.com/office/drawing/2014/main" id="{25EFAC8E-FF6F-45CA-BD22-457D95E29DF4}"/>
              </a:ext>
            </a:extLst>
          </p:cNvPr>
          <p:cNvSpPr>
            <a:spLocks xmlns:a="http://schemas.openxmlformats.org/drawingml/2006/main" noGrp="1"/>
          </p:cNvSpPr>
          <p:nvPr/>
        </p:nvSpPr>
        <p:spPr>
          <a:xfrm xmlns:a="http://schemas.openxmlformats.org/drawingml/2006/main">
            <a:off x="3448050" y="2352675"/>
            <a:ext cx="2457450" cy="962025"/>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Stage processor</a:t>
            </a:r>
          </a:p>
        </p:txBody>
      </p:sp>
      <p:sp>
        <p:nvSpPr>
          <p:cNvPr id="6" name="">
            <a:extLst xmlns:a="http://schemas.openxmlformats.org/drawingml/2006/main">
              <a:ext uri="{FF2B5EF4-FFF2-40B4-BE49-F238E27FC236}">
                <a16:creationId xmlns:a16="http://schemas.microsoft.com/office/drawing/2014/main" id="{B77B63EF-FE4F-4DC1-BEB0-BA83E4F1A217}"/>
              </a:ext>
            </a:extLst>
          </p:cNvPr>
          <p:cNvSpPr>
            <a:spLocks xmlns:a="http://schemas.openxmlformats.org/drawingml/2006/main" noGrp="1"/>
          </p:cNvSpPr>
          <p:nvPr/>
        </p:nvSpPr>
        <p:spPr>
          <a:xfrm xmlns:a="http://schemas.openxmlformats.org/drawingml/2006/main">
            <a:off x="6248400" y="2352675"/>
            <a:ext cx="2457450" cy="962025"/>
          </a:xfrm>
          <a:prstGeom xmlns:a="http://schemas.openxmlformats.org/drawingml/2006/main" prst="rect">
            <a:avLst/>
          </a:prstGeom>
          <a:solidFill xmlns:a="http://schemas.openxmlformats.org/drawingml/2006/main">
            <a:srgbClr val="B66A10"/>
          </a:solidFill>
          <a:ln xmlns:a="http://schemas.openxmlformats.org/drawingml/2006/main" w="0">
            <a:solidFill>
              <a:srgbClr val="B66A10"/>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RuleResult</a:t>
            </a:r>
          </a:p>
        </p:txBody>
      </p:sp>
      <p:sp>
        <p:nvSpPr>
          <p:cNvPr id="8" name="">
            <a:extLst xmlns:a="http://schemas.openxmlformats.org/drawingml/2006/main">
              <a:ext uri="{FF2B5EF4-FFF2-40B4-BE49-F238E27FC236}">
                <a16:creationId xmlns:a16="http://schemas.microsoft.com/office/drawing/2014/main" id="{E993DDDE-3AA5-46F2-A8B5-5F7D89A2151C}"/>
              </a:ext>
            </a:extLst>
          </p:cNvPr>
          <p:cNvSpPr>
            <a:spLocks xmlns:a="http://schemas.openxmlformats.org/drawingml/2006/main" noGrp="1"/>
          </p:cNvSpPr>
          <p:nvPr/>
        </p:nvSpPr>
        <p:spPr>
          <a:xfrm xmlns:a="http://schemas.openxmlformats.org/drawingml/2006/main">
            <a:off x="9048750" y="2352675"/>
            <a:ext cx="2457450" cy="962025"/>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HTML / JSON report</a:t>
            </a:r>
          </a:p>
        </p:txBody>
      </p:sp>
      <p:sp>
        <p:nvSpPr>
          <p:cNvPr id="10" name="">
            <a:extLst xmlns:a="http://schemas.openxmlformats.org/drawingml/2006/main">
              <a:ext uri="{FF2B5EF4-FFF2-40B4-BE49-F238E27FC236}">
                <a16:creationId xmlns:a16="http://schemas.microsoft.com/office/drawing/2014/main" id="{5CA8DF61-923F-4C90-87F7-A9B62D18C59D}"/>
              </a:ext>
            </a:extLst>
          </p:cNvPr>
          <p:cNvSpPr>
            <a:spLocks xmlns:a="http://schemas.openxmlformats.org/drawingml/2006/main" noGrp="1"/>
          </p:cNvSpPr>
          <p:nvPr/>
        </p:nvSpPr>
        <p:spPr>
          <a:xfrm xmlns:a="http://schemas.openxmlformats.org/drawingml/2006/main">
            <a:off x="647700" y="3714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Load records and</a:t>
            </a:r>
          </a:p>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choose the stage</a:t>
            </a:r>
          </a:p>
        </p:txBody>
      </p:sp>
      <p:sp>
        <p:nvSpPr>
          <p:cNvPr id="11" name="">
            <a:extLst xmlns:a="http://schemas.openxmlformats.org/drawingml/2006/main">
              <a:ext uri="{FF2B5EF4-FFF2-40B4-BE49-F238E27FC236}">
                <a16:creationId xmlns:a16="http://schemas.microsoft.com/office/drawing/2014/main" id="{1F624BCE-79F5-46C9-A1D0-D923F22A1950}"/>
              </a:ext>
            </a:extLst>
          </p:cNvPr>
          <p:cNvSpPr>
            <a:spLocks xmlns:a="http://schemas.openxmlformats.org/drawingml/2006/main" noGrp="1"/>
          </p:cNvSpPr>
          <p:nvPr/>
        </p:nvSpPr>
        <p:spPr>
          <a:xfrm xmlns:a="http://schemas.openxmlformats.org/drawingml/2006/main">
            <a:off x="3448050" y="3714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Calculate the</a:t>
            </a:r>
          </a:p>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expected value</a:t>
            </a:r>
          </a:p>
        </p:txBody>
      </p:sp>
      <p:sp>
        <p:nvSpPr>
          <p:cNvPr id="12" name="">
            <a:extLst xmlns:a="http://schemas.openxmlformats.org/drawingml/2006/main">
              <a:ext uri="{FF2B5EF4-FFF2-40B4-BE49-F238E27FC236}">
                <a16:creationId xmlns:a16="http://schemas.microsoft.com/office/drawing/2014/main" id="{41E57001-3C85-4404-A115-49F189FB4FD2}"/>
              </a:ext>
            </a:extLst>
          </p:cNvPr>
          <p:cNvSpPr>
            <a:spLocks xmlns:a="http://schemas.openxmlformats.org/drawingml/2006/main" noGrp="1"/>
          </p:cNvSpPr>
          <p:nvPr/>
        </p:nvSpPr>
        <p:spPr>
          <a:xfrm xmlns:a="http://schemas.openxmlformats.org/drawingml/2006/main">
            <a:off x="6248400" y="3714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Store the status</a:t>
            </a:r>
          </a:p>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and evidence</a:t>
            </a:r>
          </a:p>
        </p:txBody>
      </p:sp>
      <p:sp>
        <p:nvSpPr>
          <p:cNvPr id="13" name="">
            <a:extLst xmlns:a="http://schemas.openxmlformats.org/drawingml/2006/main">
              <a:ext uri="{FF2B5EF4-FFF2-40B4-BE49-F238E27FC236}">
                <a16:creationId xmlns:a16="http://schemas.microsoft.com/office/drawing/2014/main" id="{0B63E95A-4DC7-4352-9900-8D36A0B3B93F}"/>
              </a:ext>
            </a:extLst>
          </p:cNvPr>
          <p:cNvSpPr>
            <a:spLocks xmlns:a="http://schemas.openxmlformats.org/drawingml/2006/main" noGrp="1"/>
          </p:cNvSpPr>
          <p:nvPr/>
        </p:nvSpPr>
        <p:spPr>
          <a:xfrm xmlns:a="http://schemas.openxmlformats.org/drawingml/2006/main">
            <a:off x="9048750" y="3714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Show the result</a:t>
            </a:r>
          </a:p>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and explanation</a:t>
            </a:r>
          </a:p>
        </p:txBody>
      </p:sp>
      <p:sp>
        <p:nvSpPr>
          <p:cNvPr id="14" name="">
            <a:extLst xmlns:a="http://schemas.openxmlformats.org/drawingml/2006/main">
              <a:ext uri="{FF2B5EF4-FFF2-40B4-BE49-F238E27FC236}">
                <a16:creationId xmlns:a16="http://schemas.microsoft.com/office/drawing/2014/main" id="{2CDBA054-6294-4816-B64B-4B76C1B9645E}"/>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A failed check remains visible. The reporter explains the result produced by the validator.</a:t>
            </a:r>
          </a:p>
        </p:txBody>
      </p:sp>
    </p:spTree>
    <p:extLst>
      <p:ext uri="{BB962C8B-B14F-4D97-AF65-F5344CB8AC3E}">
        <p14:creationId xmlns:p14="http://schemas.microsoft.com/office/powerpoint/2010/main" val="160193558"/>
      </p:ext>
    </p:extLst>
  </p:cSld>
</p:sld>
</file>

<file path=ppt/slides/slide2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5" name="">
            <a:extLst xmlns:a="http://schemas.openxmlformats.org/drawingml/2006/main">
              <a:ext uri="{FF2B5EF4-FFF2-40B4-BE49-F238E27FC236}">
                <a16:creationId xmlns:a16="http://schemas.microsoft.com/office/drawing/2014/main" id="{FD12E3EA-8474-4559-8840-44FA3DF7449A}"/>
              </a:ext>
            </a:extLst>
          </p:cNvPr>
          <p:cNvCxnSpPr>
            <a:stCxn xmlns:a="http://schemas.openxmlformats.org/drawingml/2006/main" id="3" idx="3"/>
            <a:endCxn xmlns:a="http://schemas.openxmlformats.org/drawingml/2006/main" id="4" idx="1"/>
          </p:cNvCxnSpPr>
          <p:nvPr/>
        </p:nvCxnSpPr>
        <p:spPr>
          <a:xfrm xmlns:a="http://schemas.openxmlformats.org/drawingml/2006/main">
            <a:off x="4838700" y="2947988"/>
            <a:ext cx="2333625"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9" name="">
            <a:extLst xmlns:a="http://schemas.openxmlformats.org/drawingml/2006/main">
              <a:ext uri="{FF2B5EF4-FFF2-40B4-BE49-F238E27FC236}">
                <a16:creationId xmlns:a16="http://schemas.microsoft.com/office/drawing/2014/main" id="{42DDF614-ACF5-429A-8F0B-690FB67CDC46}"/>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Matching source and output records</a:t>
            </a:r>
          </a:p>
        </p:txBody>
      </p:sp>
      <p:sp>
        <p:nvSpPr>
          <p:cNvPr id="2" name="">
            <a:extLst xmlns:a="http://schemas.openxmlformats.org/drawingml/2006/main">
              <a:ext uri="{FF2B5EF4-FFF2-40B4-BE49-F238E27FC236}">
                <a16:creationId xmlns:a16="http://schemas.microsoft.com/office/drawing/2014/main" id="{B9BEB36E-7B38-4813-872B-DF503084E938}"/>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1144F143-B8C4-4729-87AE-ADA63D33A351}"/>
              </a:ext>
            </a:extLst>
          </p:cNvPr>
          <p:cNvSpPr>
            <a:spLocks xmlns:a="http://schemas.openxmlformats.org/drawingml/2006/main" noGrp="1"/>
          </p:cNvSpPr>
          <p:nvPr/>
        </p:nvSpPr>
        <p:spPr>
          <a:xfrm xmlns:a="http://schemas.openxmlformats.org/drawingml/2006/main">
            <a:off x="647700" y="2228850"/>
            <a:ext cx="4191000" cy="1438275"/>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Source stay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Person A / Provider P</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Admission 10 January</a:t>
            </a:r>
          </a:p>
        </p:txBody>
      </p:sp>
      <p:sp>
        <p:nvSpPr>
          <p:cNvPr id="4" name="">
            <a:extLst xmlns:a="http://schemas.openxmlformats.org/drawingml/2006/main">
              <a:ext uri="{FF2B5EF4-FFF2-40B4-BE49-F238E27FC236}">
                <a16:creationId xmlns:a16="http://schemas.microsoft.com/office/drawing/2014/main" id="{6E65E2C5-A068-4473-8DFB-04F85CEDBE14}"/>
              </a:ext>
            </a:extLst>
          </p:cNvPr>
          <p:cNvSpPr>
            <a:spLocks xmlns:a="http://schemas.openxmlformats.org/drawingml/2006/main" noGrp="1"/>
          </p:cNvSpPr>
          <p:nvPr/>
        </p:nvSpPr>
        <p:spPr>
          <a:xfrm xmlns:a="http://schemas.openxmlformats.org/drawingml/2006/main">
            <a:off x="7172325" y="2228850"/>
            <a:ext cx="4191000" cy="1438275"/>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Actual stay</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Person A / Provider P</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Admission 10 January</a:t>
            </a:r>
          </a:p>
        </p:txBody>
      </p:sp>
      <p:sp>
        <p:nvSpPr>
          <p:cNvPr id="6" name="">
            <a:extLst xmlns:a="http://schemas.openxmlformats.org/drawingml/2006/main">
              <a:ext uri="{FF2B5EF4-FFF2-40B4-BE49-F238E27FC236}">
                <a16:creationId xmlns:a16="http://schemas.microsoft.com/office/drawing/2014/main" id="{718346F1-F42D-463A-BA9F-5FE6F3761BB7}"/>
              </a:ext>
            </a:extLst>
          </p:cNvPr>
          <p:cNvSpPr>
            <a:spLocks xmlns:a="http://schemas.openxmlformats.org/drawingml/2006/main" noGrp="1"/>
          </p:cNvSpPr>
          <p:nvPr/>
        </p:nvSpPr>
        <p:spPr>
          <a:xfrm xmlns:a="http://schemas.openxmlformats.org/drawingml/2006/main">
            <a:off x="676275" y="42386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75" b="1">
                <a:solidFill>
                  <a:srgbClr val="087D66"/>
                </a:solidFill>
                <a:latin typeface="Arial"/>
                <a:ea typeface="Arial"/>
                <a:cs typeface="Arial"/>
              </a:defRPr>
            </a:defPPr>
          </a:lstStyle>
          <a:p xmlns:a="http://schemas.openxmlformats.org/drawingml/2006/main">
            <a:pPr algn="l">
              <a:defRPr sz="2775" b="1">
                <a:solidFill>
                  <a:srgbClr val="087D66"/>
                </a:solidFill>
                <a:latin typeface="Arial"/>
                <a:ea typeface="Arial"/>
                <a:cs typeface="Arial"/>
              </a:defRPr>
            </a:pPr>
            <a:r>
              <a:rPr sz="2775" b="1">
                <a:solidFill>
                  <a:srgbClr val="087D66"/>
                </a:solidFill>
                <a:latin typeface="Arial"/>
                <a:ea typeface="Arial"/>
                <a:cs typeface="Arial"/>
              </a:rPr>
              <a:t>Matching identity</a:t>
            </a:r>
          </a:p>
        </p:txBody>
      </p:sp>
      <p:sp>
        <p:nvSpPr>
          <p:cNvPr id="7" name="">
            <a:extLst xmlns:a="http://schemas.openxmlformats.org/drawingml/2006/main">
              <a:ext uri="{FF2B5EF4-FFF2-40B4-BE49-F238E27FC236}">
                <a16:creationId xmlns:a16="http://schemas.microsoft.com/office/drawing/2014/main" id="{DFD80271-A318-4108-970E-E7B2FCFEA925}"/>
              </a:ext>
            </a:extLst>
          </p:cNvPr>
          <p:cNvSpPr>
            <a:spLocks xmlns:a="http://schemas.openxmlformats.org/drawingml/2006/main" noGrp="1"/>
          </p:cNvSpPr>
          <p:nvPr/>
        </p:nvSpPr>
        <p:spPr>
          <a:xfrm xmlns:a="http://schemas.openxmlformats.org/drawingml/2006/main">
            <a:off x="676275" y="49244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72B43"/>
                </a:solidFill>
                <a:latin typeface="Arial"/>
                <a:ea typeface="Arial"/>
                <a:cs typeface="Arial"/>
              </a:defRPr>
            </a:defPPr>
          </a:lstStyle>
          <a:p xmlns:a="http://schemas.openxmlformats.org/drawingml/2006/main">
            <a:pPr algn="l">
              <a:defRPr sz="2250" b="0">
                <a:solidFill>
                  <a:srgbClr val="172B43"/>
                </a:solidFill>
                <a:latin typeface="Arial"/>
                <a:ea typeface="Arial"/>
                <a:cs typeface="Arial"/>
              </a:defRPr>
            </a:pPr>
            <a:r>
              <a:rPr sz="2250" b="0">
                <a:solidFill>
                  <a:srgbClr val="172B43"/>
                </a:solidFill>
                <a:latin typeface="Arial"/>
                <a:ea typeface="Arial"/>
                <a:cs typeface="Arial"/>
              </a:rPr>
              <a:t>The validator compares the fields only after it finds the correct partner record.</a:t>
            </a:r>
          </a:p>
        </p:txBody>
      </p:sp>
      <p:sp>
        <p:nvSpPr>
          <p:cNvPr id="8" name="">
            <a:extLst xmlns:a="http://schemas.openxmlformats.org/drawingml/2006/main">
              <a:ext uri="{FF2B5EF4-FFF2-40B4-BE49-F238E27FC236}">
                <a16:creationId xmlns:a16="http://schemas.microsoft.com/office/drawing/2014/main" id="{7833DCD7-EAF1-42C3-B7BF-1762CBD61DB2}"/>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identifiers. Missing or duplicate partners create explicit findings.</a:t>
            </a:r>
          </a:p>
        </p:txBody>
      </p:sp>
    </p:spTree>
    <p:extLst>
      <p:ext uri="{BB962C8B-B14F-4D97-AF65-F5344CB8AC3E}">
        <p14:creationId xmlns:p14="http://schemas.microsoft.com/office/powerpoint/2010/main" val="729328982"/>
      </p:ext>
    </p:extLst>
  </p:cSld>
</p:sld>
</file>

<file path=ppt/slides/slide2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4B947-DCF6-486E-B0D3-600EA5E6DBF4}"/>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Running the demonstration</a:t>
            </a:r>
          </a:p>
        </p:txBody>
      </p:sp>
      <p:sp>
        <p:nvSpPr>
          <p:cNvPr id="2" name="">
            <a:extLst xmlns:a="http://schemas.openxmlformats.org/drawingml/2006/main">
              <a:ext uri="{FF2B5EF4-FFF2-40B4-BE49-F238E27FC236}">
                <a16:creationId xmlns:a16="http://schemas.microsoft.com/office/drawing/2014/main" id="{2EF83AD4-6734-4B4C-9FE6-4C31417B857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9CE08577-AB67-4D30-A9E8-6A4865E25D5E}"/>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Activate Python</a:t>
            </a:r>
          </a:p>
        </p:txBody>
      </p:sp>
      <p:sp>
        <p:nvSpPr>
          <p:cNvPr id="4" name="">
            <a:extLst xmlns:a="http://schemas.openxmlformats.org/drawingml/2006/main">
              <a:ext uri="{FF2B5EF4-FFF2-40B4-BE49-F238E27FC236}">
                <a16:creationId xmlns:a16="http://schemas.microsoft.com/office/drawing/2014/main" id="{9FBE57C8-476B-4030-948F-46E858361D96}"/>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source .venv/bin/activate</a:t>
            </a:r>
          </a:p>
        </p:txBody>
      </p:sp>
      <p:sp>
        <p:nvSpPr>
          <p:cNvPr id="5" name="">
            <a:extLst xmlns:a="http://schemas.openxmlformats.org/drawingml/2006/main">
              <a:ext uri="{FF2B5EF4-FFF2-40B4-BE49-F238E27FC236}">
                <a16:creationId xmlns:a16="http://schemas.microsoft.com/office/drawing/2014/main" id="{51E9855B-4028-41C2-B33A-50486088164C}"/>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Run configured stages</a:t>
            </a:r>
          </a:p>
        </p:txBody>
      </p:sp>
      <p:sp>
        <p:nvSpPr>
          <p:cNvPr id="6" name="">
            <a:extLst xmlns:a="http://schemas.openxmlformats.org/drawingml/2006/main">
              <a:ext uri="{FF2B5EF4-FFF2-40B4-BE49-F238E27FC236}">
                <a16:creationId xmlns:a16="http://schemas.microsoft.com/office/drawing/2014/main" id="{F3FEADE1-B41C-4F61-AC5D-6B211DC4776E}"/>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python run_commands.py</a:t>
            </a:r>
          </a:p>
        </p:txBody>
      </p:sp>
      <p:sp>
        <p:nvSpPr>
          <p:cNvPr id="7" name="">
            <a:extLst xmlns:a="http://schemas.openxmlformats.org/drawingml/2006/main">
              <a:ext uri="{FF2B5EF4-FFF2-40B4-BE49-F238E27FC236}">
                <a16:creationId xmlns:a16="http://schemas.microsoft.com/office/drawing/2014/main" id="{EE87A6AC-C000-4636-BB1A-6460E5728E73}"/>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Open the reports</a:t>
            </a:r>
          </a:p>
        </p:txBody>
      </p:sp>
      <p:sp>
        <p:nvSpPr>
          <p:cNvPr id="8" name="">
            <a:extLst xmlns:a="http://schemas.openxmlformats.org/drawingml/2006/main">
              <a:ext uri="{FF2B5EF4-FFF2-40B4-BE49-F238E27FC236}">
                <a16:creationId xmlns:a16="http://schemas.microsoft.com/office/drawing/2014/main" id="{A587BC15-27E0-497D-84CA-75ED22800F9E}"/>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python -m http.server 8765 --bind 127.0.0.1</a:t>
            </a:r>
          </a:p>
        </p:txBody>
      </p:sp>
    </p:spTree>
    <p:extLst>
      <p:ext uri="{BB962C8B-B14F-4D97-AF65-F5344CB8AC3E}">
        <p14:creationId xmlns:p14="http://schemas.microsoft.com/office/powerpoint/2010/main" val="52009283"/>
      </p:ext>
    </p:extLst>
  </p:cSld>
</p:sld>
</file>

<file path=ppt/slides/slide2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19AB66B-6D08-46A2-B5FF-2D550D54CB54}"/>
              </a:ext>
            </a:extLst>
          </p:cNvPr>
          <p:cNvCxnSpPr>
            <a:stCxn xmlns:a="http://schemas.openxmlformats.org/drawingml/2006/main" id="6" idx="3"/>
            <a:endCxn xmlns:a="http://schemas.openxmlformats.org/drawingml/2006/main" id="8" idx="1"/>
          </p:cNvCxnSpPr>
          <p:nvPr/>
        </p:nvCxnSpPr>
        <p:spPr>
          <a:xfrm xmlns:a="http://schemas.openxmlformats.org/drawingml/2006/main">
            <a:off x="8705850" y="2886075"/>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7" name="">
            <a:extLst xmlns:a="http://schemas.openxmlformats.org/drawingml/2006/main">
              <a:ext uri="{FF2B5EF4-FFF2-40B4-BE49-F238E27FC236}">
                <a16:creationId xmlns:a16="http://schemas.microsoft.com/office/drawing/2014/main" id="{7050759D-AD75-4441-BE3E-4651B0798558}"/>
              </a:ext>
            </a:extLst>
          </p:cNvPr>
          <p:cNvCxnSpPr>
            <a:stCxn xmlns:a="http://schemas.openxmlformats.org/drawingml/2006/main" id="4" idx="3"/>
            <a:endCxn xmlns:a="http://schemas.openxmlformats.org/drawingml/2006/main" id="6" idx="1"/>
          </p:cNvCxnSpPr>
          <p:nvPr/>
        </p:nvCxnSpPr>
        <p:spPr>
          <a:xfrm xmlns:a="http://schemas.openxmlformats.org/drawingml/2006/main">
            <a:off x="5905500" y="2886075"/>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cxnSp>
        <p:nvCxnSpPr>
          <p:cNvPr id="5" name="">
            <a:extLst xmlns:a="http://schemas.openxmlformats.org/drawingml/2006/main">
              <a:ext uri="{FF2B5EF4-FFF2-40B4-BE49-F238E27FC236}">
                <a16:creationId xmlns:a16="http://schemas.microsoft.com/office/drawing/2014/main" id="{C74BB028-59E6-4506-B820-187ABE9F7139}"/>
              </a:ext>
            </a:extLst>
          </p:cNvPr>
          <p:cNvCxnSpPr>
            <a:stCxn xmlns:a="http://schemas.openxmlformats.org/drawingml/2006/main" id="3" idx="3"/>
            <a:endCxn xmlns:a="http://schemas.openxmlformats.org/drawingml/2006/main" id="4" idx="1"/>
          </p:cNvCxnSpPr>
          <p:nvPr/>
        </p:nvCxnSpPr>
        <p:spPr>
          <a:xfrm xmlns:a="http://schemas.openxmlformats.org/drawingml/2006/main">
            <a:off x="3105150" y="2886075"/>
            <a:ext cx="342900" cy="0"/>
          </a:xfrm>
          <a:prstGeom xmlns:a="http://schemas.openxmlformats.org/drawingml/2006/main" prst="straightConnector1">
            <a:avLst/>
          </a:prstGeom>
          <a:ln xmlns:a="http://schemas.openxmlformats.org/drawingml/2006/main" w="28575">
            <a:solidFill>
              <a:srgbClr val="71879B"/>
            </a:solidFill>
            <a:tailEnd type="triangle" w="med" len="med"/>
          </a:ln>
        </p:spPr>
      </p:cxnSp>
      <p:sp>
        <p:nvSpPr>
          <p:cNvPr id="15" name="">
            <a:extLst xmlns:a="http://schemas.openxmlformats.org/drawingml/2006/main">
              <a:ext uri="{FF2B5EF4-FFF2-40B4-BE49-F238E27FC236}">
                <a16:creationId xmlns:a16="http://schemas.microsoft.com/office/drawing/2014/main" id="{077AFA75-C580-4A79-B614-A6294B8B3A88}"/>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Reading the report in four steps</a:t>
            </a:r>
          </a:p>
        </p:txBody>
      </p:sp>
      <p:sp>
        <p:nvSpPr>
          <p:cNvPr id="2" name="">
            <a:extLst xmlns:a="http://schemas.openxmlformats.org/drawingml/2006/main">
              <a:ext uri="{FF2B5EF4-FFF2-40B4-BE49-F238E27FC236}">
                <a16:creationId xmlns:a16="http://schemas.microsoft.com/office/drawing/2014/main" id="{1C216479-0D0E-425E-9DB9-4DC49CF9D322}"/>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7B874F36-DA91-42F8-AD68-9C0E2C990960}"/>
              </a:ext>
            </a:extLst>
          </p:cNvPr>
          <p:cNvSpPr>
            <a:spLocks xmlns:a="http://schemas.openxmlformats.org/drawingml/2006/main" noGrp="1"/>
          </p:cNvSpPr>
          <p:nvPr/>
        </p:nvSpPr>
        <p:spPr>
          <a:xfrm xmlns:a="http://schemas.openxmlformats.org/drawingml/2006/main">
            <a:off x="647700" y="2400300"/>
            <a:ext cx="2457450" cy="971550"/>
          </a:xfrm>
          <a:prstGeom xmlns:a="http://schemas.openxmlformats.org/drawingml/2006/main" prst="rect">
            <a:avLst/>
          </a:prstGeom>
          <a:solidFill xmlns:a="http://schemas.openxmlformats.org/drawingml/2006/main">
            <a:srgbClr val="172B43"/>
          </a:solidFill>
          <a:ln xmlns:a="http://schemas.openxmlformats.org/drawingml/2006/main" w="0">
            <a:solidFill>
              <a:srgbClr val="172B43"/>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Overall report</a:t>
            </a:r>
          </a:p>
        </p:txBody>
      </p:sp>
      <p:sp>
        <p:nvSpPr>
          <p:cNvPr id="4" name="">
            <a:extLst xmlns:a="http://schemas.openxmlformats.org/drawingml/2006/main">
              <a:ext uri="{FF2B5EF4-FFF2-40B4-BE49-F238E27FC236}">
                <a16:creationId xmlns:a16="http://schemas.microsoft.com/office/drawing/2014/main" id="{334B4E75-8C5F-40EB-99BC-A25E04420776}"/>
              </a:ext>
            </a:extLst>
          </p:cNvPr>
          <p:cNvSpPr>
            <a:spLocks xmlns:a="http://schemas.openxmlformats.org/drawingml/2006/main" noGrp="1"/>
          </p:cNvSpPr>
          <p:nvPr/>
        </p:nvSpPr>
        <p:spPr>
          <a:xfrm xmlns:a="http://schemas.openxmlformats.org/drawingml/2006/main">
            <a:off x="3448050" y="2400300"/>
            <a:ext cx="2457450" cy="971550"/>
          </a:xfrm>
          <a:prstGeom xmlns:a="http://schemas.openxmlformats.org/drawingml/2006/main" prst="rect">
            <a:avLst/>
          </a:prstGeom>
          <a:solidFill xmlns:a="http://schemas.openxmlformats.org/drawingml/2006/main">
            <a:srgbClr val="2457D6"/>
          </a:solidFill>
          <a:ln xmlns:a="http://schemas.openxmlformats.org/drawingml/2006/main" w="0">
            <a:solidFill>
              <a:srgbClr val="2457D6"/>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Stage</a:t>
            </a:r>
          </a:p>
        </p:txBody>
      </p:sp>
      <p:sp>
        <p:nvSpPr>
          <p:cNvPr id="6" name="">
            <a:extLst xmlns:a="http://schemas.openxmlformats.org/drawingml/2006/main">
              <a:ext uri="{FF2B5EF4-FFF2-40B4-BE49-F238E27FC236}">
                <a16:creationId xmlns:a16="http://schemas.microsoft.com/office/drawing/2014/main" id="{E2F032C6-13D6-41F9-B73E-22C1533BE8DF}"/>
              </a:ext>
            </a:extLst>
          </p:cNvPr>
          <p:cNvSpPr>
            <a:spLocks xmlns:a="http://schemas.openxmlformats.org/drawingml/2006/main" noGrp="1"/>
          </p:cNvSpPr>
          <p:nvPr/>
        </p:nvSpPr>
        <p:spPr>
          <a:xfrm xmlns:a="http://schemas.openxmlformats.org/drawingml/2006/main">
            <a:off x="6248400" y="2400300"/>
            <a:ext cx="2457450" cy="971550"/>
          </a:xfrm>
          <a:prstGeom xmlns:a="http://schemas.openxmlformats.org/drawingml/2006/main" prst="rect">
            <a:avLst/>
          </a:prstGeom>
          <a:solidFill xmlns:a="http://schemas.openxmlformats.org/drawingml/2006/main">
            <a:srgbClr val="087D78"/>
          </a:solidFill>
          <a:ln xmlns:a="http://schemas.openxmlformats.org/drawingml/2006/main" w="0">
            <a:solidFill>
              <a:srgbClr val="087D7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File search</a:t>
            </a:r>
          </a:p>
        </p:txBody>
      </p:sp>
      <p:sp>
        <p:nvSpPr>
          <p:cNvPr id="8" name="">
            <a:extLst xmlns:a="http://schemas.openxmlformats.org/drawingml/2006/main">
              <a:ext uri="{FF2B5EF4-FFF2-40B4-BE49-F238E27FC236}">
                <a16:creationId xmlns:a16="http://schemas.microsoft.com/office/drawing/2014/main" id="{2E5B9875-9263-4FA9-8924-D84EDBEBDB8D}"/>
              </a:ext>
            </a:extLst>
          </p:cNvPr>
          <p:cNvSpPr>
            <a:spLocks xmlns:a="http://schemas.openxmlformats.org/drawingml/2006/main" noGrp="1"/>
          </p:cNvSpPr>
          <p:nvPr/>
        </p:nvSpPr>
        <p:spPr>
          <a:xfrm xmlns:a="http://schemas.openxmlformats.org/drawingml/2006/main">
            <a:off x="9048750" y="2400300"/>
            <a:ext cx="2457450" cy="971550"/>
          </a:xfrm>
          <a:prstGeom xmlns:a="http://schemas.openxmlformats.org/drawingml/2006/main" prst="rect">
            <a:avLst/>
          </a:prstGeom>
          <a:solidFill xmlns:a="http://schemas.openxmlformats.org/drawingml/2006/main">
            <a:srgbClr val="7354B8"/>
          </a:solidFill>
          <a:ln xmlns:a="http://schemas.openxmlformats.org/drawingml/2006/main" w="0">
            <a:solidFill>
              <a:srgbClr val="7354B8"/>
            </a:solidFill>
          </a:ln>
        </p:spPr>
        <p:txBody>
          <a:bodyPr xmlns:a="http://schemas.openxmlformats.org/drawingml/2006/main" lIns="133350" tIns="114300" rIns="133350" bIns="114300" anchor="ct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Rule evidence</a:t>
            </a:r>
          </a:p>
        </p:txBody>
      </p:sp>
      <p:sp>
        <p:nvSpPr>
          <p:cNvPr id="10" name="">
            <a:extLst xmlns:a="http://schemas.openxmlformats.org/drawingml/2006/main">
              <a:ext uri="{FF2B5EF4-FFF2-40B4-BE49-F238E27FC236}">
                <a16:creationId xmlns:a16="http://schemas.microsoft.com/office/drawing/2014/main" id="{D1DE112F-2D0C-41DA-A9BE-7A3184A5FA11}"/>
              </a:ext>
            </a:extLst>
          </p:cNvPr>
          <p:cNvSpPr>
            <a:spLocks xmlns:a="http://schemas.openxmlformats.org/drawingml/2006/main" noGrp="1"/>
          </p:cNvSpPr>
          <p:nvPr/>
        </p:nvSpPr>
        <p:spPr>
          <a:xfrm xmlns:a="http://schemas.openxmlformats.org/drawingml/2006/main">
            <a:off x="647700" y="3810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What ran?</a:t>
            </a:r>
          </a:p>
        </p:txBody>
      </p:sp>
      <p:sp>
        <p:nvSpPr>
          <p:cNvPr id="11" name="">
            <a:extLst xmlns:a="http://schemas.openxmlformats.org/drawingml/2006/main">
              <a:ext uri="{FF2B5EF4-FFF2-40B4-BE49-F238E27FC236}">
                <a16:creationId xmlns:a16="http://schemas.microsoft.com/office/drawing/2014/main" id="{EA72AB9E-C269-44A2-AE0B-DD98EC982043}"/>
              </a:ext>
            </a:extLst>
          </p:cNvPr>
          <p:cNvSpPr>
            <a:spLocks xmlns:a="http://schemas.openxmlformats.org/drawingml/2006/main" noGrp="1"/>
          </p:cNvSpPr>
          <p:nvPr/>
        </p:nvSpPr>
        <p:spPr>
          <a:xfrm xmlns:a="http://schemas.openxmlformats.org/drawingml/2006/main">
            <a:off x="3448050" y="3810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Which stage?</a:t>
            </a:r>
          </a:p>
        </p:txBody>
      </p:sp>
      <p:sp>
        <p:nvSpPr>
          <p:cNvPr id="12" name="">
            <a:extLst xmlns:a="http://schemas.openxmlformats.org/drawingml/2006/main">
              <a:ext uri="{FF2B5EF4-FFF2-40B4-BE49-F238E27FC236}">
                <a16:creationId xmlns:a16="http://schemas.microsoft.com/office/drawing/2014/main" id="{85B89400-964E-4B9D-9CF0-D57C63BC5045}"/>
              </a:ext>
            </a:extLst>
          </p:cNvPr>
          <p:cNvSpPr>
            <a:spLocks xmlns:a="http://schemas.openxmlformats.org/drawingml/2006/main" noGrp="1"/>
          </p:cNvSpPr>
          <p:nvPr/>
        </p:nvSpPr>
        <p:spPr>
          <a:xfrm xmlns:a="http://schemas.openxmlformats.org/drawingml/2006/main">
            <a:off x="6248400" y="3810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Which input file?</a:t>
            </a:r>
          </a:p>
        </p:txBody>
      </p:sp>
      <p:sp>
        <p:nvSpPr>
          <p:cNvPr id="13" name="">
            <a:extLst xmlns:a="http://schemas.openxmlformats.org/drawingml/2006/main">
              <a:ext uri="{FF2B5EF4-FFF2-40B4-BE49-F238E27FC236}">
                <a16:creationId xmlns:a16="http://schemas.microsoft.com/office/drawing/2014/main" id="{E4E474B5-B5F7-4A9B-8EC8-DBB57F5B510C}"/>
              </a:ext>
            </a:extLst>
          </p:cNvPr>
          <p:cNvSpPr>
            <a:spLocks xmlns:a="http://schemas.openxmlformats.org/drawingml/2006/main" noGrp="1"/>
          </p:cNvSpPr>
          <p:nvPr/>
        </p:nvSpPr>
        <p:spPr>
          <a:xfrm xmlns:a="http://schemas.openxmlformats.org/drawingml/2006/main">
            <a:off x="9048750" y="3810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Why this result?</a:t>
            </a:r>
          </a:p>
        </p:txBody>
      </p:sp>
      <p:sp>
        <p:nvSpPr>
          <p:cNvPr id="14" name="">
            <a:extLst xmlns:a="http://schemas.openxmlformats.org/drawingml/2006/main">
              <a:ext uri="{FF2B5EF4-FFF2-40B4-BE49-F238E27FC236}">
                <a16:creationId xmlns:a16="http://schemas.microsoft.com/office/drawing/2014/main" id="{393BD6F5-D073-4512-BD13-99B34B214BB2}"/>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Read the rule reason before interpreting the total number of failures.</a:t>
            </a:r>
          </a:p>
        </p:txBody>
      </p:sp>
    </p:spTree>
    <p:extLst>
      <p:ext uri="{BB962C8B-B14F-4D97-AF65-F5344CB8AC3E}">
        <p14:creationId xmlns:p14="http://schemas.microsoft.com/office/powerpoint/2010/main" val="1915913139"/>
      </p:ext>
    </p:extLst>
  </p:cSld>
</p:sld>
</file>

<file path=ppt/slides/slide2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0800C1-6143-45AA-A024-272A9D01A7EC}"/>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The report screen</a:t>
            </a:r>
          </a:p>
        </p:txBody>
      </p:sp>
      <p:sp>
        <p:nvSpPr>
          <p:cNvPr id="2" name="">
            <a:extLst xmlns:a="http://schemas.openxmlformats.org/drawingml/2006/main">
              <a:ext uri="{FF2B5EF4-FFF2-40B4-BE49-F238E27FC236}">
                <a16:creationId xmlns:a16="http://schemas.microsoft.com/office/drawing/2014/main" id="{670F48E5-F32A-47F1-B1B5-BB1BD213E02B}"/>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25</a:t>
            </a:r>
          </a:p>
        </p:txBody>
      </p:sp>
      <p:pic>
        <p:nvPicPr>
          <p:cNvPr id="3" name="">
            <a:extLst xmlns:a="http://schemas.openxmlformats.org/drawingml/2006/main">
              <a:ext uri="{FF2B5EF4-FFF2-40B4-BE49-F238E27FC236}">
                <a16:creationId xmlns:a16="http://schemas.microsoft.com/office/drawing/2014/main" id="{5FF9E688-55BC-4839-9FD8-3113730F83EC}"/>
              </a:ext>
            </a:extLst>
          </p:cNvPr>
          <p:cNvPicPr>
            <a:picLocks xmlns:a="http://schemas.openxmlformats.org/drawingml/2006/main" noChangeAspect="1"/>
          </p:cNvPicPr>
          <p:nvPr/>
        </p:nvPicPr>
        <p:blipFill>
          <a:blip xmlns:r="http://schemas.openxmlformats.org/officeDocument/2006/relationships" xmlns:a="http://schemas.openxmlformats.org/drawingml/2006/main" r:embed="R4a3fecd61ffc496a"/>
          <a:stretch xmlns:a="http://schemas.openxmlformats.org/drawingml/2006/main"/>
        </p:blipFill>
        <p:spPr>
          <a:xfrm xmlns:a="http://schemas.openxmlformats.org/drawingml/2006/main">
            <a:off x="1036079" y="1781175"/>
            <a:ext cx="7652867" cy="3762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4D14BE-8ED2-455D-8D7C-7B6A7E61A899}"/>
              </a:ext>
            </a:extLst>
          </p:cNvPr>
          <p:cNvSpPr>
            <a:spLocks xmlns:a="http://schemas.openxmlformats.org/drawingml/2006/main" noGrp="1"/>
          </p:cNvSpPr>
          <p:nvPr/>
        </p:nvSpPr>
        <p:spPr>
          <a:xfrm xmlns:a="http://schemas.openxmlformats.org/drawingml/2006/main">
            <a:off x="9439275" y="2066925"/>
            <a:ext cx="2143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Start with totals</a:t>
            </a:r>
          </a:p>
        </p:txBody>
      </p:sp>
      <p:sp>
        <p:nvSpPr>
          <p:cNvPr id="5" name="">
            <a:extLst xmlns:a="http://schemas.openxmlformats.org/drawingml/2006/main">
              <a:ext uri="{FF2B5EF4-FFF2-40B4-BE49-F238E27FC236}">
                <a16:creationId xmlns:a16="http://schemas.microsoft.com/office/drawing/2014/main" id="{EC831CED-6537-4FAF-A96B-A786C7D45BD3}"/>
              </a:ext>
            </a:extLst>
          </p:cNvPr>
          <p:cNvSpPr>
            <a:spLocks xmlns:a="http://schemas.openxmlformats.org/drawingml/2006/main" noGrp="1"/>
          </p:cNvSpPr>
          <p:nvPr/>
        </p:nvSpPr>
        <p:spPr>
          <a:xfrm xmlns:a="http://schemas.openxmlformats.org/drawingml/2006/main">
            <a:off x="9439275" y="3095625"/>
            <a:ext cx="21431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Then open a stage to inspect file and rule evidence.</a:t>
            </a:r>
          </a:p>
        </p:txBody>
      </p:sp>
      <p:sp>
        <p:nvSpPr>
          <p:cNvPr id="6" name="">
            <a:extLst xmlns:a="http://schemas.openxmlformats.org/drawingml/2006/main">
              <a:ext uri="{FF2B5EF4-FFF2-40B4-BE49-F238E27FC236}">
                <a16:creationId xmlns:a16="http://schemas.microsoft.com/office/drawing/2014/main" id="{D750D56E-75FD-495F-9534-B4020DFDA060}"/>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Recorded report: 11 October 2026, 02:01:38 India time.</a:t>
            </a:r>
          </a:p>
        </p:txBody>
      </p:sp>
    </p:spTree>
    <p:extLst>
      <p:ext uri="{BB962C8B-B14F-4D97-AF65-F5344CB8AC3E}">
        <p14:creationId xmlns:p14="http://schemas.microsoft.com/office/powerpoint/2010/main" val="1211479921"/>
      </p:ext>
    </p:extLst>
  </p:cSld>
</p:sld>
</file>

<file path=ppt/slides/slide2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1AE02B-95AA-4BA6-AC1B-FB469897BD5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A PASS should explain why</a:t>
            </a:r>
          </a:p>
        </p:txBody>
      </p:sp>
      <p:sp>
        <p:nvSpPr>
          <p:cNvPr id="2" name="">
            <a:extLst xmlns:a="http://schemas.openxmlformats.org/drawingml/2006/main">
              <a:ext uri="{FF2B5EF4-FFF2-40B4-BE49-F238E27FC236}">
                <a16:creationId xmlns:a16="http://schemas.microsoft.com/office/drawing/2014/main" id="{88AC2749-8D0B-48A5-B5EB-138FFF81FFD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8596FF8D-C443-4B36-95BB-1EEDD777067A}"/>
              </a:ext>
            </a:extLst>
          </p:cNvPr>
          <p:cNvSpPr>
            <a:spLocks xmlns:a="http://schemas.openxmlformats.org/drawingml/2006/main" noGrp="1"/>
          </p:cNvSpPr>
          <p:nvPr/>
        </p:nvSpPr>
        <p:spPr>
          <a:xfrm xmlns:a="http://schemas.openxmlformats.org/drawingml/2006/main">
            <a:off x="647700" y="1828800"/>
            <a:ext cx="3810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450" b="1">
                <a:solidFill>
                  <a:srgbClr val="087D66"/>
                </a:solidFill>
                <a:latin typeface="Arial"/>
                <a:ea typeface="Arial"/>
                <a:cs typeface="Arial"/>
              </a:defRPr>
            </a:defPPr>
          </a:lstStyle>
          <a:p xmlns:a="http://schemas.openxmlformats.org/drawingml/2006/main">
            <a:pPr algn="l">
              <a:defRPr sz="6450" b="1">
                <a:solidFill>
                  <a:srgbClr val="087D66"/>
                </a:solidFill>
                <a:latin typeface="Arial"/>
                <a:ea typeface="Arial"/>
                <a:cs typeface="Arial"/>
              </a:defRPr>
            </a:pPr>
            <a:r>
              <a:rPr sz="6450" b="1">
                <a:solidFill>
                  <a:srgbClr val="087D66"/>
                </a:solidFill>
                <a:latin typeface="Arial"/>
                <a:ea typeface="Arial"/>
                <a:cs typeface="Arial"/>
              </a:rPr>
              <a:t>PASS</a:t>
            </a:r>
          </a:p>
        </p:txBody>
      </p:sp>
      <p:sp>
        <p:nvSpPr>
          <p:cNvPr id="4" name="">
            <a:extLst xmlns:a="http://schemas.openxmlformats.org/drawingml/2006/main">
              <a:ext uri="{FF2B5EF4-FFF2-40B4-BE49-F238E27FC236}">
                <a16:creationId xmlns:a16="http://schemas.microsoft.com/office/drawing/2014/main" id="{D86DEEFF-01D7-449B-92FF-94CA1455DDD8}"/>
              </a:ext>
            </a:extLst>
          </p:cNvPr>
          <p:cNvSpPr>
            <a:spLocks xmlns:a="http://schemas.openxmlformats.org/drawingml/2006/main" noGrp="1"/>
          </p:cNvSpPr>
          <p:nvPr/>
        </p:nvSpPr>
        <p:spPr>
          <a:xfrm xmlns:a="http://schemas.openxmlformats.org/drawingml/2006/main">
            <a:off x="5143500" y="19812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925" b="1">
                <a:solidFill>
                  <a:srgbClr val="172B43"/>
                </a:solidFill>
                <a:latin typeface="Arial"/>
                <a:ea typeface="Arial"/>
                <a:cs typeface="Arial"/>
              </a:defRPr>
            </a:defPPr>
          </a:lstStyle>
          <a:p xmlns:a="http://schemas.openxmlformats.org/drawingml/2006/main">
            <a:pPr algn="l">
              <a:defRPr sz="2925" b="1">
                <a:solidFill>
                  <a:srgbClr val="172B43"/>
                </a:solidFill>
                <a:latin typeface="Arial"/>
                <a:ea typeface="Arial"/>
                <a:cs typeface="Arial"/>
              </a:defRPr>
            </a:pPr>
            <a:r>
              <a:rPr sz="2925" b="1">
                <a:solidFill>
                  <a:srgbClr val="172B43"/>
                </a:solidFill>
                <a:latin typeface="Arial"/>
                <a:ea typeface="Arial"/>
                <a:cs typeface="Arial"/>
              </a:rPr>
              <a:t>Input file discovery</a:t>
            </a:r>
          </a:p>
        </p:txBody>
      </p:sp>
      <p:sp>
        <p:nvSpPr>
          <p:cNvPr id="5" name="">
            <a:extLst xmlns:a="http://schemas.openxmlformats.org/drawingml/2006/main">
              <a:ext uri="{FF2B5EF4-FFF2-40B4-BE49-F238E27FC236}">
                <a16:creationId xmlns:a16="http://schemas.microsoft.com/office/drawing/2014/main" id="{8613F9EF-E93E-4ED4-8399-F1F4ADBDE839}"/>
              </a:ext>
            </a:extLst>
          </p:cNvPr>
          <p:cNvSpPr>
            <a:spLocks xmlns:a="http://schemas.openxmlformats.org/drawingml/2006/main" noGrp="1"/>
          </p:cNvSpPr>
          <p:nvPr/>
        </p:nvSpPr>
        <p:spPr>
          <a:xfrm xmlns:a="http://schemas.openxmlformats.org/drawingml/2006/main">
            <a:off x="5143500" y="3000375"/>
            <a:ext cx="628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Requirement</a:t>
            </a:r>
          </a:p>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Find at least one matching input file.</a:t>
            </a:r>
          </a:p>
        </p:txBody>
      </p:sp>
      <p:sp>
        <p:nvSpPr>
          <p:cNvPr id="6" name="">
            <a:extLst xmlns:a="http://schemas.openxmlformats.org/drawingml/2006/main">
              <a:ext uri="{FF2B5EF4-FFF2-40B4-BE49-F238E27FC236}">
                <a16:creationId xmlns:a16="http://schemas.microsoft.com/office/drawing/2014/main" id="{99564D2B-F1BD-4B22-A4FB-0501EACC40DC}"/>
              </a:ext>
            </a:extLst>
          </p:cNvPr>
          <p:cNvSpPr>
            <a:spLocks xmlns:a="http://schemas.openxmlformats.org/drawingml/2006/main" noGrp="1"/>
          </p:cNvSpPr>
          <p:nvPr/>
        </p:nvSpPr>
        <p:spPr>
          <a:xfrm xmlns:a="http://schemas.openxmlformats.org/drawingml/2006/main">
            <a:off x="5143500" y="443865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Evidence</a:t>
            </a:r>
          </a:p>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The configured path resolved to one file.</a:t>
            </a:r>
          </a:p>
        </p:txBody>
      </p:sp>
      <p:sp>
        <p:nvSpPr>
          <p:cNvPr id="7" name="">
            <a:extLst xmlns:a="http://schemas.openxmlformats.org/drawingml/2006/main">
              <a:ext uri="{FF2B5EF4-FFF2-40B4-BE49-F238E27FC236}">
                <a16:creationId xmlns:a16="http://schemas.microsoft.com/office/drawing/2014/main" id="{C04D7B5D-F9FE-4463-AAD1-57943421BB94}"/>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Conclusion: the required file exists and can proceed to reading.</a:t>
            </a:r>
          </a:p>
        </p:txBody>
      </p:sp>
    </p:spTree>
    <p:extLst>
      <p:ext uri="{BB962C8B-B14F-4D97-AF65-F5344CB8AC3E}">
        <p14:creationId xmlns:p14="http://schemas.microsoft.com/office/powerpoint/2010/main" val="139705444"/>
      </p:ext>
    </p:extLst>
  </p:cSld>
</p:sld>
</file>

<file path=ppt/slides/slide2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5CA7DA-72B1-49F5-A7C4-9893715D43D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A FAIL should show the disagreement</a:t>
            </a:r>
          </a:p>
        </p:txBody>
      </p:sp>
      <p:sp>
        <p:nvSpPr>
          <p:cNvPr id="2" name="">
            <a:extLst xmlns:a="http://schemas.openxmlformats.org/drawingml/2006/main">
              <a:ext uri="{FF2B5EF4-FFF2-40B4-BE49-F238E27FC236}">
                <a16:creationId xmlns:a16="http://schemas.microsoft.com/office/drawing/2014/main" id="{830FB272-BB27-4C40-BFCD-9681AD9D16BF}"/>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20ABB5EF-D6C4-4231-8522-8A02BB45DE75}"/>
              </a:ext>
            </a:extLst>
          </p:cNvPr>
          <p:cNvSpPr>
            <a:spLocks xmlns:a="http://schemas.openxmlformats.org/drawingml/2006/main" noGrp="1"/>
          </p:cNvSpPr>
          <p:nvPr/>
        </p:nvSpPr>
        <p:spPr>
          <a:xfrm xmlns:a="http://schemas.openxmlformats.org/drawingml/2006/main">
            <a:off x="647700" y="1809750"/>
            <a:ext cx="381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450" b="1">
                <a:solidFill>
                  <a:srgbClr val="C64747"/>
                </a:solidFill>
                <a:latin typeface="Arial"/>
                <a:ea typeface="Arial"/>
                <a:cs typeface="Arial"/>
              </a:defRPr>
            </a:defPPr>
          </a:lstStyle>
          <a:p xmlns:a="http://schemas.openxmlformats.org/drawingml/2006/main">
            <a:pPr algn="l">
              <a:defRPr sz="6450" b="1">
                <a:solidFill>
                  <a:srgbClr val="C64747"/>
                </a:solidFill>
                <a:latin typeface="Arial"/>
                <a:ea typeface="Arial"/>
                <a:cs typeface="Arial"/>
              </a:defRPr>
            </a:pPr>
            <a:r>
              <a:rPr sz="6450" b="1">
                <a:solidFill>
                  <a:srgbClr val="C64747"/>
                </a:solidFill>
                <a:latin typeface="Arial"/>
                <a:ea typeface="Arial"/>
                <a:cs typeface="Arial"/>
              </a:rPr>
              <a:t>FAIL</a:t>
            </a:r>
          </a:p>
        </p:txBody>
      </p:sp>
      <p:sp>
        <p:nvSpPr>
          <p:cNvPr id="4" name="">
            <a:extLst xmlns:a="http://schemas.openxmlformats.org/drawingml/2006/main">
              <a:ext uri="{FF2B5EF4-FFF2-40B4-BE49-F238E27FC236}">
                <a16:creationId xmlns:a16="http://schemas.microsoft.com/office/drawing/2014/main" id="{7262BF6D-D0C7-408C-B33D-8E927172267C}"/>
              </a:ext>
            </a:extLst>
          </p:cNvPr>
          <p:cNvSpPr>
            <a:spLocks xmlns:a="http://schemas.openxmlformats.org/drawingml/2006/main" noGrp="1"/>
          </p:cNvSpPr>
          <p:nvPr/>
        </p:nvSpPr>
        <p:spPr>
          <a:xfrm xmlns:a="http://schemas.openxmlformats.org/drawingml/2006/main">
            <a:off x="5143500" y="1981200"/>
            <a:ext cx="628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925" b="1">
                <a:solidFill>
                  <a:srgbClr val="172B43"/>
                </a:solidFill>
                <a:latin typeface="Arial"/>
                <a:ea typeface="Arial"/>
                <a:cs typeface="Arial"/>
              </a:defRPr>
            </a:defPPr>
          </a:lstStyle>
          <a:p xmlns:a="http://schemas.openxmlformats.org/drawingml/2006/main">
            <a:pPr algn="l">
              <a:defRPr sz="2925" b="1">
                <a:solidFill>
                  <a:srgbClr val="172B43"/>
                </a:solidFill>
                <a:latin typeface="Arial"/>
                <a:ea typeface="Arial"/>
                <a:cs typeface="Arial"/>
              </a:defRPr>
            </a:pPr>
            <a:r>
              <a:rPr sz="2925" b="1">
                <a:solidFill>
                  <a:srgbClr val="172B43"/>
                </a:solidFill>
                <a:latin typeface="Arial"/>
                <a:ea typeface="Arial"/>
                <a:cs typeface="Arial"/>
              </a:rPr>
              <a:t>Stay charge total</a:t>
            </a:r>
          </a:p>
        </p:txBody>
      </p:sp>
      <p:sp>
        <p:nvSpPr>
          <p:cNvPr id="5" name="">
            <a:extLst xmlns:a="http://schemas.openxmlformats.org/drawingml/2006/main">
              <a:ext uri="{FF2B5EF4-FFF2-40B4-BE49-F238E27FC236}">
                <a16:creationId xmlns:a16="http://schemas.microsoft.com/office/drawing/2014/main" id="{2F8B17AC-A753-4E3F-8F7A-1270A81780E3}"/>
              </a:ext>
            </a:extLst>
          </p:cNvPr>
          <p:cNvSpPr>
            <a:spLocks xmlns:a="http://schemas.openxmlformats.org/drawingml/2006/main" noGrp="1"/>
          </p:cNvSpPr>
          <p:nvPr/>
        </p:nvSpPr>
        <p:spPr>
          <a:xfrm xmlns:a="http://schemas.openxmlformats.org/drawingml/2006/main">
            <a:off x="5143500" y="30670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0">
                <a:solidFill>
                  <a:srgbClr val="172B43"/>
                </a:solidFill>
                <a:latin typeface="Arial"/>
                <a:ea typeface="Arial"/>
                <a:cs typeface="Arial"/>
              </a:defRPr>
            </a:defPPr>
          </a:lstStyle>
          <a:p xmlns:a="http://schemas.openxmlformats.org/drawingml/2006/main">
            <a:pPr algn="l">
              <a:defRPr sz="2850" b="0">
                <a:solidFill>
                  <a:srgbClr val="172B43"/>
                </a:solidFill>
                <a:latin typeface="Arial"/>
                <a:ea typeface="Arial"/>
                <a:cs typeface="Arial"/>
              </a:defRPr>
            </a:pPr>
            <a:r>
              <a:rPr sz="2850" b="0">
                <a:solidFill>
                  <a:srgbClr val="172B43"/>
                </a:solidFill>
                <a:latin typeface="Arial"/>
                <a:ea typeface="Arial"/>
                <a:cs typeface="Arial"/>
              </a:rPr>
              <a:t>Expected 301.00</a:t>
            </a:r>
          </a:p>
          <a:p xmlns:a="http://schemas.openxmlformats.org/drawingml/2006/main">
            <a:pPr algn="l">
              <a:defRPr sz="2850" b="0">
                <a:solidFill>
                  <a:srgbClr val="172B43"/>
                </a:solidFill>
                <a:latin typeface="Arial"/>
                <a:ea typeface="Arial"/>
                <a:cs typeface="Arial"/>
              </a:defRPr>
            </a:pPr>
            <a:r>
              <a:rPr sz="2850" b="0">
                <a:solidFill>
                  <a:srgbClr val="172B43"/>
                </a:solidFill>
                <a:latin typeface="Arial"/>
                <a:ea typeface="Arial"/>
                <a:cs typeface="Arial"/>
              </a:rPr>
              <a:t>Observed 300.00</a:t>
            </a:r>
          </a:p>
          <a:p xmlns:a="http://schemas.openxmlformats.org/drawingml/2006/main">
            <a:pPr algn="l">
              <a:defRPr sz="2850" b="0">
                <a:solidFill>
                  <a:srgbClr val="172B43"/>
                </a:solidFill>
                <a:latin typeface="Arial"/>
                <a:ea typeface="Arial"/>
                <a:cs typeface="Arial"/>
              </a:defRPr>
            </a:pPr>
            <a:r>
              <a:rPr sz="2850" b="0">
                <a:solidFill>
                  <a:srgbClr val="172B43"/>
                </a:solidFill>
                <a:latin typeface="Arial"/>
                <a:ea typeface="Arial"/>
                <a:cs typeface="Arial"/>
              </a:rPr>
              <a:t>Difference 1.00</a:t>
            </a:r>
          </a:p>
        </p:txBody>
      </p:sp>
      <p:sp>
        <p:nvSpPr>
          <p:cNvPr id="6" name="">
            <a:extLst xmlns:a="http://schemas.openxmlformats.org/drawingml/2006/main">
              <a:ext uri="{FF2B5EF4-FFF2-40B4-BE49-F238E27FC236}">
                <a16:creationId xmlns:a16="http://schemas.microsoft.com/office/drawing/2014/main" id="{319B9C33-6FE5-42AA-8DAB-B76F2972B49D}"/>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Illustrative example. Conclusion: the output amount does not match the source total.</a:t>
            </a:r>
          </a:p>
        </p:txBody>
      </p:sp>
    </p:spTree>
    <p:extLst>
      <p:ext uri="{BB962C8B-B14F-4D97-AF65-F5344CB8AC3E}">
        <p14:creationId xmlns:p14="http://schemas.microsoft.com/office/powerpoint/2010/main" val="951211505"/>
      </p:ext>
    </p:extLst>
  </p:cSld>
</p:sld>
</file>

<file path=ppt/slides/slide2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C58B7F-0552-4067-8236-3F4513003258}"/>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BLOCKED and N/A have different meanings</a:t>
            </a:r>
          </a:p>
        </p:txBody>
      </p:sp>
      <p:sp>
        <p:nvSpPr>
          <p:cNvPr id="2" name="">
            <a:extLst xmlns:a="http://schemas.openxmlformats.org/drawingml/2006/main">
              <a:ext uri="{FF2B5EF4-FFF2-40B4-BE49-F238E27FC236}">
                <a16:creationId xmlns:a16="http://schemas.microsoft.com/office/drawing/2014/main" id="{7D4D78F4-0FC8-4656-A729-39BB7C9CABF4}"/>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FFE86828-425C-4576-8BB5-6D09BA7DBC3C}"/>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BLOCKED</a:t>
            </a:r>
          </a:p>
        </p:txBody>
      </p:sp>
      <p:sp>
        <p:nvSpPr>
          <p:cNvPr id="4" name="">
            <a:extLst xmlns:a="http://schemas.openxmlformats.org/drawingml/2006/main">
              <a:ext uri="{FF2B5EF4-FFF2-40B4-BE49-F238E27FC236}">
                <a16:creationId xmlns:a16="http://schemas.microsoft.com/office/drawing/2014/main" id="{E1E6895C-C888-4F44-9E34-B8362D6E49DF}"/>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A required input is missing. Example: age needs a valid birth date.</a:t>
            </a:r>
          </a:p>
        </p:txBody>
      </p:sp>
      <p:sp>
        <p:nvSpPr>
          <p:cNvPr id="5" name="">
            <a:extLst xmlns:a="http://schemas.openxmlformats.org/drawingml/2006/main">
              <a:ext uri="{FF2B5EF4-FFF2-40B4-BE49-F238E27FC236}">
                <a16:creationId xmlns:a16="http://schemas.microsoft.com/office/drawing/2014/main" id="{0ACEB39A-E757-4FF4-BC37-452DF82BD00A}"/>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N/A</a:t>
            </a:r>
          </a:p>
        </p:txBody>
      </p:sp>
      <p:sp>
        <p:nvSpPr>
          <p:cNvPr id="6" name="">
            <a:extLst xmlns:a="http://schemas.openxmlformats.org/drawingml/2006/main">
              <a:ext uri="{FF2B5EF4-FFF2-40B4-BE49-F238E27FC236}">
                <a16:creationId xmlns:a16="http://schemas.microsoft.com/office/drawing/2014/main" id="{00ABBB80-CF89-4E03-984E-22F71485316B}"/>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check does not apply, or the reported comparison has no applicable value.</a:t>
            </a:r>
          </a:p>
        </p:txBody>
      </p:sp>
      <p:sp>
        <p:nvSpPr>
          <p:cNvPr id="7" name="">
            <a:extLst xmlns:a="http://schemas.openxmlformats.org/drawingml/2006/main">
              <a:ext uri="{FF2B5EF4-FFF2-40B4-BE49-F238E27FC236}">
                <a16:creationId xmlns:a16="http://schemas.microsoft.com/office/drawing/2014/main" id="{1F73D5B3-560C-4FAC-881A-5EC05B8C7FD5}"/>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What the reader needs</a:t>
            </a:r>
          </a:p>
        </p:txBody>
      </p:sp>
      <p:sp>
        <p:nvSpPr>
          <p:cNvPr id="8" name="">
            <a:extLst xmlns:a="http://schemas.openxmlformats.org/drawingml/2006/main">
              <a:ext uri="{FF2B5EF4-FFF2-40B4-BE49-F238E27FC236}">
                <a16:creationId xmlns:a16="http://schemas.microsoft.com/office/drawing/2014/main" id="{C37D856E-2D6F-4DCD-8221-86305410FA89}"/>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The exact reason and next action. Neither status establishes a pass.</a:t>
            </a:r>
          </a:p>
        </p:txBody>
      </p:sp>
    </p:spTree>
    <p:extLst>
      <p:ext uri="{BB962C8B-B14F-4D97-AF65-F5344CB8AC3E}">
        <p14:creationId xmlns:p14="http://schemas.microsoft.com/office/powerpoint/2010/main" val="1382861508"/>
      </p:ext>
    </p:extLst>
  </p:cSld>
</p:sld>
</file>

<file path=ppt/slides/slide2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D1FEE0-8D53-45C6-A2B9-AA1DF24F7AC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What the report counts mean</a:t>
            </a:r>
          </a:p>
        </p:txBody>
      </p:sp>
      <p:sp>
        <p:nvSpPr>
          <p:cNvPr id="2" name="">
            <a:extLst xmlns:a="http://schemas.openxmlformats.org/drawingml/2006/main">
              <a:ext uri="{FF2B5EF4-FFF2-40B4-BE49-F238E27FC236}">
                <a16:creationId xmlns:a16="http://schemas.microsoft.com/office/drawing/2014/main" id="{3243DEFB-98D4-4D22-B995-A75ADF68BE2D}"/>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53941F71-42F7-4C0A-AFF2-622FDFC420E8}"/>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Business run</a:t>
            </a:r>
          </a:p>
        </p:txBody>
      </p:sp>
      <p:sp>
        <p:nvSpPr>
          <p:cNvPr id="4" name="">
            <a:extLst xmlns:a="http://schemas.openxmlformats.org/drawingml/2006/main">
              <a:ext uri="{FF2B5EF4-FFF2-40B4-BE49-F238E27FC236}">
                <a16:creationId xmlns:a16="http://schemas.microsoft.com/office/drawing/2014/main" id="{8D0C66F7-3A9D-494B-B3EC-2AE5F999EC5C}"/>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One configured stage validation execution. It can review many files.</a:t>
            </a:r>
          </a:p>
        </p:txBody>
      </p:sp>
      <p:sp>
        <p:nvSpPr>
          <p:cNvPr id="5" name="">
            <a:extLst xmlns:a="http://schemas.openxmlformats.org/drawingml/2006/main">
              <a:ext uri="{FF2B5EF4-FFF2-40B4-BE49-F238E27FC236}">
                <a16:creationId xmlns:a16="http://schemas.microsoft.com/office/drawing/2014/main" id="{FABADA21-8F6C-459B-9ED2-95B762C5B6CA}"/>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Validation</a:t>
            </a:r>
          </a:p>
        </p:txBody>
      </p:sp>
      <p:sp>
        <p:nvSpPr>
          <p:cNvPr id="6" name="">
            <a:extLst xmlns:a="http://schemas.openxmlformats.org/drawingml/2006/main">
              <a:ext uri="{FF2B5EF4-FFF2-40B4-BE49-F238E27FC236}">
                <a16:creationId xmlns:a16="http://schemas.microsoft.com/office/drawing/2014/main" id="{F8F63F1B-87FD-4519-8FB9-729E7D37619A}"/>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One recorded check, such as file discovery or one amount comparison.</a:t>
            </a:r>
          </a:p>
        </p:txBody>
      </p:sp>
      <p:sp>
        <p:nvSpPr>
          <p:cNvPr id="7" name="">
            <a:extLst xmlns:a="http://schemas.openxmlformats.org/drawingml/2006/main">
              <a:ext uri="{FF2B5EF4-FFF2-40B4-BE49-F238E27FC236}">
                <a16:creationId xmlns:a16="http://schemas.microsoft.com/office/drawing/2014/main" id="{13704E88-4318-4638-ACF1-5E4E93BF32C1}"/>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Pytest run</a:t>
            </a:r>
          </a:p>
        </p:txBody>
      </p:sp>
      <p:sp>
        <p:nvSpPr>
          <p:cNvPr id="8" name="">
            <a:extLst xmlns:a="http://schemas.openxmlformats.org/drawingml/2006/main">
              <a:ext uri="{FF2B5EF4-FFF2-40B4-BE49-F238E27FC236}">
                <a16:creationId xmlns:a16="http://schemas.microsoft.com/office/drawing/2014/main" id="{AFD62440-C7FD-4768-9F6F-3146C47A4F57}"/>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A software test session included in the report. Zero means none is included.</a:t>
            </a:r>
          </a:p>
        </p:txBody>
      </p:sp>
    </p:spTree>
    <p:extLst>
      <p:ext uri="{BB962C8B-B14F-4D97-AF65-F5344CB8AC3E}">
        <p14:creationId xmlns:p14="http://schemas.microsoft.com/office/powerpoint/2010/main" val="1926997295"/>
      </p:ext>
    </p:extLst>
  </p:cSld>
</p:sld>
</file>

<file path=ppt/slides/slide3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3754E1-0647-4628-BF75-510A703FF7CE}"/>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What the recorded totals mean</a:t>
            </a:r>
          </a:p>
        </p:txBody>
      </p:sp>
      <p:sp>
        <p:nvSpPr>
          <p:cNvPr id="2" name="">
            <a:extLst xmlns:a="http://schemas.openxmlformats.org/drawingml/2006/main">
              <a:ext uri="{FF2B5EF4-FFF2-40B4-BE49-F238E27FC236}">
                <a16:creationId xmlns:a16="http://schemas.microsoft.com/office/drawing/2014/main" id="{DC513808-B257-4E96-B192-F54DCE143039}"/>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AC9CC3B3-FF5E-4C8C-A319-878A63DBBE9E}"/>
              </a:ext>
            </a:extLst>
          </p:cNvPr>
          <p:cNvSpPr>
            <a:spLocks xmlns:a="http://schemas.openxmlformats.org/drawingml/2006/main" noGrp="1"/>
          </p:cNvSpPr>
          <p:nvPr/>
        </p:nvSpPr>
        <p:spPr>
          <a:xfrm xmlns:a="http://schemas.openxmlformats.org/drawingml/2006/main">
            <a:off x="666750" y="18097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900" b="1">
                <a:solidFill>
                  <a:srgbClr val="172B43"/>
                </a:solidFill>
                <a:latin typeface="Arial"/>
                <a:ea typeface="Arial"/>
                <a:cs typeface="Arial"/>
              </a:defRPr>
            </a:defPPr>
          </a:lstStyle>
          <a:p xmlns:a="http://schemas.openxmlformats.org/drawingml/2006/main">
            <a:pPr algn="l">
              <a:defRPr sz="6900" b="1">
                <a:solidFill>
                  <a:srgbClr val="172B43"/>
                </a:solidFill>
                <a:latin typeface="Arial"/>
                <a:ea typeface="Arial"/>
                <a:cs typeface="Arial"/>
              </a:defRPr>
            </a:pPr>
            <a:r>
              <a:rPr sz="6900" b="1">
                <a:solidFill>
                  <a:srgbClr val="172B43"/>
                </a:solidFill>
                <a:latin typeface="Arial"/>
                <a:ea typeface="Arial"/>
                <a:cs typeface="Arial"/>
              </a:rPr>
              <a:t>8,865</a:t>
            </a:r>
          </a:p>
        </p:txBody>
      </p:sp>
      <p:sp>
        <p:nvSpPr>
          <p:cNvPr id="4" name="">
            <a:extLst xmlns:a="http://schemas.openxmlformats.org/drawingml/2006/main">
              <a:ext uri="{FF2B5EF4-FFF2-40B4-BE49-F238E27FC236}">
                <a16:creationId xmlns:a16="http://schemas.microsoft.com/office/drawing/2014/main" id="{374A9E13-7CBA-4BF8-B5FB-782B71F19E52}"/>
              </a:ext>
            </a:extLst>
          </p:cNvPr>
          <p:cNvSpPr>
            <a:spLocks xmlns:a="http://schemas.openxmlformats.org/drawingml/2006/main" noGrp="1"/>
          </p:cNvSpPr>
          <p:nvPr/>
        </p:nvSpPr>
        <p:spPr>
          <a:xfrm xmlns:a="http://schemas.openxmlformats.org/drawingml/2006/main">
            <a:off x="695325" y="32099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597080"/>
                </a:solidFill>
                <a:latin typeface="Arial"/>
                <a:ea typeface="Arial"/>
                <a:cs typeface="Arial"/>
              </a:defRPr>
            </a:defPPr>
          </a:lstStyle>
          <a:p xmlns:a="http://schemas.openxmlformats.org/drawingml/2006/main">
            <a:pPr algn="l">
              <a:defRPr sz="2250" b="0">
                <a:solidFill>
                  <a:srgbClr val="597080"/>
                </a:solidFill>
                <a:latin typeface="Arial"/>
                <a:ea typeface="Arial"/>
                <a:cs typeface="Arial"/>
              </a:defRPr>
            </a:pPr>
            <a:r>
              <a:rPr sz="2250" b="0">
                <a:solidFill>
                  <a:srgbClr val="597080"/>
                </a:solidFill>
                <a:latin typeface="Arial"/>
                <a:ea typeface="Arial"/>
                <a:cs typeface="Arial"/>
              </a:rPr>
              <a:t>recorded checks</a:t>
            </a:r>
          </a:p>
        </p:txBody>
      </p:sp>
      <p:graphicFrame>
        <p:nvGraphicFramePr>
          <p:cNvPr id="5" name="Chart">
            <a:extLst xmlns:a="http://schemas.openxmlformats.org/drawingml/2006/main">
              <a:ext uri="{FF2B5EF4-FFF2-40B4-BE49-F238E27FC236}">
                <a16:creationId xmlns:a16="http://schemas.microsoft.com/office/drawing/2014/main" id="{FA741D4D-6FC1-47FA-9102-BA4D65090AE9}"/>
              </a:ext>
            </a:extLst>
          </p:cNvPr>
          <p:cNvGraphicFramePr/>
          <p:nvPr/>
        </p:nvGraphicFramePr>
        <p:xfrm>
          <a:off xmlns:a="http://schemas.openxmlformats.org/drawingml/2006/main" x="5219700" y="1838325"/>
          <a:ext xmlns:a="http://schemas.openxmlformats.org/drawingml/2006/main" cx="6191250" cy="3238500"/>
        </p:xfrm>
        <a:graphic xmlns:a="http://schemas.openxmlformats.org/drawingml/2006/main">
          <a:graphicData uri="http://schemas.openxmlformats.org/drawingml/2006/chart">
            <c:chart xmlns:r="http://schemas.openxmlformats.org/officeDocument/2006/relationships" xmlns:c="http://schemas.openxmlformats.org/drawingml/2006/chart" r:id="R376bf3d09fed44b5"/>
          </a:graphicData>
        </a:graphic>
      </p:graphicFrame>
      <p:sp>
        <p:nvSpPr>
          <p:cNvPr id="6" name="">
            <a:extLst xmlns:a="http://schemas.openxmlformats.org/drawingml/2006/main">
              <a:ext uri="{FF2B5EF4-FFF2-40B4-BE49-F238E27FC236}">
                <a16:creationId xmlns:a16="http://schemas.microsoft.com/office/drawing/2014/main" id="{49A30301-91E7-449B-8A83-1ECF8EB4A237}"/>
              </a:ext>
            </a:extLst>
          </p:cNvPr>
          <p:cNvSpPr>
            <a:spLocks xmlns:a="http://schemas.openxmlformats.org/drawingml/2006/main" noGrp="1"/>
          </p:cNvSpPr>
          <p:nvPr/>
        </p:nvSpPr>
        <p:spPr>
          <a:xfrm xmlns:a="http://schemas.openxmlformats.org/drawingml/2006/main">
            <a:off x="695325" y="4257675"/>
            <a:ext cx="4476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72B43"/>
                </a:solidFill>
                <a:latin typeface="Arial"/>
                <a:ea typeface="Arial"/>
                <a:cs typeface="Arial"/>
              </a:defRPr>
            </a:defPPr>
          </a:lstStyle>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4 business runs</a:t>
            </a:r>
          </a:p>
          <a:p xmlns:a="http://schemas.openxmlformats.org/drawingml/2006/main">
            <a:pPr algn="l">
              <a:defRPr sz="2100" b="0">
                <a:solidFill>
                  <a:srgbClr val="172B43"/>
                </a:solidFill>
                <a:latin typeface="Arial"/>
                <a:ea typeface="Arial"/>
                <a:cs typeface="Arial"/>
              </a:defRPr>
            </a:pPr>
            <a:r>
              <a:rPr sz="2100" b="0">
                <a:solidFill>
                  <a:srgbClr val="172B43"/>
                </a:solidFill>
                <a:latin typeface="Arial"/>
                <a:ea typeface="Arial"/>
                <a:cs typeface="Arial"/>
              </a:rPr>
              <a:t>0 pytest runs included in this session</a:t>
            </a:r>
          </a:p>
        </p:txBody>
      </p:sp>
      <p:sp>
        <p:nvSpPr>
          <p:cNvPr id="7" name="">
            <a:extLst xmlns:a="http://schemas.openxmlformats.org/drawingml/2006/main">
              <a:ext uri="{FF2B5EF4-FFF2-40B4-BE49-F238E27FC236}">
                <a16:creationId xmlns:a16="http://schemas.microsoft.com/office/drawing/2014/main" id="{641A660A-21B3-4D9B-8CC0-616429F8990B}"/>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Historical production baseline, 11 October 2026. Counts are checks, not unique issues.</a:t>
            </a:r>
          </a:p>
        </p:txBody>
      </p:sp>
    </p:spTree>
    <p:extLst>
      <p:ext uri="{BB962C8B-B14F-4D97-AF65-F5344CB8AC3E}">
        <p14:creationId xmlns:p14="http://schemas.microsoft.com/office/powerpoint/2010/main" val="1095553987"/>
      </p:ext>
    </p:extLst>
  </p:cSld>
</p:sld>
</file>

<file path=ppt/slides/slide3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0203B8F-8A28-4029-ACDB-0213BFC54F6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Production files and stage conclusions</a:t>
            </a:r>
          </a:p>
        </p:txBody>
      </p:sp>
      <p:sp>
        <p:nvSpPr>
          <p:cNvPr id="2" name="">
            <a:extLst xmlns:a="http://schemas.openxmlformats.org/drawingml/2006/main">
              <a:ext uri="{FF2B5EF4-FFF2-40B4-BE49-F238E27FC236}">
                <a16:creationId xmlns:a16="http://schemas.microsoft.com/office/drawing/2014/main" id="{5EC2DBF7-04D0-4B55-9533-E54B89EDB71A}"/>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31</a:t>
            </a:r>
          </a:p>
        </p:txBody>
      </p:sp>
      <p:graphicFrame>
        <p:nvGraphicFramePr>
          <p:cNvPr id="3" name="">
            <a:extLst xmlns:a="http://schemas.openxmlformats.org/drawingml/2006/main">
              <a:ext uri="{FF2B5EF4-FFF2-40B4-BE49-F238E27FC236}">
                <a16:creationId xmlns:a16="http://schemas.microsoft.com/office/drawing/2014/main" id="{0E9E51CC-FDF0-4F7B-804E-8E2A83253121}"/>
              </a:ext>
            </a:extLst>
          </p:cNvPr>
          <p:cNvGraphicFramePr/>
          <p:nvPr/>
        </p:nvGraphicFramePr>
        <p:xfrm>
          <a:off xmlns:a="http://schemas.openxmlformats.org/drawingml/2006/main" x="647700" y="1857375"/>
          <a:ext xmlns:a="http://schemas.openxmlformats.org/drawingml/2006/main" cx="10896600" cy="3771900"/>
        </p:xfrm>
        <a:graphic xmlns:a="http://schemas.openxmlformats.org/drawingml/2006/main">
          <a:graphicData uri="http://schemas.openxmlformats.org/drawingml/2006/table">
            <a:tbl>
              <a:tblPr/>
              <a:tblGrid>
                <a:gridCol w="2524125"/>
                <a:gridCol w="2762250"/>
                <a:gridCol w="5610225"/>
              </a:tblGrid>
              <a:tr h="628650">
                <a:tc>
                  <a:txBody>
                    <a:bodyPr/>
                    <a:lstStyle/>
                    <a:p>
                      <a:r>
                        <a:rPr sz="1800" b="1">
                          <a:solidFill>
                            <a:srgbClr val="FFFFFF"/>
                          </a:solidFill>
                          <a:latin typeface="Arial"/>
                          <a:ea typeface="Arial"/>
                          <a:cs typeface="Arial"/>
                        </a:rPr>
                        <a:t>Stage</a:t>
                      </a:r>
                    </a:p>
                  </a:txBody>
                  <a:tcPr marL="91440" marR="91440" marT="45720" marB="45720">
                    <a:solidFill>
                      <a:srgbClr val="172B43"/>
                    </a:solidFill>
                  </a:tcPr>
                </a:tc>
                <a:tc>
                  <a:txBody>
                    <a:bodyPr/>
                    <a:lstStyle/>
                    <a:p>
                      <a:r>
                        <a:rPr sz="1800" b="1">
                          <a:solidFill>
                            <a:srgbClr val="FFFFFF"/>
                          </a:solidFill>
                          <a:latin typeface="Arial"/>
                          <a:ea typeface="Arial"/>
                          <a:cs typeface="Arial"/>
                        </a:rPr>
                        <a:t>Source / actual files</a:t>
                      </a:r>
                    </a:p>
                  </a:txBody>
                  <a:tcPr marL="91440" marR="91440" marT="45720" marB="45720">
                    <a:solidFill>
                      <a:srgbClr val="172B43"/>
                    </a:solidFill>
                  </a:tcPr>
                </a:tc>
                <a:tc>
                  <a:txBody>
                    <a:bodyPr/>
                    <a:lstStyle/>
                    <a:p>
                      <a:r>
                        <a:rPr sz="1800" b="1">
                          <a:solidFill>
                            <a:srgbClr val="FFFFFF"/>
                          </a:solidFill>
                          <a:latin typeface="Arial"/>
                          <a:ea typeface="Arial"/>
                          <a:cs typeface="Arial"/>
                        </a:rPr>
                        <a:t>Why acceptance remains open</a:t>
                      </a:r>
                    </a:p>
                  </a:txBody>
                  <a:tcPr marL="91440" marR="91440" marT="45720" marB="45720">
                    <a:solidFill>
                      <a:srgbClr val="172B43"/>
                    </a:solidFill>
                  </a:tcPr>
                </a:tc>
              </a:tr>
              <a:tr h="628650">
                <a:tc>
                  <a:txBody>
                    <a:bodyPr/>
                    <a:lstStyle/>
                    <a:p>
                      <a:r>
                        <a:rPr sz="1800" b="0">
                          <a:solidFill>
                            <a:srgbClr val="172B43"/>
                          </a:solidFill>
                          <a:latin typeface="Arial"/>
                          <a:ea typeface="Arial"/>
                          <a:cs typeface="Arial"/>
                        </a:rPr>
                        <a:t>Final Action</a:t>
                      </a:r>
                    </a:p>
                  </a:txBody>
                  <a:tcPr marL="91440" marR="91440" marT="45720" marB="45720">
                    <a:solidFill>
                      <a:srgbClr val="FFFFFF"/>
                    </a:solidFill>
                  </a:tcPr>
                </a:tc>
                <a:tc>
                  <a:txBody>
                    <a:bodyPr/>
                    <a:lstStyle/>
                    <a:p>
                      <a:r>
                        <a:rPr sz="1800" b="0">
                          <a:solidFill>
                            <a:srgbClr val="172B43"/>
                          </a:solidFill>
                          <a:latin typeface="Arial"/>
                          <a:ea typeface="Arial"/>
                          <a:cs typeface="Arial"/>
                        </a:rPr>
                        <a:t>15 / 65</a:t>
                      </a:r>
                    </a:p>
                  </a:txBody>
                  <a:tcPr marL="91440" marR="91440" marT="45720" marB="45720">
                    <a:solidFill>
                      <a:srgbClr val="FFFFFF"/>
                    </a:solidFill>
                  </a:tcPr>
                </a:tc>
                <a:tc>
                  <a:txBody>
                    <a:bodyPr/>
                    <a:lstStyle/>
                    <a:p>
                      <a:r>
                        <a:rPr sz="1800" b="0">
                          <a:solidFill>
                            <a:srgbClr val="172B43"/>
                          </a:solidFill>
                          <a:latin typeface="Arial"/>
                          <a:ea typeface="Arial"/>
                          <a:cs typeface="Arial"/>
                        </a:rPr>
                        <a:t>Codes, ordering and retained-output findings</a:t>
                      </a:r>
                    </a:p>
                  </a:txBody>
                  <a:tcPr marL="91440" marR="91440" marT="45720" marB="45720">
                    <a:solidFill>
                      <a:srgbClr val="FFFFFF"/>
                    </a:solidFill>
                  </a:tcPr>
                </a:tc>
              </a:tr>
              <a:tr h="628650">
                <a:tc>
                  <a:txBody>
                    <a:bodyPr/>
                    <a:lstStyle/>
                    <a:p>
                      <a:r>
                        <a:rPr sz="1800" b="0">
                          <a:solidFill>
                            <a:srgbClr val="172B43"/>
                          </a:solidFill>
                          <a:latin typeface="Arial"/>
                          <a:ea typeface="Arial"/>
                          <a:cs typeface="Arial"/>
                        </a:rPr>
                        <a:t>Split</a:t>
                      </a:r>
                    </a:p>
                  </a:txBody>
                  <a:tcPr marL="91440" marR="91440" marT="45720" marB="45720">
                    <a:solidFill>
                      <a:srgbClr val="EAF0F4"/>
                    </a:solidFill>
                  </a:tcPr>
                </a:tc>
                <a:tc>
                  <a:txBody>
                    <a:bodyPr/>
                    <a:lstStyle/>
                    <a:p>
                      <a:r>
                        <a:rPr sz="1800" b="0">
                          <a:solidFill>
                            <a:srgbClr val="172B43"/>
                          </a:solidFill>
                          <a:latin typeface="Arial"/>
                          <a:ea typeface="Arial"/>
                          <a:cs typeface="Arial"/>
                        </a:rPr>
                        <a:t>65 / 12</a:t>
                      </a:r>
                    </a:p>
                  </a:txBody>
                  <a:tcPr marL="91440" marR="91440" marT="45720" marB="45720">
                    <a:solidFill>
                      <a:srgbClr val="EAF0F4"/>
                    </a:solidFill>
                  </a:tcPr>
                </a:tc>
                <a:tc>
                  <a:txBody>
                    <a:bodyPr/>
                    <a:lstStyle/>
                    <a:p>
                      <a:r>
                        <a:rPr sz="1800" b="0">
                          <a:solidFill>
                            <a:srgbClr val="172B43"/>
                          </a:solidFill>
                          <a:latin typeface="Arial"/>
                          <a:ea typeface="Arial"/>
                          <a:cs typeface="Arial"/>
                        </a:rPr>
                        <a:t>Codes, identities and year-indicator findings</a:t>
                      </a:r>
                    </a:p>
                  </a:txBody>
                  <a:tcPr marL="91440" marR="91440" marT="45720" marB="45720">
                    <a:solidFill>
                      <a:srgbClr val="EAF0F4"/>
                    </a:solidFill>
                  </a:tcPr>
                </a:tc>
              </a:tr>
              <a:tr h="628650">
                <a:tc>
                  <a:txBody>
                    <a:bodyPr/>
                    <a:lstStyle/>
                    <a:p>
                      <a:r>
                        <a:rPr sz="1800" b="0">
                          <a:solidFill>
                            <a:srgbClr val="172B43"/>
                          </a:solidFill>
                          <a:latin typeface="Arial"/>
                          <a:ea typeface="Arial"/>
                          <a:cs typeface="Arial"/>
                        </a:rPr>
                        <a:t>Stay</a:t>
                      </a:r>
                    </a:p>
                  </a:txBody>
                  <a:tcPr marL="91440" marR="91440" marT="45720" marB="45720">
                    <a:solidFill>
                      <a:srgbClr val="FFFFFF"/>
                    </a:solidFill>
                  </a:tcPr>
                </a:tc>
                <a:tc>
                  <a:txBody>
                    <a:bodyPr/>
                    <a:lstStyle/>
                    <a:p>
                      <a:r>
                        <a:rPr sz="1800" b="0">
                          <a:solidFill>
                            <a:srgbClr val="172B43"/>
                          </a:solidFill>
                          <a:latin typeface="Arial"/>
                          <a:ea typeface="Arial"/>
                          <a:cs typeface="Arial"/>
                        </a:rPr>
                        <a:t>12 / 83</a:t>
                      </a:r>
                    </a:p>
                  </a:txBody>
                  <a:tcPr marL="91440" marR="91440" marT="45720" marB="45720">
                    <a:solidFill>
                      <a:srgbClr val="FFFFFF"/>
                    </a:solidFill>
                  </a:tcPr>
                </a:tc>
                <a:tc>
                  <a:txBody>
                    <a:bodyPr/>
                    <a:lstStyle/>
                    <a:p>
                      <a:r>
                        <a:rPr sz="1800" b="0">
                          <a:solidFill>
                            <a:srgbClr val="172B43"/>
                          </a:solidFill>
                          <a:latin typeface="Arial"/>
                          <a:ea typeface="Arial"/>
                          <a:cs typeface="Arial"/>
                        </a:rPr>
                        <a:t>March inputs differ from May outputs</a:t>
                      </a:r>
                    </a:p>
                  </a:txBody>
                  <a:tcPr marL="91440" marR="91440" marT="45720" marB="45720">
                    <a:solidFill>
                      <a:srgbClr val="FFFFFF"/>
                    </a:solidFill>
                  </a:tcPr>
                </a:tc>
              </a:tr>
              <a:tr h="628650">
                <a:tc>
                  <a:txBody>
                    <a:bodyPr/>
                    <a:lstStyle/>
                    <a:p>
                      <a:r>
                        <a:rPr sz="1800" b="0">
                          <a:solidFill>
                            <a:srgbClr val="172B43"/>
                          </a:solidFill>
                          <a:latin typeface="Arial"/>
                          <a:ea typeface="Arial"/>
                          <a:cs typeface="Arial"/>
                        </a:rPr>
                        <a:t>Intermediate</a:t>
                      </a:r>
                    </a:p>
                  </a:txBody>
                  <a:tcPr marL="91440" marR="91440" marT="45720" marB="45720">
                    <a:solidFill>
                      <a:srgbClr val="EAF0F4"/>
                    </a:solidFill>
                  </a:tcPr>
                </a:tc>
                <a:tc>
                  <a:txBody>
                    <a:bodyPr/>
                    <a:lstStyle/>
                    <a:p>
                      <a:r>
                        <a:rPr sz="1800" b="0">
                          <a:solidFill>
                            <a:srgbClr val="172B43"/>
                          </a:solidFill>
                          <a:latin typeface="Arial"/>
                          <a:ea typeface="Arial"/>
                          <a:cs typeface="Arial"/>
                        </a:rPr>
                        <a:t>83 / 166</a:t>
                      </a:r>
                    </a:p>
                  </a:txBody>
                  <a:tcPr marL="91440" marR="91440" marT="45720" marB="45720">
                    <a:solidFill>
                      <a:srgbClr val="EAF0F4"/>
                    </a:solidFill>
                  </a:tcPr>
                </a:tc>
                <a:tc>
                  <a:txBody>
                    <a:bodyPr/>
                    <a:lstStyle/>
                    <a:p>
                      <a:r>
                        <a:rPr sz="1800" b="0">
                          <a:solidFill>
                            <a:srgbClr val="172B43"/>
                          </a:solidFill>
                          <a:latin typeface="Arial"/>
                          <a:ea typeface="Arial"/>
                          <a:cs typeface="Arial"/>
                        </a:rPr>
                        <a:t>Duplicate outputs prevent unique matching</a:t>
                      </a:r>
                    </a:p>
                  </a:txBody>
                  <a:tcPr marL="91440" marR="91440" marT="45720" marB="45720">
                    <a:solidFill>
                      <a:srgbClr val="EAF0F4"/>
                    </a:solidFill>
                  </a:tcPr>
                </a:tc>
              </a:tr>
              <a:tr h="628650">
                <a:tc>
                  <a:txBody>
                    <a:bodyPr/>
                    <a:lstStyle/>
                    <a:p>
                      <a:r>
                        <a:rPr sz="1800" b="0">
                          <a:solidFill>
                            <a:srgbClr val="172B43"/>
                          </a:solidFill>
                          <a:latin typeface="Arial"/>
                          <a:ea typeface="Arial"/>
                          <a:cs typeface="Arial"/>
                        </a:rPr>
                        <a:t>Final MEDPAR</a:t>
                      </a:r>
                    </a:p>
                  </a:txBody>
                  <a:tcPr marL="91440" marR="91440" marT="45720" marB="45720">
                    <a:solidFill>
                      <a:srgbClr val="FFFFFF"/>
                    </a:solidFill>
                  </a:tcPr>
                </a:tc>
                <a:tc>
                  <a:txBody>
                    <a:bodyPr/>
                    <a:lstStyle/>
                    <a:p>
                      <a:r>
                        <a:rPr sz="1800" b="0">
                          <a:solidFill>
                            <a:srgbClr val="172B43"/>
                          </a:solidFill>
                          <a:latin typeface="Arial"/>
                          <a:ea typeface="Arial"/>
                          <a:cs typeface="Arial"/>
                        </a:rPr>
                        <a:t>Not supplied</a:t>
                      </a:r>
                    </a:p>
                  </a:txBody>
                  <a:tcPr marL="91440" marR="91440" marT="45720" marB="45720">
                    <a:solidFill>
                      <a:srgbClr val="FFFFFF"/>
                    </a:solidFill>
                  </a:tcPr>
                </a:tc>
                <a:tc>
                  <a:txBody>
                    <a:bodyPr/>
                    <a:lstStyle/>
                    <a:p>
                      <a:r>
                        <a:rPr sz="1800" b="0">
                          <a:solidFill>
                            <a:srgbClr val="172B43"/>
                          </a:solidFill>
                          <a:latin typeface="Arial"/>
                          <a:ea typeface="Arial"/>
                          <a:cs typeface="Arial"/>
                        </a:rPr>
                        <a:t>Production stage not run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34019160"/>
      </p:ext>
    </p:extLst>
  </p:cSld>
</p:sld>
</file>

<file path=ppt/slides/slide3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D5B001-83B2-4E87-B466-7C5010BE135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Software tests and production acceptance</a:t>
            </a:r>
          </a:p>
        </p:txBody>
      </p:sp>
      <p:sp>
        <p:nvSpPr>
          <p:cNvPr id="2" name="">
            <a:extLst xmlns:a="http://schemas.openxmlformats.org/drawingml/2006/main">
              <a:ext uri="{FF2B5EF4-FFF2-40B4-BE49-F238E27FC236}">
                <a16:creationId xmlns:a16="http://schemas.microsoft.com/office/drawing/2014/main" id="{5FFC55B0-857C-49D4-B17D-DD2B76B43C58}"/>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385DE413-69DC-4D5C-AFCE-2612E3933DAD}"/>
              </a:ext>
            </a:extLst>
          </p:cNvPr>
          <p:cNvSpPr>
            <a:spLocks xmlns:a="http://schemas.openxmlformats.org/drawingml/2006/main" noGrp="1"/>
          </p:cNvSpPr>
          <p:nvPr/>
        </p:nvSpPr>
        <p:spPr>
          <a:xfrm xmlns:a="http://schemas.openxmlformats.org/drawingml/2006/main">
            <a:off x="647700" y="1895475"/>
            <a:ext cx="4714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100" b="1">
                <a:solidFill>
                  <a:srgbClr val="087D66"/>
                </a:solidFill>
                <a:latin typeface="Arial"/>
                <a:ea typeface="Arial"/>
                <a:cs typeface="Arial"/>
              </a:defRPr>
            </a:defPPr>
          </a:lstStyle>
          <a:p xmlns:a="http://schemas.openxmlformats.org/drawingml/2006/main">
            <a:pPr algn="l">
              <a:defRPr sz="8100" b="1">
                <a:solidFill>
                  <a:srgbClr val="087D66"/>
                </a:solidFill>
                <a:latin typeface="Arial"/>
                <a:ea typeface="Arial"/>
                <a:cs typeface="Arial"/>
              </a:defRPr>
            </a:pPr>
            <a:r>
              <a:rPr sz="8100" b="1">
                <a:solidFill>
                  <a:srgbClr val="087D66"/>
                </a:solidFill>
                <a:latin typeface="Arial"/>
                <a:ea typeface="Arial"/>
                <a:cs typeface="Arial"/>
              </a:rPr>
              <a:t>257</a:t>
            </a:r>
          </a:p>
        </p:txBody>
      </p:sp>
      <p:sp>
        <p:nvSpPr>
          <p:cNvPr id="4" name="">
            <a:extLst xmlns:a="http://schemas.openxmlformats.org/drawingml/2006/main">
              <a:ext uri="{FF2B5EF4-FFF2-40B4-BE49-F238E27FC236}">
                <a16:creationId xmlns:a16="http://schemas.microsoft.com/office/drawing/2014/main" id="{988F8792-0A1C-44CB-9D96-DE0D79E9E4A1}"/>
              </a:ext>
            </a:extLst>
          </p:cNvPr>
          <p:cNvSpPr>
            <a:spLocks xmlns:a="http://schemas.openxmlformats.org/drawingml/2006/main" noGrp="1"/>
          </p:cNvSpPr>
          <p:nvPr/>
        </p:nvSpPr>
        <p:spPr>
          <a:xfrm xmlns:a="http://schemas.openxmlformats.org/drawingml/2006/main">
            <a:off x="666750" y="3495675"/>
            <a:ext cx="4714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72B43"/>
                </a:solidFill>
                <a:latin typeface="Arial"/>
                <a:ea typeface="Arial"/>
                <a:cs typeface="Arial"/>
              </a:defRPr>
            </a:defPPr>
          </a:lstStyle>
          <a:p xmlns:a="http://schemas.openxmlformats.org/drawingml/2006/main">
            <a:pPr algn="l">
              <a:defRPr sz="2550" b="1">
                <a:solidFill>
                  <a:srgbClr val="172B43"/>
                </a:solidFill>
                <a:latin typeface="Arial"/>
                <a:ea typeface="Arial"/>
                <a:cs typeface="Arial"/>
              </a:defRPr>
            </a:pPr>
            <a:r>
              <a:rPr sz="2550" b="1">
                <a:solidFill>
                  <a:srgbClr val="172B43"/>
                </a:solidFill>
                <a:latin typeface="Arial"/>
                <a:ea typeface="Arial"/>
                <a:cs typeface="Arial"/>
              </a:rPr>
              <a:t>automated tests passed</a:t>
            </a:r>
          </a:p>
        </p:txBody>
      </p:sp>
      <p:sp>
        <p:nvSpPr>
          <p:cNvPr id="5" name="">
            <a:extLst xmlns:a="http://schemas.openxmlformats.org/drawingml/2006/main">
              <a:ext uri="{FF2B5EF4-FFF2-40B4-BE49-F238E27FC236}">
                <a16:creationId xmlns:a16="http://schemas.microsoft.com/office/drawing/2014/main" id="{B122376D-082B-4DA0-B9E9-814DD4BA1A3F}"/>
              </a:ext>
            </a:extLst>
          </p:cNvPr>
          <p:cNvSpPr>
            <a:spLocks xmlns:a="http://schemas.openxmlformats.org/drawingml/2006/main" noGrp="1"/>
          </p:cNvSpPr>
          <p:nvPr/>
        </p:nvSpPr>
        <p:spPr>
          <a:xfrm xmlns:a="http://schemas.openxmlformats.org/drawingml/2006/main">
            <a:off x="6581775" y="20193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B66A10"/>
                </a:solidFill>
                <a:latin typeface="Arial"/>
                <a:ea typeface="Arial"/>
                <a:cs typeface="Arial"/>
              </a:defRPr>
            </a:defPPr>
          </a:lstStyle>
          <a:p xmlns:a="http://schemas.openxmlformats.org/drawingml/2006/main">
            <a:pPr algn="l">
              <a:defRPr sz="3225" b="1">
                <a:solidFill>
                  <a:srgbClr val="B66A10"/>
                </a:solidFill>
                <a:latin typeface="Arial"/>
                <a:ea typeface="Arial"/>
                <a:cs typeface="Arial"/>
              </a:defRPr>
            </a:pPr>
            <a:r>
              <a:rPr sz="3225" b="1">
                <a:solidFill>
                  <a:srgbClr val="B66A10"/>
                </a:solidFill>
                <a:latin typeface="Arial"/>
                <a:ea typeface="Arial"/>
                <a:cs typeface="Arial"/>
              </a:rPr>
              <a:t>Production acceptance</a:t>
            </a:r>
          </a:p>
          <a:p xmlns:a="http://schemas.openxmlformats.org/drawingml/2006/main">
            <a:pPr algn="l">
              <a:defRPr sz="3225" b="1">
                <a:solidFill>
                  <a:srgbClr val="B66A10"/>
                </a:solidFill>
                <a:latin typeface="Arial"/>
                <a:ea typeface="Arial"/>
                <a:cs typeface="Arial"/>
              </a:defRPr>
            </a:pPr>
            <a:r>
              <a:rPr sz="3225" b="1">
                <a:solidFill>
                  <a:srgbClr val="B66A10"/>
                </a:solidFill>
                <a:latin typeface="Arial"/>
                <a:ea typeface="Arial"/>
                <a:cs typeface="Arial"/>
              </a:rPr>
              <a:t>remains open</a:t>
            </a:r>
          </a:p>
        </p:txBody>
      </p:sp>
      <p:sp>
        <p:nvSpPr>
          <p:cNvPr id="6" name="">
            <a:extLst xmlns:a="http://schemas.openxmlformats.org/drawingml/2006/main">
              <a:ext uri="{FF2B5EF4-FFF2-40B4-BE49-F238E27FC236}">
                <a16:creationId xmlns:a16="http://schemas.microsoft.com/office/drawing/2014/main" id="{7CDC7EAC-EBC2-4C1C-BD10-19602C8E0648}"/>
              </a:ext>
            </a:extLst>
          </p:cNvPr>
          <p:cNvSpPr>
            <a:spLocks xmlns:a="http://schemas.openxmlformats.org/drawingml/2006/main" noGrp="1"/>
          </p:cNvSpPr>
          <p:nvPr/>
        </p:nvSpPr>
        <p:spPr>
          <a:xfrm xmlns:a="http://schemas.openxmlformats.org/drawingml/2006/main">
            <a:off x="6591300" y="3952875"/>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2B43"/>
                </a:solidFill>
                <a:latin typeface="Arial"/>
                <a:ea typeface="Arial"/>
                <a:cs typeface="Arial"/>
              </a:defRPr>
            </a:defPPr>
          </a:lstStyle>
          <a:p xmlns:a="http://schemas.openxmlformats.org/drawingml/2006/main">
            <a:pPr algn="l">
              <a:defRPr sz="2175" b="0">
                <a:solidFill>
                  <a:srgbClr val="172B43"/>
                </a:solidFill>
                <a:latin typeface="Arial"/>
                <a:ea typeface="Arial"/>
                <a:cs typeface="Arial"/>
              </a:defRPr>
            </a:pPr>
            <a:r>
              <a:rPr sz="2175" b="0">
                <a:solidFill>
                  <a:srgbClr val="172B43"/>
                </a:solidFill>
                <a:latin typeface="Arial"/>
                <a:ea typeface="Arial"/>
                <a:cs typeface="Arial"/>
              </a:rPr>
              <a:t>The production report still contains discrepancies and missing evidence.</a:t>
            </a:r>
          </a:p>
        </p:txBody>
      </p:sp>
      <p:sp>
        <p:nvSpPr>
          <p:cNvPr id="7" name="">
            <a:extLst xmlns:a="http://schemas.openxmlformats.org/drawingml/2006/main">
              <a:ext uri="{FF2B5EF4-FFF2-40B4-BE49-F238E27FC236}">
                <a16:creationId xmlns:a16="http://schemas.microsoft.com/office/drawing/2014/main" id="{1C293D56-CDC9-4B10-8E99-B16CE6B77EA7}"/>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Recorded verification on 11 October 2026. Passing tests prove the tested scenarios, not complete production approval.</a:t>
            </a:r>
          </a:p>
        </p:txBody>
      </p:sp>
    </p:spTree>
    <p:extLst>
      <p:ext uri="{BB962C8B-B14F-4D97-AF65-F5344CB8AC3E}">
        <p14:creationId xmlns:p14="http://schemas.microsoft.com/office/powerpoint/2010/main" val="1800086634"/>
      </p:ext>
    </p:extLst>
  </p:cSld>
</p:sld>
</file>

<file path=ppt/slides/slide3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0080BF-0421-46A7-8978-D719C6AC5293}"/>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What is needed to close the remaining gaps</a:t>
            </a:r>
          </a:p>
        </p:txBody>
      </p:sp>
      <p:sp>
        <p:nvSpPr>
          <p:cNvPr id="2" name="">
            <a:extLst xmlns:a="http://schemas.openxmlformats.org/drawingml/2006/main">
              <a:ext uri="{FF2B5EF4-FFF2-40B4-BE49-F238E27FC236}">
                <a16:creationId xmlns:a16="http://schemas.microsoft.com/office/drawing/2014/main" id="{F129036C-F1E6-400D-BCB8-44A60DDAFF8D}"/>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59DB1787-96FF-4407-8AF1-5D0EBBA96D5B}"/>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Matched production files</a:t>
            </a:r>
          </a:p>
        </p:txBody>
      </p:sp>
      <p:sp>
        <p:nvSpPr>
          <p:cNvPr id="4" name="">
            <a:extLst xmlns:a="http://schemas.openxmlformats.org/drawingml/2006/main">
              <a:ext uri="{FF2B5EF4-FFF2-40B4-BE49-F238E27FC236}">
                <a16:creationId xmlns:a16="http://schemas.microsoft.com/office/drawing/2014/main" id="{5DB05457-D373-4313-9B68-E38EB0AD87B5}"/>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Use the same processing cycle and provide unique outputs, including Final MEDPAR.</a:t>
            </a:r>
          </a:p>
        </p:txBody>
      </p:sp>
      <p:sp>
        <p:nvSpPr>
          <p:cNvPr id="5" name="">
            <a:extLst xmlns:a="http://schemas.openxmlformats.org/drawingml/2006/main">
              <a:ext uri="{FF2B5EF4-FFF2-40B4-BE49-F238E27FC236}">
                <a16:creationId xmlns:a16="http://schemas.microsoft.com/office/drawing/2014/main" id="{07DC2244-C475-492B-94E1-A657CB846201}"/>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Approved business inputs</a:t>
            </a:r>
          </a:p>
        </p:txBody>
      </p:sp>
      <p:sp>
        <p:nvSpPr>
          <p:cNvPr id="6" name="">
            <a:extLst xmlns:a="http://schemas.openxmlformats.org/drawingml/2006/main">
              <a:ext uri="{FF2B5EF4-FFF2-40B4-BE49-F238E27FC236}">
                <a16:creationId xmlns:a16="http://schemas.microsoft.com/office/drawing/2014/main" id="{D32714EA-5B7E-4656-B725-500CB58C9BB9}"/>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Provide copybooks, mapping tables, trusted reference feeds and golden outputs.</a:t>
            </a:r>
          </a:p>
        </p:txBody>
      </p:sp>
      <p:sp>
        <p:nvSpPr>
          <p:cNvPr id="7" name="">
            <a:extLst xmlns:a="http://schemas.openxmlformats.org/drawingml/2006/main">
              <a:ext uri="{FF2B5EF4-FFF2-40B4-BE49-F238E27FC236}">
                <a16:creationId xmlns:a16="http://schemas.microsoft.com/office/drawing/2014/main" id="{3D5BE2D8-70CA-4E54-B82F-3F6556EBF20C}"/>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A verified rerun</a:t>
            </a:r>
          </a:p>
        </p:txBody>
      </p:sp>
      <p:sp>
        <p:nvSpPr>
          <p:cNvPr id="8" name="">
            <a:extLst xmlns:a="http://schemas.openxmlformats.org/drawingml/2006/main">
              <a:ext uri="{FF2B5EF4-FFF2-40B4-BE49-F238E27FC236}">
                <a16:creationId xmlns:a16="http://schemas.microsoft.com/office/drawing/2014/main" id="{0384AB0C-5087-4F1B-82C5-5162644EEEFF}"/>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Apply approved decisions, review the new evidence and record acceptance.</a:t>
            </a:r>
          </a:p>
        </p:txBody>
      </p:sp>
    </p:spTree>
    <p:extLst>
      <p:ext uri="{BB962C8B-B14F-4D97-AF65-F5344CB8AC3E}">
        <p14:creationId xmlns:p14="http://schemas.microsoft.com/office/powerpoint/2010/main" val="749250736"/>
      </p:ext>
    </p:extLst>
  </p:cSld>
</p:sld>
</file>

<file path=ppt/slides/slide3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93B220-CA5D-4F07-A5E8-8F63386950CF}"/>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Demonstration sequence for the meeting</a:t>
            </a:r>
          </a:p>
        </p:txBody>
      </p:sp>
      <p:sp>
        <p:nvSpPr>
          <p:cNvPr id="2" name="">
            <a:extLst xmlns:a="http://schemas.openxmlformats.org/drawingml/2006/main">
              <a:ext uri="{FF2B5EF4-FFF2-40B4-BE49-F238E27FC236}">
                <a16:creationId xmlns:a16="http://schemas.microsoft.com/office/drawing/2014/main" id="{ECBB33AE-7E7E-4D58-9495-B44552EE66EB}"/>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2BF4DA52-4BD3-477A-96BE-091A7A748829}"/>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Show the stage journey</a:t>
            </a:r>
          </a:p>
        </p:txBody>
      </p:sp>
      <p:sp>
        <p:nvSpPr>
          <p:cNvPr id="4" name="">
            <a:extLst xmlns:a="http://schemas.openxmlformats.org/drawingml/2006/main">
              <a:ext uri="{FF2B5EF4-FFF2-40B4-BE49-F238E27FC236}">
                <a16:creationId xmlns:a16="http://schemas.microsoft.com/office/drawing/2014/main" id="{726D4482-4C32-4C95-AD88-621807EF704E}"/>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Explain input, rule and output using the examples in this deck.</a:t>
            </a:r>
          </a:p>
        </p:txBody>
      </p:sp>
      <p:sp>
        <p:nvSpPr>
          <p:cNvPr id="5" name="">
            <a:extLst xmlns:a="http://schemas.openxmlformats.org/drawingml/2006/main">
              <a:ext uri="{FF2B5EF4-FFF2-40B4-BE49-F238E27FC236}">
                <a16:creationId xmlns:a16="http://schemas.microsoft.com/office/drawing/2014/main" id="{781A044E-E491-4734-87B5-F11062FDB9EE}"/>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Open the live report</a:t>
            </a:r>
          </a:p>
        </p:txBody>
      </p:sp>
      <p:sp>
        <p:nvSpPr>
          <p:cNvPr id="6" name="">
            <a:extLst xmlns:a="http://schemas.openxmlformats.org/drawingml/2006/main">
              <a:ext uri="{FF2B5EF4-FFF2-40B4-BE49-F238E27FC236}">
                <a16:creationId xmlns:a16="http://schemas.microsoft.com/office/drawing/2014/main" id="{04D551C5-5C76-4F37-86CE-1E586D0B3F8A}"/>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Choose a stage, search a file and open a rule explanation.</a:t>
            </a:r>
          </a:p>
        </p:txBody>
      </p:sp>
      <p:sp>
        <p:nvSpPr>
          <p:cNvPr id="7" name="">
            <a:extLst xmlns:a="http://schemas.openxmlformats.org/drawingml/2006/main">
              <a:ext uri="{FF2B5EF4-FFF2-40B4-BE49-F238E27FC236}">
                <a16:creationId xmlns:a16="http://schemas.microsoft.com/office/drawing/2014/main" id="{88DD39E0-B775-4817-BCF4-108159EEFB2E}"/>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Trace one check to code</a:t>
            </a:r>
          </a:p>
        </p:txBody>
      </p:sp>
      <p:sp>
        <p:nvSpPr>
          <p:cNvPr id="8" name="">
            <a:extLst xmlns:a="http://schemas.openxmlformats.org/drawingml/2006/main">
              <a:ext uri="{FF2B5EF4-FFF2-40B4-BE49-F238E27FC236}">
                <a16:creationId xmlns:a16="http://schemas.microsoft.com/office/drawing/2014/main" id="{9BE9F103-FEFE-4062-8DD7-5A37307A07D8}"/>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Open the validator and its test, then show the final conclusion.</a:t>
            </a:r>
          </a:p>
        </p:txBody>
      </p:sp>
    </p:spTree>
    <p:extLst>
      <p:ext uri="{BB962C8B-B14F-4D97-AF65-F5344CB8AC3E}">
        <p14:creationId xmlns:p14="http://schemas.microsoft.com/office/powerpoint/2010/main" val="1282677782"/>
      </p:ext>
    </p:extLst>
  </p:cSld>
</p:sld>
</file>

<file path=ppt/slides/slide3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1DB54F-B7EB-4671-A8CE-9CF9EAD3B23F}"/>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E2FE3CC4-CAA9-4D32-974C-A542208B9B3C}"/>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11B1FB8A-7758-4143-A098-AFD4AC91F3CB}"/>
              </a:ext>
            </a:extLst>
          </p:cNvPr>
          <p:cNvSpPr>
            <a:spLocks xmlns:a="http://schemas.openxmlformats.org/drawingml/2006/main" noGrp="1"/>
          </p:cNvSpPr>
          <p:nvPr/>
        </p:nvSpPr>
        <p:spPr>
          <a:xfrm xmlns:a="http://schemas.openxmlformats.org/drawingml/2006/main">
            <a:off x="647700" y="1933575"/>
            <a:ext cx="10572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75" b="1">
                <a:solidFill>
                  <a:srgbClr val="172B43"/>
                </a:solidFill>
                <a:latin typeface="Arial"/>
                <a:ea typeface="Arial"/>
                <a:cs typeface="Arial"/>
              </a:defRPr>
            </a:defPPr>
          </a:lstStyle>
          <a:p xmlns:a="http://schemas.openxmlformats.org/drawingml/2006/main">
            <a:pPr algn="l">
              <a:defRPr sz="3675" b="1">
                <a:solidFill>
                  <a:srgbClr val="172B43"/>
                </a:solidFill>
                <a:latin typeface="Arial"/>
                <a:ea typeface="Arial"/>
                <a:cs typeface="Arial"/>
              </a:defRPr>
            </a:pPr>
            <a:r>
              <a:rPr sz="3675" b="1">
                <a:solidFill>
                  <a:srgbClr val="172B43"/>
                </a:solidFill>
                <a:latin typeface="Arial"/>
                <a:ea typeface="Arial"/>
                <a:cs typeface="Arial"/>
              </a:rPr>
              <a:t>The framework checks each stage</a:t>
            </a:r>
          </a:p>
          <a:p xmlns:a="http://schemas.openxmlformats.org/drawingml/2006/main">
            <a:pPr algn="l">
              <a:defRPr sz="3675" b="1">
                <a:solidFill>
                  <a:srgbClr val="172B43"/>
                </a:solidFill>
                <a:latin typeface="Arial"/>
                <a:ea typeface="Arial"/>
                <a:cs typeface="Arial"/>
              </a:defRPr>
            </a:pPr>
            <a:r>
              <a:rPr sz="3675" b="1">
                <a:solidFill>
                  <a:srgbClr val="172B43"/>
                </a:solidFill>
                <a:latin typeface="Arial"/>
                <a:ea typeface="Arial"/>
                <a:cs typeface="Arial"/>
              </a:rPr>
              <a:t>and explains every recorded result.</a:t>
            </a:r>
          </a:p>
        </p:txBody>
      </p:sp>
      <p:sp>
        <p:nvSpPr>
          <p:cNvPr id="4" name="">
            <a:extLst xmlns:a="http://schemas.openxmlformats.org/drawingml/2006/main">
              <a:ext uri="{FF2B5EF4-FFF2-40B4-BE49-F238E27FC236}">
                <a16:creationId xmlns:a16="http://schemas.microsoft.com/office/drawing/2014/main" id="{E3FDCCE3-D241-481C-AFF0-DF62C13F8B67}"/>
              </a:ext>
            </a:extLst>
          </p:cNvPr>
          <p:cNvSpPr>
            <a:spLocks xmlns:a="http://schemas.openxmlformats.org/drawingml/2006/main" noGrp="1"/>
          </p:cNvSpPr>
          <p:nvPr/>
        </p:nvSpPr>
        <p:spPr>
          <a:xfrm xmlns:a="http://schemas.openxmlformats.org/drawingml/2006/main">
            <a:off x="666750" y="4000500"/>
            <a:ext cx="10477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75" b="0">
                <a:solidFill>
                  <a:srgbClr val="597080"/>
                </a:solidFill>
                <a:latin typeface="Arial"/>
                <a:ea typeface="Arial"/>
                <a:cs typeface="Arial"/>
              </a:defRPr>
            </a:defPPr>
          </a:lstStyle>
          <a:p xmlns:a="http://schemas.openxmlformats.org/drawingml/2006/main">
            <a:pPr algn="l">
              <a:defRPr sz="2475" b="0">
                <a:solidFill>
                  <a:srgbClr val="597080"/>
                </a:solidFill>
                <a:latin typeface="Arial"/>
                <a:ea typeface="Arial"/>
                <a:cs typeface="Arial"/>
              </a:defRPr>
            </a:pPr>
            <a:r>
              <a:rPr sz="2475" b="0">
                <a:solidFill>
                  <a:srgbClr val="597080"/>
                </a:solidFill>
                <a:latin typeface="Arial"/>
                <a:ea typeface="Arial"/>
                <a:cs typeface="Arial"/>
              </a:rPr>
              <a:t>The team can trace a finding to its input file,</a:t>
            </a:r>
          </a:p>
          <a:p xmlns:a="http://schemas.openxmlformats.org/drawingml/2006/main">
            <a:pPr algn="l">
              <a:defRPr sz="2475" b="0">
                <a:solidFill>
                  <a:srgbClr val="597080"/>
                </a:solidFill>
                <a:latin typeface="Arial"/>
                <a:ea typeface="Arial"/>
                <a:cs typeface="Arial"/>
              </a:defRPr>
            </a:pPr>
            <a:r>
              <a:rPr sz="2475" b="0">
                <a:solidFill>
                  <a:srgbClr val="597080"/>
                </a:solidFill>
                <a:latin typeface="Arial"/>
                <a:ea typeface="Arial"/>
                <a:cs typeface="Arial"/>
              </a:rPr>
              <a:t>business rule, calculation and Python validator.</a:t>
            </a:r>
          </a:p>
        </p:txBody>
      </p:sp>
      <p:sp>
        <p:nvSpPr>
          <p:cNvPr id="5" name="">
            <a:extLst xmlns:a="http://schemas.openxmlformats.org/drawingml/2006/main">
              <a:ext uri="{FF2B5EF4-FFF2-40B4-BE49-F238E27FC236}">
                <a16:creationId xmlns:a16="http://schemas.microsoft.com/office/drawing/2014/main" id="{8C9E60ED-901F-402B-AB96-6BE85E471086}"/>
              </a:ext>
            </a:extLst>
          </p:cNvPr>
          <p:cNvSpPr>
            <a:spLocks xmlns:a="http://schemas.openxmlformats.org/drawingml/2006/main" noGrp="1"/>
          </p:cNvSpPr>
          <p:nvPr/>
        </p:nvSpPr>
        <p:spPr>
          <a:xfrm xmlns:a="http://schemas.openxmlformats.org/drawingml/2006/main">
            <a:off x="64770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597080"/>
                </a:solidFill>
                <a:latin typeface="Arial"/>
                <a:ea typeface="Arial"/>
                <a:cs typeface="Arial"/>
              </a:defRPr>
            </a:defPPr>
          </a:lstStyle>
          <a:p xmlns:a="http://schemas.openxmlformats.org/drawingml/2006/main">
            <a:pPr algn="l">
              <a:defRPr sz="1575" b="0">
                <a:solidFill>
                  <a:srgbClr val="597080"/>
                </a:solidFill>
                <a:latin typeface="Arial"/>
                <a:ea typeface="Arial"/>
                <a:cs typeface="Arial"/>
              </a:defRPr>
            </a:pPr>
            <a:r>
              <a:rPr sz="1575" b="0">
                <a:solidFill>
                  <a:srgbClr val="597080"/>
                </a:solidFill>
                <a:latin typeface="Arial"/>
                <a:ea typeface="Arial"/>
                <a:cs typeface="Arial"/>
              </a:rPr>
              <a:t>Production acceptance follows resolution of the recorded findings and review of approved evidence.</a:t>
            </a:r>
          </a:p>
        </p:txBody>
      </p:sp>
    </p:spTree>
    <p:extLst>
      <p:ext uri="{BB962C8B-B14F-4D97-AF65-F5344CB8AC3E}">
        <p14:creationId xmlns:p14="http://schemas.microsoft.com/office/powerpoint/2010/main" val="2135492670"/>
      </p:ext>
    </p:extLst>
  </p:cSld>
</p:sld>
</file>

<file path=ppt/slides/slide36.xml><?xml version="1.0" encoding="utf-8"?>
<p:sld xmlns:p="http://schemas.openxmlformats.org/presentationml/2006/main">
  <p:cSld>
    <p:bg>
      <p:bgPr>
        <a:solidFill xmlns:a="http://schemas.openxmlformats.org/drawingml/2006/main">
          <a:srgbClr val="172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62934E-3823-4F1F-85E6-4B56A70F6B9B}"/>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Detailed rule reference</a:t>
            </a:r>
          </a:p>
        </p:txBody>
      </p:sp>
      <p:sp>
        <p:nvSpPr>
          <p:cNvPr id="2" name="">
            <a:extLst xmlns:a="http://schemas.openxmlformats.org/drawingml/2006/main">
              <a:ext uri="{FF2B5EF4-FFF2-40B4-BE49-F238E27FC236}">
                <a16:creationId xmlns:a16="http://schemas.microsoft.com/office/drawing/2014/main" id="{D7E4AE5A-28DC-43FB-A632-F84CB27A74E9}"/>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9FB4CB"/>
                </a:solidFill>
                <a:latin typeface="Arial"/>
                <a:ea typeface="Arial"/>
                <a:cs typeface="Arial"/>
              </a:defRPr>
            </a:defPPr>
          </a:lstStyle>
          <a:p xmlns:a="http://schemas.openxmlformats.org/drawingml/2006/main">
            <a:pPr algn="l">
              <a:defRPr sz="1200" b="0">
                <a:solidFill>
                  <a:srgbClr val="9FB4CB"/>
                </a:solidFill>
                <a:latin typeface="Arial"/>
                <a:ea typeface="Arial"/>
                <a:cs typeface="Arial"/>
              </a:defRPr>
            </a:pPr>
            <a:r>
              <a:rPr sz="1200" b="0">
                <a:solidFill>
                  <a:srgbClr val="9FB4CB"/>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931DE5B7-E2F7-4D16-B393-55F04A02384F}"/>
              </a:ext>
            </a:extLst>
          </p:cNvPr>
          <p:cNvSpPr>
            <a:spLocks xmlns:a="http://schemas.openxmlformats.org/drawingml/2006/main" noGrp="1"/>
          </p:cNvSpPr>
          <p:nvPr/>
        </p:nvSpPr>
        <p:spPr>
          <a:xfrm xmlns:a="http://schemas.openxmlformats.org/drawingml/2006/main">
            <a:off x="647700" y="20859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FFFFFF"/>
                </a:solidFill>
                <a:latin typeface="Arial"/>
                <a:ea typeface="Arial"/>
                <a:cs typeface="Arial"/>
              </a:defRPr>
            </a:defPPr>
          </a:lstStyle>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Stage conditions and calculations</a:t>
            </a:r>
          </a:p>
        </p:txBody>
      </p:sp>
      <p:sp>
        <p:nvSpPr>
          <p:cNvPr id="4" name="">
            <a:extLst xmlns:a="http://schemas.openxmlformats.org/drawingml/2006/main">
              <a:ext uri="{FF2B5EF4-FFF2-40B4-BE49-F238E27FC236}">
                <a16:creationId xmlns:a16="http://schemas.microsoft.com/office/drawing/2014/main" id="{23966F38-6EC4-4A26-A5E5-C34962D84E73}"/>
              </a:ext>
            </a:extLst>
          </p:cNvPr>
          <p:cNvSpPr>
            <a:spLocks xmlns:a="http://schemas.openxmlformats.org/drawingml/2006/main" noGrp="1"/>
          </p:cNvSpPr>
          <p:nvPr/>
        </p:nvSpPr>
        <p:spPr>
          <a:xfrm xmlns:a="http://schemas.openxmlformats.org/drawingml/2006/main">
            <a:off x="676275" y="3914775"/>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C7D8EA"/>
                </a:solidFill>
                <a:latin typeface="Arial"/>
                <a:ea typeface="Arial"/>
                <a:cs typeface="Arial"/>
              </a:defRPr>
            </a:defPPr>
          </a:lstStyle>
          <a:p xmlns:a="http://schemas.openxmlformats.org/drawingml/2006/main">
            <a:pPr algn="l">
              <a:defRPr sz="2400" b="0">
                <a:solidFill>
                  <a:srgbClr val="C7D8EA"/>
                </a:solidFill>
                <a:latin typeface="Arial"/>
                <a:ea typeface="Arial"/>
                <a:cs typeface="Arial"/>
              </a:defRPr>
            </a:pPr>
            <a:r>
              <a:rPr sz="2400" b="0">
                <a:solidFill>
                  <a:srgbClr val="C7D8EA"/>
                </a:solidFill>
                <a:latin typeface="Arial"/>
                <a:ea typeface="Arial"/>
                <a:cs typeface="Arial"/>
              </a:rPr>
              <a:t>Final Action decisions</a:t>
            </a:r>
          </a:p>
          <a:p xmlns:a="http://schemas.openxmlformats.org/drawingml/2006/main">
            <a:pPr algn="l">
              <a:defRPr sz="2400" b="0">
                <a:solidFill>
                  <a:srgbClr val="C7D8EA"/>
                </a:solidFill>
                <a:latin typeface="Arial"/>
                <a:ea typeface="Arial"/>
                <a:cs typeface="Arial"/>
              </a:defRPr>
            </a:pPr>
            <a:r>
              <a:rPr sz="2400" b="0">
                <a:solidFill>
                  <a:srgbClr val="C7D8EA"/>
                </a:solidFill>
                <a:latin typeface="Arial"/>
                <a:ea typeface="Arial"/>
                <a:cs typeface="Arial"/>
              </a:rPr>
              <a:t>Split and Stay checks</a:t>
            </a:r>
          </a:p>
          <a:p xmlns:a="http://schemas.openxmlformats.org/drawingml/2006/main">
            <a:pPr algn="l">
              <a:defRPr sz="2400" b="0">
                <a:solidFill>
                  <a:srgbClr val="C7D8EA"/>
                </a:solidFill>
                <a:latin typeface="Arial"/>
                <a:ea typeface="Arial"/>
                <a:cs typeface="Arial"/>
              </a:defRPr>
            </a:pPr>
            <a:r>
              <a:rPr sz="2400" b="0">
                <a:solidFill>
                  <a:srgbClr val="C7D8EA"/>
                </a:solidFill>
                <a:latin typeface="Arial"/>
                <a:ea typeface="Arial"/>
                <a:cs typeface="Arial"/>
              </a:rPr>
              <a:t>Intermediate fields and final record checks</a:t>
            </a:r>
          </a:p>
        </p:txBody>
      </p:sp>
    </p:spTree>
    <p:extLst>
      <p:ext uri="{BB962C8B-B14F-4D97-AF65-F5344CB8AC3E}">
        <p14:creationId xmlns:p14="http://schemas.microsoft.com/office/powerpoint/2010/main" val="669890857"/>
      </p:ext>
    </p:extLst>
  </p:cSld>
</p:sld>
</file>

<file path=ppt/slides/slide3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08128A-87D8-404C-B2CE-B42B87864867}"/>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Terms used in the detailed rules</a:t>
            </a:r>
          </a:p>
        </p:txBody>
      </p:sp>
      <p:sp>
        <p:nvSpPr>
          <p:cNvPr id="2" name="">
            <a:extLst xmlns:a="http://schemas.openxmlformats.org/drawingml/2006/main">
              <a:ext uri="{FF2B5EF4-FFF2-40B4-BE49-F238E27FC236}">
                <a16:creationId xmlns:a16="http://schemas.microsoft.com/office/drawing/2014/main" id="{3F60D9EC-8946-442D-9030-5599BD092B6C}"/>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37</a:t>
            </a:r>
          </a:p>
        </p:txBody>
      </p:sp>
      <p:graphicFrame>
        <p:nvGraphicFramePr>
          <p:cNvPr id="3" name="">
            <a:extLst xmlns:a="http://schemas.openxmlformats.org/drawingml/2006/main">
              <a:ext uri="{FF2B5EF4-FFF2-40B4-BE49-F238E27FC236}">
                <a16:creationId xmlns:a16="http://schemas.microsoft.com/office/drawing/2014/main" id="{4D538806-E73B-4637-ADC5-F9C8FCBC3C7C}"/>
              </a:ext>
            </a:extLst>
          </p:cNvPr>
          <p:cNvGraphicFramePr/>
          <p:nvPr/>
        </p:nvGraphicFramePr>
        <p:xfrm>
          <a:off xmlns:a="http://schemas.openxmlformats.org/drawingml/2006/main" x="647700" y="1857375"/>
          <a:ext xmlns:a="http://schemas.openxmlformats.org/drawingml/2006/main" cx="10896600" cy="3771900"/>
        </p:xfrm>
        <a:graphic xmlns:a="http://schemas.openxmlformats.org/drawingml/2006/main">
          <a:graphicData uri="http://schemas.openxmlformats.org/drawingml/2006/table">
            <a:tbl>
              <a:tblPr/>
              <a:tblGrid>
                <a:gridCol w="3619500"/>
                <a:gridCol w="7277100"/>
              </a:tblGrid>
              <a:tr h="628650">
                <a:tc>
                  <a:txBody>
                    <a:bodyPr/>
                    <a:lstStyle/>
                    <a:p>
                      <a:r>
                        <a:rPr sz="1800" b="1">
                          <a:solidFill>
                            <a:srgbClr val="FFFFFF"/>
                          </a:solidFill>
                          <a:latin typeface="Arial"/>
                          <a:ea typeface="Arial"/>
                          <a:cs typeface="Arial"/>
                        </a:rPr>
                        <a:t>Term</a:t>
                      </a:r>
                    </a:p>
                  </a:txBody>
                  <a:tcPr marL="91440" marR="91440" marT="45720" marB="45720">
                    <a:solidFill>
                      <a:srgbClr val="172B43"/>
                    </a:solidFill>
                  </a:tcPr>
                </a:tc>
                <a:tc>
                  <a:txBody>
                    <a:bodyPr/>
                    <a:lstStyle/>
                    <a:p>
                      <a:r>
                        <a:rPr sz="1800" b="1">
                          <a:solidFill>
                            <a:srgbClr val="FFFFFF"/>
                          </a:solidFill>
                          <a:latin typeface="Arial"/>
                          <a:ea typeface="Arial"/>
                          <a:cs typeface="Arial"/>
                        </a:rPr>
                        <a:t>Plain meaning</a:t>
                      </a:r>
                    </a:p>
                  </a:txBody>
                  <a:tcPr marL="91440" marR="91440" marT="45720" marB="45720">
                    <a:solidFill>
                      <a:srgbClr val="172B43"/>
                    </a:solidFill>
                  </a:tcPr>
                </a:tc>
              </a:tr>
              <a:tr h="628650">
                <a:tc>
                  <a:txBody>
                    <a:bodyPr/>
                    <a:lstStyle/>
                    <a:p>
                      <a:r>
                        <a:rPr sz="1800" b="0">
                          <a:solidFill>
                            <a:srgbClr val="172B43"/>
                          </a:solidFill>
                          <a:latin typeface="Arial"/>
                          <a:ea typeface="Arial"/>
                          <a:cs typeface="Arial"/>
                        </a:rPr>
                        <a:t>Query code</a:t>
                      </a:r>
                    </a:p>
                  </a:txBody>
                  <a:tcPr marL="91440" marR="91440" marT="45720" marB="45720">
                    <a:solidFill>
                      <a:srgbClr val="FFFFFF"/>
                    </a:solidFill>
                  </a:tcPr>
                </a:tc>
                <a:tc>
                  <a:txBody>
                    <a:bodyPr/>
                    <a:lstStyle/>
                    <a:p>
                      <a:r>
                        <a:rPr sz="1800" b="0">
                          <a:solidFill>
                            <a:srgbClr val="172B43"/>
                          </a:solidFill>
                          <a:latin typeface="Arial"/>
                          <a:ea typeface="Arial"/>
                          <a:cs typeface="Arial"/>
                        </a:rPr>
                        <a:t>A claim category used by the documented selection rules</a:t>
                      </a:r>
                    </a:p>
                  </a:txBody>
                  <a:tcPr marL="91440" marR="91440" marT="45720" marB="45720">
                    <a:solidFill>
                      <a:srgbClr val="FFFFFF"/>
                    </a:solidFill>
                  </a:tcPr>
                </a:tc>
              </a:tr>
              <a:tr h="628650">
                <a:tc>
                  <a:txBody>
                    <a:bodyPr/>
                    <a:lstStyle/>
                    <a:p>
                      <a:r>
                        <a:rPr sz="1800" b="0">
                          <a:solidFill>
                            <a:srgbClr val="172B43"/>
                          </a:solidFill>
                          <a:latin typeface="Arial"/>
                          <a:ea typeface="Arial"/>
                          <a:cs typeface="Arial"/>
                        </a:rPr>
                        <a:t>Internal claim number</a:t>
                      </a:r>
                    </a:p>
                  </a:txBody>
                  <a:tcPr marL="91440" marR="91440" marT="45720" marB="45720">
                    <a:solidFill>
                      <a:srgbClr val="EAF0F4"/>
                    </a:solidFill>
                  </a:tcPr>
                </a:tc>
                <a:tc>
                  <a:txBody>
                    <a:bodyPr/>
                    <a:lstStyle/>
                    <a:p>
                      <a:r>
                        <a:rPr sz="1800" b="0">
                          <a:solidFill>
                            <a:srgbClr val="172B43"/>
                          </a:solidFill>
                          <a:latin typeface="Arial"/>
                          <a:ea typeface="Arial"/>
                          <a:cs typeface="Arial"/>
                        </a:rPr>
                        <a:t>The identifier used to recognize claim versions</a:t>
                      </a:r>
                    </a:p>
                  </a:txBody>
                  <a:tcPr marL="91440" marR="91440" marT="45720" marB="45720">
                    <a:solidFill>
                      <a:srgbClr val="EAF0F4"/>
                    </a:solidFill>
                  </a:tcPr>
                </a:tc>
              </a:tr>
              <a:tr h="628650">
                <a:tc>
                  <a:txBody>
                    <a:bodyPr/>
                    <a:lstStyle/>
                    <a:p>
                      <a:r>
                        <a:rPr sz="1800" b="0">
                          <a:solidFill>
                            <a:srgbClr val="172B43"/>
                          </a:solidFill>
                          <a:latin typeface="Arial"/>
                          <a:ea typeface="Arial"/>
                          <a:cs typeface="Arial"/>
                        </a:rPr>
                        <a:t>Accretion date</a:t>
                      </a:r>
                    </a:p>
                  </a:txBody>
                  <a:tcPr marL="91440" marR="91440" marT="45720" marB="45720">
                    <a:solidFill>
                      <a:srgbClr val="FFFFFF"/>
                    </a:solidFill>
                  </a:tcPr>
                </a:tc>
                <a:tc>
                  <a:txBody>
                    <a:bodyPr/>
                    <a:lstStyle/>
                    <a:p>
                      <a:r>
                        <a:rPr sz="1800" b="0">
                          <a:solidFill>
                            <a:srgbClr val="172B43"/>
                          </a:solidFill>
                          <a:latin typeface="Arial"/>
                          <a:ea typeface="Arial"/>
                          <a:cs typeface="Arial"/>
                        </a:rPr>
                        <a:t>A claim chronology field used when ordering records</a:t>
                      </a:r>
                    </a:p>
                  </a:txBody>
                  <a:tcPr marL="91440" marR="91440" marT="45720" marB="45720">
                    <a:solidFill>
                      <a:srgbClr val="FFFFFF"/>
                    </a:solidFill>
                  </a:tcPr>
                </a:tc>
              </a:tr>
              <a:tr h="628650">
                <a:tc>
                  <a:txBody>
                    <a:bodyPr/>
                    <a:lstStyle/>
                    <a:p>
                      <a:r>
                        <a:rPr sz="1800" b="0">
                          <a:solidFill>
                            <a:srgbClr val="172B43"/>
                          </a:solidFill>
                          <a:latin typeface="Arial"/>
                          <a:ea typeface="Arial"/>
                          <a:cs typeface="Arial"/>
                        </a:rPr>
                        <a:t>SNF / IP</a:t>
                      </a:r>
                    </a:p>
                  </a:txBody>
                  <a:tcPr marL="91440" marR="91440" marT="45720" marB="45720">
                    <a:solidFill>
                      <a:srgbClr val="EAF0F4"/>
                    </a:solidFill>
                  </a:tcPr>
                </a:tc>
                <a:tc>
                  <a:txBody>
                    <a:bodyPr/>
                    <a:lstStyle/>
                    <a:p>
                      <a:r>
                        <a:rPr sz="1800" b="0">
                          <a:solidFill>
                            <a:srgbClr val="172B43"/>
                          </a:solidFill>
                          <a:latin typeface="Arial"/>
                          <a:ea typeface="Arial"/>
                          <a:cs typeface="Arial"/>
                        </a:rPr>
                        <a:t>Skilled nursing facility / inpatient hospital</a:t>
                      </a:r>
                    </a:p>
                  </a:txBody>
                  <a:tcPr marL="91440" marR="91440" marT="45720" marB="45720">
                    <a:solidFill>
                      <a:srgbClr val="EAF0F4"/>
                    </a:solidFill>
                  </a:tcPr>
                </a:tc>
              </a:tr>
              <a:tr h="628650">
                <a:tc>
                  <a:txBody>
                    <a:bodyPr/>
                    <a:lstStyle/>
                    <a:p>
                      <a:r>
                        <a:rPr sz="1800" b="0">
                          <a:solidFill>
                            <a:srgbClr val="172B43"/>
                          </a:solidFill>
                          <a:latin typeface="Arial"/>
                          <a:ea typeface="Arial"/>
                          <a:cs typeface="Arial"/>
                        </a:rPr>
                        <a:t>Golden output</a:t>
                      </a:r>
                    </a:p>
                  </a:txBody>
                  <a:tcPr marL="91440" marR="91440" marT="45720" marB="45720">
                    <a:solidFill>
                      <a:srgbClr val="FFFFFF"/>
                    </a:solidFill>
                  </a:tcPr>
                </a:tc>
                <a:tc>
                  <a:txBody>
                    <a:bodyPr/>
                    <a:lstStyle/>
                    <a:p>
                      <a:r>
                        <a:rPr sz="1800" b="0">
                          <a:solidFill>
                            <a:srgbClr val="172B43"/>
                          </a:solidFill>
                          <a:latin typeface="Arial"/>
                          <a:ea typeface="Arial"/>
                          <a:cs typeface="Arial"/>
                        </a:rPr>
                        <a:t>An approved expected file used for independent comparison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41889089"/>
      </p:ext>
    </p:extLst>
  </p:cSld>
</p:sld>
</file>

<file path=ppt/slides/slide3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A1EE22D-9BC5-4CFD-ADAD-2A444677E691}"/>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grouping and precedence</a:t>
            </a:r>
          </a:p>
        </p:txBody>
      </p:sp>
      <p:sp>
        <p:nvSpPr>
          <p:cNvPr id="2" name="">
            <a:extLst xmlns:a="http://schemas.openxmlformats.org/drawingml/2006/main">
              <a:ext uri="{FF2B5EF4-FFF2-40B4-BE49-F238E27FC236}">
                <a16:creationId xmlns:a16="http://schemas.microsoft.com/office/drawing/2014/main" id="{9895F59F-E32F-4D2B-B39E-69F14F493694}"/>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C2B6E57D-4BC8-44B9-88E0-CBA540657051}"/>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Group</a:t>
            </a:r>
          </a:p>
        </p:txBody>
      </p:sp>
      <p:sp>
        <p:nvSpPr>
          <p:cNvPr id="4" name="">
            <a:extLst xmlns:a="http://schemas.openxmlformats.org/drawingml/2006/main">
              <a:ext uri="{FF2B5EF4-FFF2-40B4-BE49-F238E27FC236}">
                <a16:creationId xmlns:a16="http://schemas.microsoft.com/office/drawing/2014/main" id="{3A061D0E-7923-4DBD-B77C-F56326A4849E}"/>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Record type, beneficiary, provider, from date and through date.</a:t>
            </a:r>
          </a:p>
        </p:txBody>
      </p:sp>
      <p:sp>
        <p:nvSpPr>
          <p:cNvPr id="5" name="">
            <a:extLst xmlns:a="http://schemas.openxmlformats.org/drawingml/2006/main">
              <a:ext uri="{FF2B5EF4-FFF2-40B4-BE49-F238E27FC236}">
                <a16:creationId xmlns:a16="http://schemas.microsoft.com/office/drawing/2014/main" id="{BD1ECBB8-7402-4F09-A700-DB3C15DDD925}"/>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Admission is excluded from this group.</a:t>
            </a:r>
          </a:p>
        </p:txBody>
      </p:sp>
      <p:sp>
        <p:nvSpPr>
          <p:cNvPr id="6" name="">
            <a:extLst xmlns:a="http://schemas.openxmlformats.org/drawingml/2006/main">
              <a:ext uri="{FF2B5EF4-FFF2-40B4-BE49-F238E27FC236}">
                <a16:creationId xmlns:a16="http://schemas.microsoft.com/office/drawing/2014/main" id="{D8B7063E-015B-4871-A88A-278A93BB3335}"/>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Order</a:t>
            </a:r>
          </a:p>
        </p:txBody>
      </p:sp>
      <p:sp>
        <p:nvSpPr>
          <p:cNvPr id="7" name="">
            <a:extLst xmlns:a="http://schemas.openxmlformats.org/drawingml/2006/main">
              <a:ext uri="{FF2B5EF4-FFF2-40B4-BE49-F238E27FC236}">
                <a16:creationId xmlns:a16="http://schemas.microsoft.com/office/drawing/2014/main" id="{602E3478-60FA-46A2-BCA2-77F620B99FC1}"/>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Processing date, accretion date, query code, source sequence descending.</a:t>
            </a:r>
          </a:p>
        </p:txBody>
      </p:sp>
      <p:sp>
        <p:nvSpPr>
          <p:cNvPr id="8" name="">
            <a:extLst xmlns:a="http://schemas.openxmlformats.org/drawingml/2006/main">
              <a:ext uri="{FF2B5EF4-FFF2-40B4-BE49-F238E27FC236}">
                <a16:creationId xmlns:a16="http://schemas.microsoft.com/office/drawing/2014/main" id="{99BF90C0-6EFF-4336-94C9-1A7E2BC386C5}"/>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 complete ordering tie blocks an unambiguous decision.</a:t>
            </a:r>
          </a:p>
        </p:txBody>
      </p:sp>
      <p:sp>
        <p:nvSpPr>
          <p:cNvPr id="9" name="">
            <a:extLst xmlns:a="http://schemas.openxmlformats.org/drawingml/2006/main">
              <a:ext uri="{FF2B5EF4-FFF2-40B4-BE49-F238E27FC236}">
                <a16:creationId xmlns:a16="http://schemas.microsoft.com/office/drawing/2014/main" id="{A81DBF0A-979D-47B6-8CC1-687AC263648A}"/>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First match</a:t>
            </a:r>
          </a:p>
        </p:txBody>
      </p:sp>
      <p:sp>
        <p:nvSpPr>
          <p:cNvPr id="10" name="">
            <a:extLst xmlns:a="http://schemas.openxmlformats.org/drawingml/2006/main">
              <a:ext uri="{FF2B5EF4-FFF2-40B4-BE49-F238E27FC236}">
                <a16:creationId xmlns:a16="http://schemas.microsoft.com/office/drawing/2014/main" id="{18241762-C1D0-4A22-B2DF-2BDC80C61878}"/>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All-QC0, 1, 2, 6, 5, 3, 10A, 10B, 7, 8, 9, default.</a:t>
            </a:r>
          </a:p>
        </p:txBody>
      </p:sp>
      <p:sp>
        <p:nvSpPr>
          <p:cNvPr id="11" name="">
            <a:extLst xmlns:a="http://schemas.openxmlformats.org/drawingml/2006/main">
              <a:ext uri="{FF2B5EF4-FFF2-40B4-BE49-F238E27FC236}">
                <a16:creationId xmlns:a16="http://schemas.microsoft.com/office/drawing/2014/main" id="{7A756405-533F-4DB1-8A19-1291E3D909B0}"/>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The router selects the first applicable route.</a:t>
            </a:r>
          </a:p>
        </p:txBody>
      </p:sp>
    </p:spTree>
    <p:extLst>
      <p:ext uri="{BB962C8B-B14F-4D97-AF65-F5344CB8AC3E}">
        <p14:creationId xmlns:p14="http://schemas.microsoft.com/office/powerpoint/2010/main" val="163975599"/>
      </p:ext>
    </p:extLst>
  </p:cSld>
</p:sld>
</file>

<file path=ppt/slides/slide3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3E255F-81A4-43FD-B809-728BEEE36FAA}"/>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all-QC0, Rule 1 and Rule 2</a:t>
            </a:r>
          </a:p>
        </p:txBody>
      </p:sp>
      <p:sp>
        <p:nvSpPr>
          <p:cNvPr id="2" name="">
            <a:extLst xmlns:a="http://schemas.openxmlformats.org/drawingml/2006/main">
              <a:ext uri="{FF2B5EF4-FFF2-40B4-BE49-F238E27FC236}">
                <a16:creationId xmlns:a16="http://schemas.microsoft.com/office/drawing/2014/main" id="{B373F933-7BD9-4FFA-BE68-7A029793614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DE374173-5EA4-41F9-A032-AC35695ED291}"/>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All-QC0</a:t>
            </a:r>
          </a:p>
        </p:txBody>
      </p:sp>
      <p:sp>
        <p:nvSpPr>
          <p:cNvPr id="4" name="">
            <a:extLst xmlns:a="http://schemas.openxmlformats.org/drawingml/2006/main">
              <a:ext uri="{FF2B5EF4-FFF2-40B4-BE49-F238E27FC236}">
                <a16:creationId xmlns:a16="http://schemas.microsoft.com/office/drawing/2014/main" id="{F0C5420F-4991-4F54-B3EA-C4AAF2417E35}"/>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Multiple claims and every query code is 0.</a:t>
            </a:r>
          </a:p>
        </p:txBody>
      </p:sp>
      <p:sp>
        <p:nvSpPr>
          <p:cNvPr id="5" name="">
            <a:extLst xmlns:a="http://schemas.openxmlformats.org/drawingml/2006/main">
              <a:ext uri="{FF2B5EF4-FFF2-40B4-BE49-F238E27FC236}">
                <a16:creationId xmlns:a16="http://schemas.microsoft.com/office/drawing/2014/main" id="{C47B47BD-EDB9-45E3-A0B0-81906CC7BCC4}"/>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Drop every record in the group.</a:t>
            </a:r>
          </a:p>
        </p:txBody>
      </p:sp>
      <p:sp>
        <p:nvSpPr>
          <p:cNvPr id="6" name="">
            <a:extLst xmlns:a="http://schemas.openxmlformats.org/drawingml/2006/main">
              <a:ext uri="{FF2B5EF4-FFF2-40B4-BE49-F238E27FC236}">
                <a16:creationId xmlns:a16="http://schemas.microsoft.com/office/drawing/2014/main" id="{819DA084-93BC-4E07-BEC7-E179DD9B2C18}"/>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1</a:t>
            </a:r>
          </a:p>
        </p:txBody>
      </p:sp>
      <p:sp>
        <p:nvSpPr>
          <p:cNvPr id="7" name="">
            <a:extLst xmlns:a="http://schemas.openxmlformats.org/drawingml/2006/main">
              <a:ext uri="{FF2B5EF4-FFF2-40B4-BE49-F238E27FC236}">
                <a16:creationId xmlns:a16="http://schemas.microsoft.com/office/drawing/2014/main" id="{3F8CC789-E82C-4928-86D6-58B0E430F5FC}"/>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A single claim. Default keep codes are 1, 3 and 5.</a:t>
            </a:r>
          </a:p>
        </p:txBody>
      </p:sp>
      <p:sp>
        <p:nvSpPr>
          <p:cNvPr id="8" name="">
            <a:extLst xmlns:a="http://schemas.openxmlformats.org/drawingml/2006/main">
              <a:ext uri="{FF2B5EF4-FFF2-40B4-BE49-F238E27FC236}">
                <a16:creationId xmlns:a16="http://schemas.microsoft.com/office/drawing/2014/main" id="{ABF4AEA1-5EA2-44BF-BD00-DD6763D46E9A}"/>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an allowed nonzero code. Drop query code 0.</a:t>
            </a:r>
          </a:p>
        </p:txBody>
      </p:sp>
      <p:sp>
        <p:nvSpPr>
          <p:cNvPr id="9" name="">
            <a:extLst xmlns:a="http://schemas.openxmlformats.org/drawingml/2006/main">
              <a:ext uri="{FF2B5EF4-FFF2-40B4-BE49-F238E27FC236}">
                <a16:creationId xmlns:a16="http://schemas.microsoft.com/office/drawing/2014/main" id="{13EE04BF-3B67-4EAA-A3EC-E5503CC176B6}"/>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2</a:t>
            </a:r>
          </a:p>
        </p:txBody>
      </p:sp>
      <p:sp>
        <p:nvSpPr>
          <p:cNvPr id="10" name="">
            <a:extLst xmlns:a="http://schemas.openxmlformats.org/drawingml/2006/main">
              <a:ext uri="{FF2B5EF4-FFF2-40B4-BE49-F238E27FC236}">
                <a16:creationId xmlns:a16="http://schemas.microsoft.com/office/drawing/2014/main" id="{FA4D5EBD-EF4A-466A-A7AC-910F27F43ED5}"/>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Three ordered codes 5–0–3 or 5–0–1, with code 5 latest in accretion.</a:t>
            </a:r>
          </a:p>
        </p:txBody>
      </p:sp>
      <p:sp>
        <p:nvSpPr>
          <p:cNvPr id="11" name="">
            <a:extLst xmlns:a="http://schemas.openxmlformats.org/drawingml/2006/main">
              <a:ext uri="{FF2B5EF4-FFF2-40B4-BE49-F238E27FC236}">
                <a16:creationId xmlns:a16="http://schemas.microsoft.com/office/drawing/2014/main" id="{D6DC9229-7A5C-41CF-B647-99A62A9A97AF}"/>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code 5. Missing or conflicting chronology blocks the rule.</a:t>
            </a:r>
          </a:p>
        </p:txBody>
      </p:sp>
    </p:spTree>
    <p:extLst>
      <p:ext uri="{BB962C8B-B14F-4D97-AF65-F5344CB8AC3E}">
        <p14:creationId xmlns:p14="http://schemas.microsoft.com/office/powerpoint/2010/main" val="1044694427"/>
      </p:ext>
    </p:extLst>
  </p:cSld>
</p:sld>
</file>

<file path=ppt/slides/slide4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F10FD9-5F2C-4C90-BA3A-0A1203A3F94E}"/>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Rules 6, 5 and 3</a:t>
            </a:r>
          </a:p>
        </p:txBody>
      </p:sp>
      <p:sp>
        <p:nvSpPr>
          <p:cNvPr id="2" name="">
            <a:extLst xmlns:a="http://schemas.openxmlformats.org/drawingml/2006/main">
              <a:ext uri="{FF2B5EF4-FFF2-40B4-BE49-F238E27FC236}">
                <a16:creationId xmlns:a16="http://schemas.microsoft.com/office/drawing/2014/main" id="{BCE78C58-2D9E-4623-B608-EF8B04A18CE9}"/>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721D234F-2583-4688-AAFF-8422A5DB146A}"/>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6</a:t>
            </a:r>
          </a:p>
        </p:txBody>
      </p:sp>
      <p:sp>
        <p:nvSpPr>
          <p:cNvPr id="4" name="">
            <a:extLst xmlns:a="http://schemas.openxmlformats.org/drawingml/2006/main">
              <a:ext uri="{FF2B5EF4-FFF2-40B4-BE49-F238E27FC236}">
                <a16:creationId xmlns:a16="http://schemas.microsoft.com/office/drawing/2014/main" id="{290098BF-D777-4189-9819-5F472F86D625}"/>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A pair of query codes 0 and 5. Same claim number and code-0 action 4/6.</a:t>
            </a:r>
          </a:p>
        </p:txBody>
      </p:sp>
      <p:sp>
        <p:nvSpPr>
          <p:cNvPr id="5" name="">
            <a:extLst xmlns:a="http://schemas.openxmlformats.org/drawingml/2006/main">
              <a:ext uri="{FF2B5EF4-FFF2-40B4-BE49-F238E27FC236}">
                <a16:creationId xmlns:a16="http://schemas.microsoft.com/office/drawing/2014/main" id="{01D6FC1E-FB15-4D9E-BC29-DC7110A95A0F}"/>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Drop both in that case. Otherwise keep code 5.</a:t>
            </a:r>
          </a:p>
        </p:txBody>
      </p:sp>
      <p:sp>
        <p:nvSpPr>
          <p:cNvPr id="6" name="">
            <a:extLst xmlns:a="http://schemas.openxmlformats.org/drawingml/2006/main">
              <a:ext uri="{FF2B5EF4-FFF2-40B4-BE49-F238E27FC236}">
                <a16:creationId xmlns:a16="http://schemas.microsoft.com/office/drawing/2014/main" id="{0A7BCE6E-08DD-4FFA-9694-C8FFC49479AB}"/>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5</a:t>
            </a:r>
          </a:p>
        </p:txBody>
      </p:sp>
      <p:sp>
        <p:nvSpPr>
          <p:cNvPr id="7" name="">
            <a:extLst xmlns:a="http://schemas.openxmlformats.org/drawingml/2006/main">
              <a:ext uri="{FF2B5EF4-FFF2-40B4-BE49-F238E27FC236}">
                <a16:creationId xmlns:a16="http://schemas.microsoft.com/office/drawing/2014/main" id="{7F79A3C2-D13E-4FB7-83E7-FE0481751EF3}"/>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Three claims, no code 5, exactly one code 0.</a:t>
            </a:r>
          </a:p>
        </p:txBody>
      </p:sp>
      <p:sp>
        <p:nvSpPr>
          <p:cNvPr id="8" name="">
            <a:extLst xmlns:a="http://schemas.openxmlformats.org/drawingml/2006/main">
              <a:ext uri="{FF2B5EF4-FFF2-40B4-BE49-F238E27FC236}">
                <a16:creationId xmlns:a16="http://schemas.microsoft.com/office/drawing/2014/main" id="{BB38B317-1286-4CAB-9169-5371A516499B}"/>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Same claim number: drop all. Else keep the newest nonzero with a different claim number from code 0.</a:t>
            </a:r>
          </a:p>
        </p:txBody>
      </p:sp>
      <p:sp>
        <p:nvSpPr>
          <p:cNvPr id="9" name="">
            <a:extLst xmlns:a="http://schemas.openxmlformats.org/drawingml/2006/main">
              <a:ext uri="{FF2B5EF4-FFF2-40B4-BE49-F238E27FC236}">
                <a16:creationId xmlns:a16="http://schemas.microsoft.com/office/drawing/2014/main" id="{E2C30D9E-6E3E-4D70-B920-ADBBFD54AE00}"/>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3</a:t>
            </a:r>
          </a:p>
        </p:txBody>
      </p:sp>
      <p:sp>
        <p:nvSpPr>
          <p:cNvPr id="10" name="">
            <a:extLst xmlns:a="http://schemas.openxmlformats.org/drawingml/2006/main">
              <a:ext uri="{FF2B5EF4-FFF2-40B4-BE49-F238E27FC236}">
                <a16:creationId xmlns:a16="http://schemas.microsoft.com/office/drawing/2014/main" id="{98037F9B-6AC5-471C-B77A-3C4C33F266E4}"/>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Multiple claims all have the same query code.</a:t>
            </a:r>
          </a:p>
        </p:txBody>
      </p:sp>
      <p:sp>
        <p:nvSpPr>
          <p:cNvPr id="11" name="">
            <a:extLst xmlns:a="http://schemas.openxmlformats.org/drawingml/2006/main">
              <a:ext uri="{FF2B5EF4-FFF2-40B4-BE49-F238E27FC236}">
                <a16:creationId xmlns:a16="http://schemas.microsoft.com/office/drawing/2014/main" id="{C4A303CE-0AA7-4E39-8D0D-194962097D72}"/>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the newest record for each distinct internal claim number.</a:t>
            </a:r>
          </a:p>
        </p:txBody>
      </p:sp>
    </p:spTree>
    <p:extLst>
      <p:ext uri="{BB962C8B-B14F-4D97-AF65-F5344CB8AC3E}">
        <p14:creationId xmlns:p14="http://schemas.microsoft.com/office/powerpoint/2010/main" val="2048009114"/>
      </p:ext>
    </p:extLst>
  </p:cSld>
</p:sld>
</file>

<file path=ppt/slides/slide4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6AD7D4-481B-4CC4-A1AB-FC08D144939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Rules 10A and 10B</a:t>
            </a:r>
          </a:p>
        </p:txBody>
      </p:sp>
      <p:sp>
        <p:nvSpPr>
          <p:cNvPr id="2" name="">
            <a:extLst xmlns:a="http://schemas.openxmlformats.org/drawingml/2006/main">
              <a:ext uri="{FF2B5EF4-FFF2-40B4-BE49-F238E27FC236}">
                <a16:creationId xmlns:a16="http://schemas.microsoft.com/office/drawing/2014/main" id="{17464C56-08B2-46A8-9F92-C28BF021F3AA}"/>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41</a:t>
            </a:r>
          </a:p>
        </p:txBody>
      </p:sp>
      <p:sp>
        <p:nvSpPr>
          <p:cNvPr id="3" name="">
            <a:extLst xmlns:a="http://schemas.openxmlformats.org/drawingml/2006/main">
              <a:ext uri="{FF2B5EF4-FFF2-40B4-BE49-F238E27FC236}">
                <a16:creationId xmlns:a16="http://schemas.microsoft.com/office/drawing/2014/main" id="{BCAC7C07-4A39-4191-9C0C-3B6F4287683D}"/>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10A</a:t>
            </a:r>
          </a:p>
        </p:txBody>
      </p:sp>
      <p:sp>
        <p:nvSpPr>
          <p:cNvPr id="4" name="">
            <a:extLst xmlns:a="http://schemas.openxmlformats.org/drawingml/2006/main">
              <a:ext uri="{FF2B5EF4-FFF2-40B4-BE49-F238E27FC236}">
                <a16:creationId xmlns:a16="http://schemas.microsoft.com/office/drawing/2014/main" id="{072B2719-7A20-4DE3-A0BD-B23B67748F66}"/>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Code 5 is present and the count of code 0 exceeds the count of code 5.</a:t>
            </a:r>
          </a:p>
        </p:txBody>
      </p:sp>
      <p:sp>
        <p:nvSpPr>
          <p:cNvPr id="5" name="">
            <a:extLst xmlns:a="http://schemas.openxmlformats.org/drawingml/2006/main">
              <a:ext uri="{FF2B5EF4-FFF2-40B4-BE49-F238E27FC236}">
                <a16:creationId xmlns:a16="http://schemas.microsoft.com/office/drawing/2014/main" id="{E69F40FC-E245-408F-9A7B-E87204CECC70}"/>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eligible nonzero claim numbers occurring exactly once in the group.</a:t>
            </a:r>
          </a:p>
        </p:txBody>
      </p:sp>
      <p:sp>
        <p:nvSpPr>
          <p:cNvPr id="6" name="">
            <a:extLst xmlns:a="http://schemas.openxmlformats.org/drawingml/2006/main">
              <a:ext uri="{FF2B5EF4-FFF2-40B4-BE49-F238E27FC236}">
                <a16:creationId xmlns:a16="http://schemas.microsoft.com/office/drawing/2014/main" id="{23A649AD-6296-4A76-813B-D1475A9FBB76}"/>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10B</a:t>
            </a:r>
          </a:p>
        </p:txBody>
      </p:sp>
      <p:sp>
        <p:nvSpPr>
          <p:cNvPr id="7" name="">
            <a:extLst xmlns:a="http://schemas.openxmlformats.org/drawingml/2006/main">
              <a:ext uri="{FF2B5EF4-FFF2-40B4-BE49-F238E27FC236}">
                <a16:creationId xmlns:a16="http://schemas.microsoft.com/office/drawing/2014/main" id="{3820852E-C405-45A6-BC76-ABD0F453450E}"/>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Code 5 is present, and earlier Rule 6 or 10A did not apply.</a:t>
            </a:r>
          </a:p>
        </p:txBody>
      </p:sp>
      <p:sp>
        <p:nvSpPr>
          <p:cNvPr id="8" name="">
            <a:extLst xmlns:a="http://schemas.openxmlformats.org/drawingml/2006/main">
              <a:ext uri="{FF2B5EF4-FFF2-40B4-BE49-F238E27FC236}">
                <a16:creationId xmlns:a16="http://schemas.microsoft.com/office/drawing/2014/main" id="{BD66635B-F7CD-435B-9E2F-056221330F01}"/>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only the newest nonzero record.</a:t>
            </a:r>
          </a:p>
        </p:txBody>
      </p:sp>
      <p:sp>
        <p:nvSpPr>
          <p:cNvPr id="9" name="">
            <a:extLst xmlns:a="http://schemas.openxmlformats.org/drawingml/2006/main">
              <a:ext uri="{FF2B5EF4-FFF2-40B4-BE49-F238E27FC236}">
                <a16:creationId xmlns:a16="http://schemas.microsoft.com/office/drawing/2014/main" id="{F07D4884-A327-4A71-BCB1-8CFFE26B4DAD}"/>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Important detail</a:t>
            </a:r>
          </a:p>
        </p:txBody>
      </p:sp>
      <p:sp>
        <p:nvSpPr>
          <p:cNvPr id="10" name="">
            <a:extLst xmlns:a="http://schemas.openxmlformats.org/drawingml/2006/main">
              <a:ext uri="{FF2B5EF4-FFF2-40B4-BE49-F238E27FC236}">
                <a16:creationId xmlns:a16="http://schemas.microsoft.com/office/drawing/2014/main" id="{C92C9F78-0953-42AB-A691-D0AF4125066C}"/>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Rule 10A does not require the newest record to have code 0.</a:t>
            </a:r>
          </a:p>
        </p:txBody>
      </p:sp>
      <p:sp>
        <p:nvSpPr>
          <p:cNvPr id="11" name="">
            <a:extLst xmlns:a="http://schemas.openxmlformats.org/drawingml/2006/main">
              <a:ext uri="{FF2B5EF4-FFF2-40B4-BE49-F238E27FC236}">
                <a16:creationId xmlns:a16="http://schemas.microsoft.com/office/drawing/2014/main" id="{73F63F67-BB0F-4E5B-83FD-42DE1309A2BF}"/>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Apply the executable router and approved interpretation.</a:t>
            </a:r>
          </a:p>
        </p:txBody>
      </p:sp>
    </p:spTree>
    <p:extLst>
      <p:ext uri="{BB962C8B-B14F-4D97-AF65-F5344CB8AC3E}">
        <p14:creationId xmlns:p14="http://schemas.microsoft.com/office/powerpoint/2010/main" val="665456071"/>
      </p:ext>
    </p:extLst>
  </p:cSld>
</p:sld>
</file>

<file path=ppt/slides/slide4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8D1EEE-ECEA-4F0C-A4A3-122F2F6FFC60}"/>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Action: Rules 7, 8, 9 and default</a:t>
            </a:r>
          </a:p>
        </p:txBody>
      </p:sp>
      <p:sp>
        <p:nvSpPr>
          <p:cNvPr id="2" name="">
            <a:extLst xmlns:a="http://schemas.openxmlformats.org/drawingml/2006/main">
              <a:ext uri="{FF2B5EF4-FFF2-40B4-BE49-F238E27FC236}">
                <a16:creationId xmlns:a16="http://schemas.microsoft.com/office/drawing/2014/main" id="{DFCA6E9C-16CA-47B5-ABFD-4694A2BA893A}"/>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42</a:t>
            </a:r>
          </a:p>
        </p:txBody>
      </p:sp>
      <p:sp>
        <p:nvSpPr>
          <p:cNvPr id="3" name="">
            <a:extLst xmlns:a="http://schemas.openxmlformats.org/drawingml/2006/main">
              <a:ext uri="{FF2B5EF4-FFF2-40B4-BE49-F238E27FC236}">
                <a16:creationId xmlns:a16="http://schemas.microsoft.com/office/drawing/2014/main" id="{EA2D6933-AB22-48CE-9A16-31F2EFEA177A}"/>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 7</a:t>
            </a:r>
          </a:p>
        </p:txBody>
      </p:sp>
      <p:sp>
        <p:nvSpPr>
          <p:cNvPr id="4" name="">
            <a:extLst xmlns:a="http://schemas.openxmlformats.org/drawingml/2006/main">
              <a:ext uri="{FF2B5EF4-FFF2-40B4-BE49-F238E27FC236}">
                <a16:creationId xmlns:a16="http://schemas.microsoft.com/office/drawing/2014/main" id="{78415136-16A0-4EC6-A9BB-F9AA6616322E}"/>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No code 5. Code-0 count is at least the combined code-1 and code-3 count.</a:t>
            </a:r>
          </a:p>
        </p:txBody>
      </p:sp>
      <p:sp>
        <p:nvSpPr>
          <p:cNvPr id="5" name="">
            <a:extLst xmlns:a="http://schemas.openxmlformats.org/drawingml/2006/main">
              <a:ext uri="{FF2B5EF4-FFF2-40B4-BE49-F238E27FC236}">
                <a16:creationId xmlns:a16="http://schemas.microsoft.com/office/drawing/2014/main" id="{6675AF8F-6F26-400F-A3C3-EEF297D4845F}"/>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eligible nonzero claim numbers that occur exactly once.</a:t>
            </a:r>
          </a:p>
        </p:txBody>
      </p:sp>
      <p:sp>
        <p:nvSpPr>
          <p:cNvPr id="6" name="">
            <a:extLst xmlns:a="http://schemas.openxmlformats.org/drawingml/2006/main">
              <a:ext uri="{FF2B5EF4-FFF2-40B4-BE49-F238E27FC236}">
                <a16:creationId xmlns:a16="http://schemas.microsoft.com/office/drawing/2014/main" id="{53D83F8D-6E5E-4421-9160-0840BED5E945}"/>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Rules 8 / 9</a:t>
            </a:r>
          </a:p>
        </p:txBody>
      </p:sp>
      <p:sp>
        <p:nvSpPr>
          <p:cNvPr id="7" name="">
            <a:extLst xmlns:a="http://schemas.openxmlformats.org/drawingml/2006/main">
              <a:ext uri="{FF2B5EF4-FFF2-40B4-BE49-F238E27FC236}">
                <a16:creationId xmlns:a16="http://schemas.microsoft.com/office/drawing/2014/main" id="{2FEBAED3-BF07-4688-9BA7-8395A02422EF}"/>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No code 5. Code-0 count is smaller. Rule 8: &gt;3 records and newest code 0.</a:t>
            </a:r>
          </a:p>
        </p:txBody>
      </p:sp>
      <p:sp>
        <p:nvSpPr>
          <p:cNvPr id="8" name="">
            <a:extLst xmlns:a="http://schemas.openxmlformats.org/drawingml/2006/main">
              <a:ext uri="{FF2B5EF4-FFF2-40B4-BE49-F238E27FC236}">
                <a16:creationId xmlns:a16="http://schemas.microsoft.com/office/drawing/2014/main" id="{B76956C7-18B2-4439-9CCF-3ED988254A5C}"/>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Rule 9: newest is nonzero. Both use unique eligible claim numbers.</a:t>
            </a:r>
          </a:p>
        </p:txBody>
      </p:sp>
      <p:sp>
        <p:nvSpPr>
          <p:cNvPr id="9" name="">
            <a:extLst xmlns:a="http://schemas.openxmlformats.org/drawingml/2006/main">
              <a:ext uri="{FF2B5EF4-FFF2-40B4-BE49-F238E27FC236}">
                <a16:creationId xmlns:a16="http://schemas.microsoft.com/office/drawing/2014/main" id="{A272F569-6BEE-408E-A2A8-1380F0391F7F}"/>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457D6"/>
                </a:solidFill>
                <a:latin typeface="Arial"/>
                <a:ea typeface="Arial"/>
                <a:cs typeface="Arial"/>
              </a:defRPr>
            </a:defPPr>
          </a:lstStyle>
          <a:p xmlns:a="http://schemas.openxmlformats.org/drawingml/2006/main">
            <a:pPr algn="l">
              <a:defRPr sz="2175" b="1">
                <a:solidFill>
                  <a:srgbClr val="2457D6"/>
                </a:solidFill>
                <a:latin typeface="Arial"/>
                <a:ea typeface="Arial"/>
                <a:cs typeface="Arial"/>
              </a:defRPr>
            </a:pPr>
            <a:r>
              <a:rPr sz="2175" b="1">
                <a:solidFill>
                  <a:srgbClr val="2457D6"/>
                </a:solidFill>
                <a:latin typeface="Arial"/>
                <a:ea typeface="Arial"/>
                <a:cs typeface="Arial"/>
              </a:rPr>
              <a:t>Default</a:t>
            </a:r>
          </a:p>
        </p:txBody>
      </p:sp>
      <p:sp>
        <p:nvSpPr>
          <p:cNvPr id="10" name="">
            <a:extLst xmlns:a="http://schemas.openxmlformats.org/drawingml/2006/main">
              <a:ext uri="{FF2B5EF4-FFF2-40B4-BE49-F238E27FC236}">
                <a16:creationId xmlns:a16="http://schemas.microsoft.com/office/drawing/2014/main" id="{B14FCE01-C81B-4879-BC28-376610C3A665}"/>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No approved pattern matches, or required operands are ambiguous.</a:t>
            </a:r>
          </a:p>
        </p:txBody>
      </p:sp>
      <p:sp>
        <p:nvSpPr>
          <p:cNvPr id="11" name="">
            <a:extLst xmlns:a="http://schemas.openxmlformats.org/drawingml/2006/main">
              <a:ext uri="{FF2B5EF4-FFF2-40B4-BE49-F238E27FC236}">
                <a16:creationId xmlns:a16="http://schemas.microsoft.com/office/drawing/2014/main" id="{20909EE3-F6AD-4867-8F58-7B34EB6A99B4}"/>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Block the decision and explain the missing evidence.</a:t>
            </a:r>
          </a:p>
        </p:txBody>
      </p:sp>
    </p:spTree>
    <p:extLst>
      <p:ext uri="{BB962C8B-B14F-4D97-AF65-F5344CB8AC3E}">
        <p14:creationId xmlns:p14="http://schemas.microsoft.com/office/powerpoint/2010/main" val="719644398"/>
      </p:ext>
    </p:extLst>
  </p:cSld>
</p:sld>
</file>

<file path=ppt/slides/slide4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A8F862-9259-400B-8082-3CC3E998BB61}"/>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Split: dates, indicators and accounting</a:t>
            </a:r>
          </a:p>
        </p:txBody>
      </p:sp>
      <p:sp>
        <p:nvSpPr>
          <p:cNvPr id="2" name="">
            <a:extLst xmlns:a="http://schemas.openxmlformats.org/drawingml/2006/main">
              <a:ext uri="{FF2B5EF4-FFF2-40B4-BE49-F238E27FC236}">
                <a16:creationId xmlns:a16="http://schemas.microsoft.com/office/drawing/2014/main" id="{A5B53BD2-B502-4F7F-BAFB-AFAC2513AD14}"/>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43</a:t>
            </a:r>
          </a:p>
        </p:txBody>
      </p:sp>
      <p:sp>
        <p:nvSpPr>
          <p:cNvPr id="3" name="">
            <a:extLst xmlns:a="http://schemas.openxmlformats.org/drawingml/2006/main">
              <a:ext uri="{FF2B5EF4-FFF2-40B4-BE49-F238E27FC236}">
                <a16:creationId xmlns:a16="http://schemas.microsoft.com/office/drawing/2014/main" id="{579A98E1-6F2C-4C43-851B-4B85D1920FDC}"/>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087D78"/>
                </a:solidFill>
                <a:latin typeface="Arial"/>
                <a:ea typeface="Arial"/>
                <a:cs typeface="Arial"/>
              </a:defRPr>
            </a:defPPr>
          </a:lstStyle>
          <a:p xmlns:a="http://schemas.openxmlformats.org/drawingml/2006/main">
            <a:pPr algn="l">
              <a:defRPr sz="2175" b="1">
                <a:solidFill>
                  <a:srgbClr val="087D78"/>
                </a:solidFill>
                <a:latin typeface="Arial"/>
                <a:ea typeface="Arial"/>
                <a:cs typeface="Arial"/>
              </a:defRPr>
            </a:pPr>
            <a:r>
              <a:rPr sz="2175" b="1">
                <a:solidFill>
                  <a:srgbClr val="087D78"/>
                </a:solidFill>
                <a:latin typeface="Arial"/>
                <a:ea typeface="Arial"/>
                <a:cs typeface="Arial"/>
              </a:rPr>
              <a:t>Reference date</a:t>
            </a:r>
          </a:p>
        </p:txBody>
      </p:sp>
      <p:sp>
        <p:nvSpPr>
          <p:cNvPr id="4" name="">
            <a:extLst xmlns:a="http://schemas.openxmlformats.org/drawingml/2006/main">
              <a:ext uri="{FF2B5EF4-FFF2-40B4-BE49-F238E27FC236}">
                <a16:creationId xmlns:a16="http://schemas.microsoft.com/office/drawing/2014/main" id="{EEF3AD09-7BEB-45B8-8B5B-A14D7262316F}"/>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SNF uses admission, with from-date fallback. IP uses group through date.</a:t>
            </a:r>
          </a:p>
        </p:txBody>
      </p:sp>
      <p:sp>
        <p:nvSpPr>
          <p:cNvPr id="5" name="">
            <a:extLst xmlns:a="http://schemas.openxmlformats.org/drawingml/2006/main">
              <a:ext uri="{FF2B5EF4-FFF2-40B4-BE49-F238E27FC236}">
                <a16:creationId xmlns:a16="http://schemas.microsoft.com/office/drawing/2014/main" id="{903FA9F2-08E0-4798-84AA-0436CE801FA7}"/>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Allow run year and the three preceding calendar years.</a:t>
            </a:r>
          </a:p>
        </p:txBody>
      </p:sp>
      <p:sp>
        <p:nvSpPr>
          <p:cNvPr id="6" name="">
            <a:extLst xmlns:a="http://schemas.openxmlformats.org/drawingml/2006/main">
              <a:ext uri="{FF2B5EF4-FFF2-40B4-BE49-F238E27FC236}">
                <a16:creationId xmlns:a16="http://schemas.microsoft.com/office/drawing/2014/main" id="{89989F2C-C48C-4A04-B8A5-6020305131C6}"/>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087D78"/>
                </a:solidFill>
                <a:latin typeface="Arial"/>
                <a:ea typeface="Arial"/>
                <a:cs typeface="Arial"/>
              </a:defRPr>
            </a:defPPr>
          </a:lstStyle>
          <a:p xmlns:a="http://schemas.openxmlformats.org/drawingml/2006/main">
            <a:pPr algn="l">
              <a:defRPr sz="2175" b="1">
                <a:solidFill>
                  <a:srgbClr val="087D78"/>
                </a:solidFill>
                <a:latin typeface="Arial"/>
                <a:ea typeface="Arial"/>
                <a:cs typeface="Arial"/>
              </a:defRPr>
            </a:pPr>
            <a:r>
              <a:rPr sz="2175" b="1">
                <a:solidFill>
                  <a:srgbClr val="087D78"/>
                </a:solidFill>
                <a:latin typeface="Arial"/>
                <a:ea typeface="Arial"/>
                <a:cs typeface="Arial"/>
              </a:rPr>
              <a:t>Year indicator</a:t>
            </a:r>
          </a:p>
        </p:txBody>
      </p:sp>
      <p:sp>
        <p:nvSpPr>
          <p:cNvPr id="7" name="">
            <a:extLst xmlns:a="http://schemas.openxmlformats.org/drawingml/2006/main">
              <a:ext uri="{FF2B5EF4-FFF2-40B4-BE49-F238E27FC236}">
                <a16:creationId xmlns:a16="http://schemas.microsoft.com/office/drawing/2014/main" id="{42C2D71B-A359-4CCF-9448-387CDE0DC6BD}"/>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Y0–Y3 for eligible years. January–September uses 0109.</a:t>
            </a:r>
          </a:p>
        </p:txBody>
      </p:sp>
      <p:sp>
        <p:nvSpPr>
          <p:cNvPr id="8" name="">
            <a:extLst xmlns:a="http://schemas.openxmlformats.org/drawingml/2006/main">
              <a:ext uri="{FF2B5EF4-FFF2-40B4-BE49-F238E27FC236}">
                <a16:creationId xmlns:a16="http://schemas.microsoft.com/office/drawing/2014/main" id="{25FCAF42-2177-47FE-A640-983E255D97CA}"/>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October–December uses 1012. Invalid/outside cases use the fallback.</a:t>
            </a:r>
          </a:p>
        </p:txBody>
      </p:sp>
      <p:sp>
        <p:nvSpPr>
          <p:cNvPr id="9" name="">
            <a:extLst xmlns:a="http://schemas.openxmlformats.org/drawingml/2006/main">
              <a:ext uri="{FF2B5EF4-FFF2-40B4-BE49-F238E27FC236}">
                <a16:creationId xmlns:a16="http://schemas.microsoft.com/office/drawing/2014/main" id="{5E3706C2-746F-448B-93B4-EF8199052626}"/>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087D78"/>
                </a:solidFill>
                <a:latin typeface="Arial"/>
                <a:ea typeface="Arial"/>
                <a:cs typeface="Arial"/>
              </a:defRPr>
            </a:defPPr>
          </a:lstStyle>
          <a:p xmlns:a="http://schemas.openxmlformats.org/drawingml/2006/main">
            <a:pPr algn="l">
              <a:defRPr sz="2175" b="1">
                <a:solidFill>
                  <a:srgbClr val="087D78"/>
                </a:solidFill>
                <a:latin typeface="Arial"/>
                <a:ea typeface="Arial"/>
                <a:cs typeface="Arial"/>
              </a:defRPr>
            </a:pPr>
            <a:r>
              <a:rPr sz="2175" b="1">
                <a:solidFill>
                  <a:srgbClr val="087D78"/>
                </a:solidFill>
                <a:latin typeface="Arial"/>
                <a:ea typeface="Arial"/>
                <a:cs typeface="Arial"/>
              </a:rPr>
              <a:t>Reconciliation</a:t>
            </a:r>
          </a:p>
        </p:txBody>
      </p:sp>
      <p:sp>
        <p:nvSpPr>
          <p:cNvPr id="10" name="">
            <a:extLst xmlns:a="http://schemas.openxmlformats.org/drawingml/2006/main">
              <a:ext uri="{FF2B5EF4-FFF2-40B4-BE49-F238E27FC236}">
                <a16:creationId xmlns:a16="http://schemas.microsoft.com/office/drawing/2014/main" id="{E17607C6-B5E4-49EA-9664-9DDC1BE3AAFB}"/>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Check allowed transaction codes, duplicates and retained/dropped identities.</a:t>
            </a:r>
          </a:p>
        </p:txBody>
      </p:sp>
      <p:sp>
        <p:nvSpPr>
          <p:cNvPr id="11" name="">
            <a:extLst xmlns:a="http://schemas.openxmlformats.org/drawingml/2006/main">
              <a:ext uri="{FF2B5EF4-FFF2-40B4-BE49-F238E27FC236}">
                <a16:creationId xmlns:a16="http://schemas.microsoft.com/office/drawing/2014/main" id="{433B6312-E80B-4007-9666-43FF0449D4ED}"/>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Preserve signed charges. Audit &gt;75 bills without silent truncation.</a:t>
            </a:r>
          </a:p>
        </p:txBody>
      </p:sp>
    </p:spTree>
    <p:extLst>
      <p:ext uri="{BB962C8B-B14F-4D97-AF65-F5344CB8AC3E}">
        <p14:creationId xmlns:p14="http://schemas.microsoft.com/office/powerpoint/2010/main" val="2038095847"/>
      </p:ext>
    </p:extLst>
  </p:cSld>
</p:sld>
</file>

<file path=ppt/slides/slide4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AD8D7E-4003-409A-9B71-7FA91932E116}"/>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Stay: merge and warning details</a:t>
            </a:r>
          </a:p>
        </p:txBody>
      </p:sp>
      <p:sp>
        <p:nvSpPr>
          <p:cNvPr id="2" name="">
            <a:extLst xmlns:a="http://schemas.openxmlformats.org/drawingml/2006/main">
              <a:ext uri="{FF2B5EF4-FFF2-40B4-BE49-F238E27FC236}">
                <a16:creationId xmlns:a16="http://schemas.microsoft.com/office/drawing/2014/main" id="{7EB3EA19-3E54-4FBC-8C6F-110C1AFD270F}"/>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623919D3-8C62-4FE0-9221-2C6EEBA94E17}"/>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7354B8"/>
                </a:solidFill>
                <a:latin typeface="Arial"/>
                <a:ea typeface="Arial"/>
                <a:cs typeface="Arial"/>
              </a:defRPr>
            </a:defPPr>
          </a:lstStyle>
          <a:p xmlns:a="http://schemas.openxmlformats.org/drawingml/2006/main">
            <a:pPr algn="l">
              <a:defRPr sz="2175" b="1">
                <a:solidFill>
                  <a:srgbClr val="7354B8"/>
                </a:solidFill>
                <a:latin typeface="Arial"/>
                <a:ea typeface="Arial"/>
                <a:cs typeface="Arial"/>
              </a:defRPr>
            </a:pPr>
            <a:r>
              <a:rPr sz="2175" b="1">
                <a:solidFill>
                  <a:srgbClr val="7354B8"/>
                </a:solidFill>
                <a:latin typeface="Arial"/>
                <a:ea typeface="Arial"/>
                <a:cs typeface="Arial"/>
              </a:rPr>
              <a:t>Field policies</a:t>
            </a:r>
          </a:p>
        </p:txBody>
      </p:sp>
      <p:sp>
        <p:nvSpPr>
          <p:cNvPr id="4" name="">
            <a:extLst xmlns:a="http://schemas.openxmlformats.org/drawingml/2006/main">
              <a:ext uri="{FF2B5EF4-FFF2-40B4-BE49-F238E27FC236}">
                <a16:creationId xmlns:a16="http://schemas.microsoft.com/office/drawing/2014/main" id="{58CEB5AA-2120-4B7F-B253-D12034ABC180}"/>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First, last, first nonblank, minimum/maximum date and Decimal sum.</a:t>
            </a:r>
          </a:p>
        </p:txBody>
      </p:sp>
      <p:sp>
        <p:nvSpPr>
          <p:cNvPr id="5" name="">
            <a:extLst xmlns:a="http://schemas.openxmlformats.org/drawingml/2006/main">
              <a:ext uri="{FF2B5EF4-FFF2-40B4-BE49-F238E27FC236}">
                <a16:creationId xmlns:a16="http://schemas.microsoft.com/office/drawing/2014/main" id="{FDB59D57-A455-4555-9DB9-8C6A1C1A53D0}"/>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Retain all revenue lines. Keep approved latest-claim arrays.</a:t>
            </a:r>
          </a:p>
        </p:txBody>
      </p:sp>
      <p:sp>
        <p:nvSpPr>
          <p:cNvPr id="6" name="">
            <a:extLst xmlns:a="http://schemas.openxmlformats.org/drawingml/2006/main">
              <a:ext uri="{FF2B5EF4-FFF2-40B4-BE49-F238E27FC236}">
                <a16:creationId xmlns:a16="http://schemas.microsoft.com/office/drawing/2014/main" id="{F85526EC-A687-4C8B-B1EA-6238B1836200}"/>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7354B8"/>
                </a:solidFill>
                <a:latin typeface="Arial"/>
                <a:ea typeface="Arial"/>
                <a:cs typeface="Arial"/>
              </a:defRPr>
            </a:defPPr>
          </a:lstStyle>
          <a:p xmlns:a="http://schemas.openxmlformats.org/drawingml/2006/main">
            <a:pPr algn="l">
              <a:defRPr sz="2175" b="1">
                <a:solidFill>
                  <a:srgbClr val="7354B8"/>
                </a:solidFill>
                <a:latin typeface="Arial"/>
                <a:ea typeface="Arial"/>
                <a:cs typeface="Arial"/>
              </a:defRPr>
            </a:pPr>
            <a:r>
              <a:rPr sz="2175" b="1">
                <a:solidFill>
                  <a:srgbClr val="7354B8"/>
                </a:solidFill>
                <a:latin typeface="Arial"/>
                <a:ea typeface="Arial"/>
                <a:cs typeface="Arial"/>
              </a:rPr>
              <a:t>Repeated spans</a:t>
            </a:r>
          </a:p>
        </p:txBody>
      </p:sp>
      <p:sp>
        <p:nvSpPr>
          <p:cNvPr id="7" name="">
            <a:extLst xmlns:a="http://schemas.openxmlformats.org/drawingml/2006/main">
              <a:ext uri="{FF2B5EF4-FFF2-40B4-BE49-F238E27FC236}">
                <a16:creationId xmlns:a16="http://schemas.microsoft.com/office/drawing/2014/main" id="{70A4FD90-D630-432B-8A96-DF2B1B83967F}"/>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Same code with different dates represents distinct span evidence.</a:t>
            </a:r>
          </a:p>
        </p:txBody>
      </p:sp>
      <p:sp>
        <p:nvSpPr>
          <p:cNvPr id="8" name="">
            <a:extLst xmlns:a="http://schemas.openxmlformats.org/drawingml/2006/main">
              <a:ext uri="{FF2B5EF4-FFF2-40B4-BE49-F238E27FC236}">
                <a16:creationId xmlns:a16="http://schemas.microsoft.com/office/drawing/2014/main" id="{51C18650-210B-47A4-9149-582D70AB0664}"/>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Preserve distinct spans up to the documented cap of 10.</a:t>
            </a:r>
          </a:p>
        </p:txBody>
      </p:sp>
      <p:sp>
        <p:nvSpPr>
          <p:cNvPr id="9" name="">
            <a:extLst xmlns:a="http://schemas.openxmlformats.org/drawingml/2006/main">
              <a:ext uri="{FF2B5EF4-FFF2-40B4-BE49-F238E27FC236}">
                <a16:creationId xmlns:a16="http://schemas.microsoft.com/office/drawing/2014/main" id="{3C7EB46A-7149-4FB5-9295-6835014004F3}"/>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7354B8"/>
                </a:solidFill>
                <a:latin typeface="Arial"/>
                <a:ea typeface="Arial"/>
                <a:cs typeface="Arial"/>
              </a:defRPr>
            </a:defPPr>
          </a:lstStyle>
          <a:p xmlns:a="http://schemas.openxmlformats.org/drawingml/2006/main">
            <a:pPr algn="l">
              <a:defRPr sz="2175" b="1">
                <a:solidFill>
                  <a:srgbClr val="7354B8"/>
                </a:solidFill>
                <a:latin typeface="Arial"/>
                <a:ea typeface="Arial"/>
                <a:cs typeface="Arial"/>
              </a:defRPr>
            </a:pPr>
            <a:r>
              <a:rPr sz="2175" b="1">
                <a:solidFill>
                  <a:srgbClr val="7354B8"/>
                </a:solidFill>
                <a:latin typeface="Arial"/>
                <a:ea typeface="Arial"/>
                <a:cs typeface="Arial"/>
              </a:rPr>
              <a:t>Warnings</a:t>
            </a:r>
          </a:p>
        </p:txBody>
      </p:sp>
      <p:sp>
        <p:nvSpPr>
          <p:cNvPr id="10" name="">
            <a:extLst xmlns:a="http://schemas.openxmlformats.org/drawingml/2006/main">
              <a:ext uri="{FF2B5EF4-FFF2-40B4-BE49-F238E27FC236}">
                <a16:creationId xmlns:a16="http://schemas.microsoft.com/office/drawing/2014/main" id="{FE4B03AF-150D-4DF7-8AA1-B694178590A7}"/>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01: query-code presence flags. 05: single bill, SNF undischarged, other.</a:t>
            </a:r>
          </a:p>
        </p:txBody>
      </p:sp>
      <p:sp>
        <p:nvSpPr>
          <p:cNvPr id="11" name="">
            <a:extLst xmlns:a="http://schemas.openxmlformats.org/drawingml/2006/main">
              <a:ext uri="{FF2B5EF4-FFF2-40B4-BE49-F238E27FC236}">
                <a16:creationId xmlns:a16="http://schemas.microsoft.com/office/drawing/2014/main" id="{758BDE07-A336-4697-84B6-D6DC5086E3D7}"/>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Unapproved cancel/duplicate tables remain acceptance dependencies.</a:t>
            </a:r>
          </a:p>
        </p:txBody>
      </p:sp>
    </p:spTree>
    <p:extLst>
      <p:ext uri="{BB962C8B-B14F-4D97-AF65-F5344CB8AC3E}">
        <p14:creationId xmlns:p14="http://schemas.microsoft.com/office/powerpoint/2010/main" val="864283327"/>
      </p:ext>
    </p:extLst>
  </p:cSld>
</p:sld>
</file>

<file path=ppt/slides/slide4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841B38-52DB-4680-8FEF-9CC016B16165}"/>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Intermediate: age, death and SSI</a:t>
            </a:r>
          </a:p>
        </p:txBody>
      </p:sp>
      <p:sp>
        <p:nvSpPr>
          <p:cNvPr id="2" name="">
            <a:extLst xmlns:a="http://schemas.openxmlformats.org/drawingml/2006/main">
              <a:ext uri="{FF2B5EF4-FFF2-40B4-BE49-F238E27FC236}">
                <a16:creationId xmlns:a16="http://schemas.microsoft.com/office/drawing/2014/main" id="{85C8E198-4696-4DB8-A94C-F1032F786AB2}"/>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45</a:t>
            </a:r>
          </a:p>
        </p:txBody>
      </p:sp>
      <p:sp>
        <p:nvSpPr>
          <p:cNvPr id="3" name="">
            <a:extLst xmlns:a="http://schemas.openxmlformats.org/drawingml/2006/main">
              <a:ext uri="{FF2B5EF4-FFF2-40B4-BE49-F238E27FC236}">
                <a16:creationId xmlns:a16="http://schemas.microsoft.com/office/drawing/2014/main" id="{2E5F9B85-5700-4FEF-943D-57C2FE50841E}"/>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Age</a:t>
            </a:r>
          </a:p>
        </p:txBody>
      </p:sp>
      <p:sp>
        <p:nvSpPr>
          <p:cNvPr id="4" name="">
            <a:extLst xmlns:a="http://schemas.openxmlformats.org/drawingml/2006/main">
              <a:ext uri="{FF2B5EF4-FFF2-40B4-BE49-F238E27FC236}">
                <a16:creationId xmlns:a16="http://schemas.microsoft.com/office/drawing/2014/main" id="{392169A7-EF79-4306-9C34-BD142FE7C33C}"/>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Calculate completed years using birthday and admission date.</a:t>
            </a:r>
          </a:p>
        </p:txBody>
      </p:sp>
      <p:sp>
        <p:nvSpPr>
          <p:cNvPr id="5" name="">
            <a:extLst xmlns:a="http://schemas.openxmlformats.org/drawingml/2006/main">
              <a:ext uri="{FF2B5EF4-FFF2-40B4-BE49-F238E27FC236}">
                <a16:creationId xmlns:a16="http://schemas.microsoft.com/office/drawing/2014/main" id="{300B98DC-587D-4D5C-9A68-108B662C8976}"/>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Apply the documented age-64 exception. Missing birth date blocks.</a:t>
            </a:r>
          </a:p>
        </p:txBody>
      </p:sp>
      <p:sp>
        <p:nvSpPr>
          <p:cNvPr id="6" name="">
            <a:extLst xmlns:a="http://schemas.openxmlformats.org/drawingml/2006/main">
              <a:ext uri="{FF2B5EF4-FFF2-40B4-BE49-F238E27FC236}">
                <a16:creationId xmlns:a16="http://schemas.microsoft.com/office/drawing/2014/main" id="{6E538BC9-5EB0-439E-B21C-5C3AB9473FB3}"/>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Death</a:t>
            </a:r>
          </a:p>
        </p:txBody>
      </p:sp>
      <p:sp>
        <p:nvSpPr>
          <p:cNvPr id="7" name="">
            <a:extLst xmlns:a="http://schemas.openxmlformats.org/drawingml/2006/main">
              <a:ext uri="{FF2B5EF4-FFF2-40B4-BE49-F238E27FC236}">
                <a16:creationId xmlns:a16="http://schemas.microsoft.com/office/drawing/2014/main" id="{06589733-C62C-4719-B1A9-07C5DD60CFB7}"/>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Use trusted death evidence or the documented death-status fallback.</a:t>
            </a:r>
          </a:p>
        </p:txBody>
      </p:sp>
      <p:sp>
        <p:nvSpPr>
          <p:cNvPr id="8" name="">
            <a:extLst xmlns:a="http://schemas.openxmlformats.org/drawingml/2006/main">
              <a:ext uri="{FF2B5EF4-FFF2-40B4-BE49-F238E27FC236}">
                <a16:creationId xmlns:a16="http://schemas.microsoft.com/office/drawing/2014/main" id="{E79B9A61-8F74-4A0B-9ACD-A8A985589C34}"/>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Same-day death-days is 1. Otherwise use the signed day difference.</a:t>
            </a:r>
          </a:p>
        </p:txBody>
      </p:sp>
      <p:sp>
        <p:nvSpPr>
          <p:cNvPr id="9" name="">
            <a:extLst xmlns:a="http://schemas.openxmlformats.org/drawingml/2006/main">
              <a:ext uri="{FF2B5EF4-FFF2-40B4-BE49-F238E27FC236}">
                <a16:creationId xmlns:a16="http://schemas.microsoft.com/office/drawing/2014/main" id="{9B4A9395-F25E-415E-8EDC-2A43C595BDF1}"/>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SSI</a:t>
            </a:r>
          </a:p>
        </p:txBody>
      </p:sp>
      <p:sp>
        <p:nvSpPr>
          <p:cNvPr id="10" name="">
            <a:extLst xmlns:a="http://schemas.openxmlformats.org/drawingml/2006/main">
              <a:ext uri="{FF2B5EF4-FFF2-40B4-BE49-F238E27FC236}">
                <a16:creationId xmlns:a16="http://schemas.microsoft.com/office/drawing/2014/main" id="{06480151-3F91-42AB-81B7-63855D270BFD}"/>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Use monthly reference flags for inpatient days.</a:t>
            </a:r>
          </a:p>
        </p:txBody>
      </p:sp>
      <p:sp>
        <p:nvSpPr>
          <p:cNvPr id="11" name="">
            <a:extLst xmlns:a="http://schemas.openxmlformats.org/drawingml/2006/main">
              <a:ext uri="{FF2B5EF4-FFF2-40B4-BE49-F238E27FC236}">
                <a16:creationId xmlns:a16="http://schemas.microsoft.com/office/drawing/2014/main" id="{87A9B1B8-DF8B-4D66-92B5-8F918B98F5CA}"/>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Count admission inclusively and discharge exclusively without duplicates.</a:t>
            </a:r>
          </a:p>
        </p:txBody>
      </p:sp>
    </p:spTree>
    <p:extLst>
      <p:ext uri="{BB962C8B-B14F-4D97-AF65-F5344CB8AC3E}">
        <p14:creationId xmlns:p14="http://schemas.microsoft.com/office/powerpoint/2010/main" val="1881305972"/>
      </p:ext>
    </p:extLst>
  </p:cSld>
</p:sld>
</file>

<file path=ppt/slides/slide4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DE8088-1CD1-4766-BB43-E8F9116D488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Intermediate: amounts and revenue groups</a:t>
            </a:r>
          </a:p>
        </p:txBody>
      </p:sp>
      <p:sp>
        <p:nvSpPr>
          <p:cNvPr id="2" name="">
            <a:extLst xmlns:a="http://schemas.openxmlformats.org/drawingml/2006/main">
              <a:ext uri="{FF2B5EF4-FFF2-40B4-BE49-F238E27FC236}">
                <a16:creationId xmlns:a16="http://schemas.microsoft.com/office/drawing/2014/main" id="{DB99BB1A-3296-466E-BBFC-D8B6CF864FB8}"/>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46</a:t>
            </a:r>
          </a:p>
        </p:txBody>
      </p:sp>
      <p:sp>
        <p:nvSpPr>
          <p:cNvPr id="3" name="">
            <a:extLst xmlns:a="http://schemas.openxmlformats.org/drawingml/2006/main">
              <a:ext uri="{FF2B5EF4-FFF2-40B4-BE49-F238E27FC236}">
                <a16:creationId xmlns:a16="http://schemas.microsoft.com/office/drawing/2014/main" id="{4700D43D-177D-4404-8CD4-46FFB4DA3A9D}"/>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Whole dollars</a:t>
            </a:r>
          </a:p>
        </p:txBody>
      </p:sp>
      <p:sp>
        <p:nvSpPr>
          <p:cNvPr id="4" name="">
            <a:extLst xmlns:a="http://schemas.openxmlformats.org/drawingml/2006/main">
              <a:ext uri="{FF2B5EF4-FFF2-40B4-BE49-F238E27FC236}">
                <a16:creationId xmlns:a16="http://schemas.microsoft.com/office/drawing/2014/main" id="{4F634EFB-1966-4702-AA80-3CA79088448A}"/>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Round ties with ROUND_HALF_UP. Preserve negative values.</a:t>
            </a:r>
          </a:p>
        </p:txBody>
      </p:sp>
      <p:sp>
        <p:nvSpPr>
          <p:cNvPr id="5" name="">
            <a:extLst xmlns:a="http://schemas.openxmlformats.org/drawingml/2006/main">
              <a:ext uri="{FF2B5EF4-FFF2-40B4-BE49-F238E27FC236}">
                <a16:creationId xmlns:a16="http://schemas.microsoft.com/office/drawing/2014/main" id="{6FC26B01-6552-4442-BC36-6C181F8ABC7B}"/>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Cap positive amounts at 999,999,999 where specified.</a:t>
            </a:r>
          </a:p>
        </p:txBody>
      </p:sp>
      <p:sp>
        <p:nvSpPr>
          <p:cNvPr id="6" name="">
            <a:extLst xmlns:a="http://schemas.openxmlformats.org/drawingml/2006/main">
              <a:ext uri="{FF2B5EF4-FFF2-40B4-BE49-F238E27FC236}">
                <a16:creationId xmlns:a16="http://schemas.microsoft.com/office/drawing/2014/main" id="{ACFAB934-A6CF-402F-83CA-6D66AC77639D}"/>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DRG price</a:t>
            </a:r>
          </a:p>
        </p:txBody>
      </p:sp>
      <p:sp>
        <p:nvSpPr>
          <p:cNvPr id="7" name="">
            <a:extLst xmlns:a="http://schemas.openxmlformats.org/drawingml/2006/main">
              <a:ext uri="{FF2B5EF4-FFF2-40B4-BE49-F238E27FC236}">
                <a16:creationId xmlns:a16="http://schemas.microsoft.com/office/drawing/2014/main" id="{AC865654-994F-4F89-8839-EB36AE69F8A5}"/>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Payment + primary payer + coinsurance + deductibles − outlier.</a:t>
            </a:r>
          </a:p>
        </p:txBody>
      </p:sp>
      <p:sp>
        <p:nvSpPr>
          <p:cNvPr id="8" name="">
            <a:extLst xmlns:a="http://schemas.openxmlformats.org/drawingml/2006/main">
              <a:ext uri="{FF2B5EF4-FFF2-40B4-BE49-F238E27FC236}">
                <a16:creationId xmlns:a16="http://schemas.microsoft.com/office/drawing/2014/main" id="{C5BE4D5B-3E40-40DC-8412-5FD297091C5D}"/>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Derive from source amounts before comparing actual output.</a:t>
            </a:r>
          </a:p>
        </p:txBody>
      </p:sp>
      <p:sp>
        <p:nvSpPr>
          <p:cNvPr id="9" name="">
            <a:extLst xmlns:a="http://schemas.openxmlformats.org/drawingml/2006/main">
              <a:ext uri="{FF2B5EF4-FFF2-40B4-BE49-F238E27FC236}">
                <a16:creationId xmlns:a16="http://schemas.microsoft.com/office/drawing/2014/main" id="{BBCFDD23-59E4-4AC2-9D36-2E5C1CE39C54}"/>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Care and accommodation</a:t>
            </a:r>
          </a:p>
        </p:txBody>
      </p:sp>
      <p:sp>
        <p:nvSpPr>
          <p:cNvPr id="10" name="">
            <a:extLst xmlns:a="http://schemas.openxmlformats.org/drawingml/2006/main">
              <a:ext uri="{FF2B5EF4-FFF2-40B4-BE49-F238E27FC236}">
                <a16:creationId xmlns:a16="http://schemas.microsoft.com/office/drawing/2014/main" id="{9252AE83-CD24-4DEC-8BDA-95E56CBE6554}"/>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Group private, semiprivate, ward, ICU and CCU charges/units.</a:t>
            </a:r>
          </a:p>
        </p:txBody>
      </p:sp>
      <p:sp>
        <p:nvSpPr>
          <p:cNvPr id="11" name="">
            <a:extLst xmlns:a="http://schemas.openxmlformats.org/drawingml/2006/main">
              <a:ext uri="{FF2B5EF4-FFF2-40B4-BE49-F238E27FC236}">
                <a16:creationId xmlns:a16="http://schemas.microsoft.com/office/drawing/2014/main" id="{F18DB291-C839-4ACE-8F5F-83F622AD7017}"/>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Care type uses the unique highest supported charge. Ties block.</a:t>
            </a:r>
          </a:p>
        </p:txBody>
      </p:sp>
    </p:spTree>
    <p:extLst>
      <p:ext uri="{BB962C8B-B14F-4D97-AF65-F5344CB8AC3E}">
        <p14:creationId xmlns:p14="http://schemas.microsoft.com/office/powerpoint/2010/main" val="2122109306"/>
      </p:ext>
    </p:extLst>
  </p:cSld>
</p:sld>
</file>

<file path=ppt/slides/slide4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7D5768-7768-42A6-81B0-57C45B138E18}"/>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Intermediate: codes and repeated fields</a:t>
            </a:r>
          </a:p>
        </p:txBody>
      </p:sp>
      <p:sp>
        <p:nvSpPr>
          <p:cNvPr id="2" name="">
            <a:extLst xmlns:a="http://schemas.openxmlformats.org/drawingml/2006/main">
              <a:ext uri="{FF2B5EF4-FFF2-40B4-BE49-F238E27FC236}">
                <a16:creationId xmlns:a16="http://schemas.microsoft.com/office/drawing/2014/main" id="{D9CE3F15-1311-4C0C-8C01-E7A1027A2DD3}"/>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47</a:t>
            </a:r>
          </a:p>
        </p:txBody>
      </p:sp>
      <p:sp>
        <p:nvSpPr>
          <p:cNvPr id="3" name="">
            <a:extLst xmlns:a="http://schemas.openxmlformats.org/drawingml/2006/main">
              <a:ext uri="{FF2B5EF4-FFF2-40B4-BE49-F238E27FC236}">
                <a16:creationId xmlns:a16="http://schemas.microsoft.com/office/drawing/2014/main" id="{5ECE1E44-F4EA-4C27-BCDE-96CB0534968C}"/>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NDC and procedures</a:t>
            </a:r>
          </a:p>
        </p:txBody>
      </p:sp>
      <p:sp>
        <p:nvSpPr>
          <p:cNvPr id="4" name="">
            <a:extLst xmlns:a="http://schemas.openxmlformats.org/drawingml/2006/main">
              <a:ext uri="{FF2B5EF4-FFF2-40B4-BE49-F238E27FC236}">
                <a16:creationId xmlns:a16="http://schemas.microsoft.com/office/drawing/2014/main" id="{58F762E3-FD05-4A0D-8BFD-69233A6CEECB}"/>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Keep the first 10 ordered nonblank NDC entries. NDC length is 11.</a:t>
            </a:r>
          </a:p>
        </p:txBody>
      </p:sp>
      <p:sp>
        <p:nvSpPr>
          <p:cNvPr id="5" name="">
            <a:extLst xmlns:a="http://schemas.openxmlformats.org/drawingml/2006/main">
              <a:ext uri="{FF2B5EF4-FFF2-40B4-BE49-F238E27FC236}">
                <a16:creationId xmlns:a16="http://schemas.microsoft.com/office/drawing/2014/main" id="{93A67315-0C17-4613-8FEC-16FBCF87C7DF}"/>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Check format separately. Procedure arrays have a cap of 25.</a:t>
            </a:r>
          </a:p>
        </p:txBody>
      </p:sp>
      <p:sp>
        <p:nvSpPr>
          <p:cNvPr id="6" name="">
            <a:extLst xmlns:a="http://schemas.openxmlformats.org/drawingml/2006/main">
              <a:ext uri="{FF2B5EF4-FFF2-40B4-BE49-F238E27FC236}">
                <a16:creationId xmlns:a16="http://schemas.microsoft.com/office/drawing/2014/main" id="{95E835E1-EFE0-44CB-81C7-FB5BACC87488}"/>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Organ / outpatient</a:t>
            </a:r>
          </a:p>
        </p:txBody>
      </p:sp>
      <p:sp>
        <p:nvSpPr>
          <p:cNvPr id="7" name="">
            <a:extLst xmlns:a="http://schemas.openxmlformats.org/drawingml/2006/main">
              <a:ext uri="{FF2B5EF4-FFF2-40B4-BE49-F238E27FC236}">
                <a16:creationId xmlns:a16="http://schemas.microsoft.com/office/drawing/2014/main" id="{AC69CC78-B92A-4A82-94DE-1FDBB6B6352A}"/>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Map supported 081x organ codes and 050x / 049x outpatient families.</a:t>
            </a:r>
          </a:p>
        </p:txBody>
      </p:sp>
      <p:sp>
        <p:nvSpPr>
          <p:cNvPr id="8" name="">
            <a:extLst xmlns:a="http://schemas.openxmlformats.org/drawingml/2006/main">
              <a:ext uri="{FF2B5EF4-FFF2-40B4-BE49-F238E27FC236}">
                <a16:creationId xmlns:a16="http://schemas.microsoft.com/office/drawing/2014/main" id="{8270C37F-C09F-4B0E-8AB0-FD74EAA138C7}"/>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Exclude 0818. Select the highest valid supported organ code.</a:t>
            </a:r>
          </a:p>
        </p:txBody>
      </p:sp>
      <p:sp>
        <p:nvSpPr>
          <p:cNvPr id="9" name="">
            <a:extLst xmlns:a="http://schemas.openxmlformats.org/drawingml/2006/main">
              <a:ext uri="{FF2B5EF4-FFF2-40B4-BE49-F238E27FC236}">
                <a16:creationId xmlns:a16="http://schemas.microsoft.com/office/drawing/2014/main" id="{E92BA17A-FC4A-4E98-B86A-ED79805B2185}"/>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66A10"/>
                </a:solidFill>
                <a:latin typeface="Arial"/>
                <a:ea typeface="Arial"/>
                <a:cs typeface="Arial"/>
              </a:defRPr>
            </a:defPPr>
          </a:lstStyle>
          <a:p xmlns:a="http://schemas.openxmlformats.org/drawingml/2006/main">
            <a:pPr algn="l">
              <a:defRPr sz="2175" b="1">
                <a:solidFill>
                  <a:srgbClr val="B66A10"/>
                </a:solidFill>
                <a:latin typeface="Arial"/>
                <a:ea typeface="Arial"/>
                <a:cs typeface="Arial"/>
              </a:defRPr>
            </a:pPr>
            <a:r>
              <a:rPr sz="2175" b="1">
                <a:solidFill>
                  <a:srgbClr val="B66A10"/>
                </a:solidFill>
                <a:latin typeface="Arial"/>
                <a:ea typeface="Arial"/>
                <a:cs typeface="Arial"/>
              </a:rPr>
              <a:t>Other comparisons</a:t>
            </a:r>
          </a:p>
        </p:txBody>
      </p:sp>
      <p:sp>
        <p:nvSpPr>
          <p:cNvPr id="10" name="">
            <a:extLst xmlns:a="http://schemas.openxmlformats.org/drawingml/2006/main">
              <a:ext uri="{FF2B5EF4-FFF2-40B4-BE49-F238E27FC236}">
                <a16:creationId xmlns:a16="http://schemas.microsoft.com/office/drawing/2014/main" id="{A75D2A01-9ABC-41E9-8842-86E43F3AC25E}"/>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Check diagnosis/version/POA alignment, spans, sampling and warnings.</a:t>
            </a:r>
          </a:p>
        </p:txBody>
      </p:sp>
      <p:sp>
        <p:nvSpPr>
          <p:cNvPr id="11" name="">
            <a:extLst xmlns:a="http://schemas.openxmlformats.org/drawingml/2006/main">
              <a:ext uri="{FF2B5EF4-FFF2-40B4-BE49-F238E27FC236}">
                <a16:creationId xmlns:a16="http://schemas.microsoft.com/office/drawing/2014/main" id="{C5D056D3-5E0B-4F34-BD20-C774511A0E19}"/>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The 200-field registry compares available expected and actual values.</a:t>
            </a:r>
          </a:p>
        </p:txBody>
      </p:sp>
    </p:spTree>
    <p:extLst>
      <p:ext uri="{BB962C8B-B14F-4D97-AF65-F5344CB8AC3E}">
        <p14:creationId xmlns:p14="http://schemas.microsoft.com/office/powerpoint/2010/main" val="1225087630"/>
      </p:ext>
    </p:extLst>
  </p:cSld>
</p:sld>
</file>

<file path=ppt/slides/slide4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48A70B-4E74-45E1-A078-B0C4D1A46330}"/>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Final MEDPAR: complete record checks</a:t>
            </a:r>
          </a:p>
        </p:txBody>
      </p:sp>
      <p:sp>
        <p:nvSpPr>
          <p:cNvPr id="2" name="">
            <a:extLst xmlns:a="http://schemas.openxmlformats.org/drawingml/2006/main">
              <a:ext uri="{FF2B5EF4-FFF2-40B4-BE49-F238E27FC236}">
                <a16:creationId xmlns:a16="http://schemas.microsoft.com/office/drawing/2014/main" id="{ACCFEE43-1733-44D7-8B2C-B330429F7751}"/>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48</a:t>
            </a:r>
          </a:p>
        </p:txBody>
      </p:sp>
      <p:sp>
        <p:nvSpPr>
          <p:cNvPr id="3" name="">
            <a:extLst xmlns:a="http://schemas.openxmlformats.org/drawingml/2006/main">
              <a:ext uri="{FF2B5EF4-FFF2-40B4-BE49-F238E27FC236}">
                <a16:creationId xmlns:a16="http://schemas.microsoft.com/office/drawing/2014/main" id="{E3DB70F9-5503-4B8E-A4BB-874AD7523E14}"/>
              </a:ext>
            </a:extLst>
          </p:cNvPr>
          <p:cNvSpPr>
            <a:spLocks xmlns:a="http://schemas.openxmlformats.org/drawingml/2006/main" noGrp="1"/>
          </p:cNvSpPr>
          <p:nvPr/>
        </p:nvSpPr>
        <p:spPr>
          <a:xfrm xmlns:a="http://schemas.openxmlformats.org/drawingml/2006/main">
            <a:off x="647700" y="18192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2B43"/>
                </a:solidFill>
                <a:latin typeface="Arial"/>
                <a:ea typeface="Arial"/>
                <a:cs typeface="Arial"/>
              </a:defRPr>
            </a:defPPr>
          </a:lstStyle>
          <a:p xmlns:a="http://schemas.openxmlformats.org/drawingml/2006/main">
            <a:pPr algn="l">
              <a:defRPr sz="2175" b="1">
                <a:solidFill>
                  <a:srgbClr val="172B43"/>
                </a:solidFill>
                <a:latin typeface="Arial"/>
                <a:ea typeface="Arial"/>
                <a:cs typeface="Arial"/>
              </a:defRPr>
            </a:pPr>
            <a:r>
              <a:rPr sz="2175" b="1">
                <a:solidFill>
                  <a:srgbClr val="172B43"/>
                </a:solidFill>
                <a:latin typeface="Arial"/>
                <a:ea typeface="Arial"/>
                <a:cs typeface="Arial"/>
              </a:rPr>
              <a:t>Classification</a:t>
            </a:r>
          </a:p>
        </p:txBody>
      </p:sp>
      <p:sp>
        <p:nvSpPr>
          <p:cNvPr id="4" name="">
            <a:extLst xmlns:a="http://schemas.openxmlformats.org/drawingml/2006/main">
              <a:ext uri="{FF2B5EF4-FFF2-40B4-BE49-F238E27FC236}">
                <a16:creationId xmlns:a16="http://schemas.microsoft.com/office/drawing/2014/main" id="{3E6D59CF-9D67-4CE7-A52D-90E8B1C271CB}"/>
              </a:ext>
            </a:extLst>
          </p:cNvPr>
          <p:cNvSpPr>
            <a:spLocks xmlns:a="http://schemas.openxmlformats.org/drawingml/2006/main" noGrp="1"/>
          </p:cNvSpPr>
          <p:nvPr/>
        </p:nvSpPr>
        <p:spPr>
          <a:xfrm xmlns:a="http://schemas.openxmlformats.org/drawingml/2006/main">
            <a:off x="3143250" y="18192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Validate the configured one-byte S, L or N value.</a:t>
            </a:r>
          </a:p>
        </p:txBody>
      </p:sp>
      <p:sp>
        <p:nvSpPr>
          <p:cNvPr id="5" name="">
            <a:extLst xmlns:a="http://schemas.openxmlformats.org/drawingml/2006/main">
              <a:ext uri="{FF2B5EF4-FFF2-40B4-BE49-F238E27FC236}">
                <a16:creationId xmlns:a16="http://schemas.microsoft.com/office/drawing/2014/main" id="{D4D91C24-4463-40DA-A285-0C5F52966F1A}"/>
              </a:ext>
            </a:extLst>
          </p:cNvPr>
          <p:cNvSpPr>
            <a:spLocks xmlns:a="http://schemas.openxmlformats.org/drawingml/2006/main" noGrp="1"/>
          </p:cNvSpPr>
          <p:nvPr/>
        </p:nvSpPr>
        <p:spPr>
          <a:xfrm xmlns:a="http://schemas.openxmlformats.org/drawingml/2006/main">
            <a:off x="3143250" y="2400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Keep full stay identity even when the sort excludes admission.</a:t>
            </a:r>
          </a:p>
        </p:txBody>
      </p:sp>
      <p:sp>
        <p:nvSpPr>
          <p:cNvPr id="6" name="">
            <a:extLst xmlns:a="http://schemas.openxmlformats.org/drawingml/2006/main">
              <a:ext uri="{FF2B5EF4-FFF2-40B4-BE49-F238E27FC236}">
                <a16:creationId xmlns:a16="http://schemas.microsoft.com/office/drawing/2014/main" id="{DD12FBC7-8ECD-472C-9CA1-116AE051CEAF}"/>
              </a:ext>
            </a:extLst>
          </p:cNvPr>
          <p:cNvSpPr>
            <a:spLocks xmlns:a="http://schemas.openxmlformats.org/drawingml/2006/main" noGrp="1"/>
          </p:cNvSpPr>
          <p:nvPr/>
        </p:nvSpPr>
        <p:spPr>
          <a:xfrm xmlns:a="http://schemas.openxmlformats.org/drawingml/2006/main">
            <a:off x="647700" y="309562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2B43"/>
                </a:solidFill>
                <a:latin typeface="Arial"/>
                <a:ea typeface="Arial"/>
                <a:cs typeface="Arial"/>
              </a:defRPr>
            </a:defPPr>
          </a:lstStyle>
          <a:p xmlns:a="http://schemas.openxmlformats.org/drawingml/2006/main">
            <a:pPr algn="l">
              <a:defRPr sz="2175" b="1">
                <a:solidFill>
                  <a:srgbClr val="172B43"/>
                </a:solidFill>
                <a:latin typeface="Arial"/>
                <a:ea typeface="Arial"/>
                <a:cs typeface="Arial"/>
              </a:defRPr>
            </a:pPr>
            <a:r>
              <a:rPr sz="2175" b="1">
                <a:solidFill>
                  <a:srgbClr val="172B43"/>
                </a:solidFill>
                <a:latin typeface="Arial"/>
                <a:ea typeface="Arial"/>
                <a:cs typeface="Arial"/>
              </a:rPr>
              <a:t>Bytes and fields</a:t>
            </a:r>
          </a:p>
        </p:txBody>
      </p:sp>
      <p:sp>
        <p:nvSpPr>
          <p:cNvPr id="7" name="">
            <a:extLst xmlns:a="http://schemas.openxmlformats.org/drawingml/2006/main">
              <a:ext uri="{FF2B5EF4-FFF2-40B4-BE49-F238E27FC236}">
                <a16:creationId xmlns:a16="http://schemas.microsoft.com/office/drawing/2014/main" id="{9B7DD257-7D05-4728-85C8-5583FF544C36}"/>
              </a:ext>
            </a:extLst>
          </p:cNvPr>
          <p:cNvSpPr>
            <a:spLocks xmlns:a="http://schemas.openxmlformats.org/drawingml/2006/main" noGrp="1"/>
          </p:cNvSpPr>
          <p:nvPr/>
        </p:nvSpPr>
        <p:spPr>
          <a:xfrm xmlns:a="http://schemas.openxmlformats.org/drawingml/2006/main">
            <a:off x="3143250" y="309562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Check exact length and prefix, approved offsets and every golden byte.</a:t>
            </a:r>
          </a:p>
        </p:txBody>
      </p:sp>
      <p:sp>
        <p:nvSpPr>
          <p:cNvPr id="8" name="">
            <a:extLst xmlns:a="http://schemas.openxmlformats.org/drawingml/2006/main">
              <a:ext uri="{FF2B5EF4-FFF2-40B4-BE49-F238E27FC236}">
                <a16:creationId xmlns:a16="http://schemas.microsoft.com/office/drawing/2014/main" id="{0DBF1FD6-58E7-4D9E-9004-2B9010CA08EC}"/>
              </a:ext>
            </a:extLst>
          </p:cNvPr>
          <p:cNvSpPr>
            <a:spLocks xmlns:a="http://schemas.openxmlformats.org/drawingml/2006/main" noGrp="1"/>
          </p:cNvSpPr>
          <p:nvPr/>
        </p:nvSpPr>
        <p:spPr>
          <a:xfrm xmlns:a="http://schemas.openxmlformats.org/drawingml/2006/main">
            <a:off x="3143250" y="36766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A record with the right size can still contain incorrect data.</a:t>
            </a:r>
          </a:p>
        </p:txBody>
      </p:sp>
      <p:sp>
        <p:nvSpPr>
          <p:cNvPr id="9" name="">
            <a:extLst xmlns:a="http://schemas.openxmlformats.org/drawingml/2006/main">
              <a:ext uri="{FF2B5EF4-FFF2-40B4-BE49-F238E27FC236}">
                <a16:creationId xmlns:a16="http://schemas.microsoft.com/office/drawing/2014/main" id="{0CBB360C-C10C-41BB-A1B3-8A19664CC8AF}"/>
              </a:ext>
            </a:extLst>
          </p:cNvPr>
          <p:cNvSpPr>
            <a:spLocks xmlns:a="http://schemas.openxmlformats.org/drawingml/2006/main" noGrp="1"/>
          </p:cNvSpPr>
          <p:nvPr/>
        </p:nvSpPr>
        <p:spPr>
          <a:xfrm xmlns:a="http://schemas.openxmlformats.org/drawingml/2006/main">
            <a:off x="647700" y="4371975"/>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2B43"/>
                </a:solidFill>
                <a:latin typeface="Arial"/>
                <a:ea typeface="Arial"/>
                <a:cs typeface="Arial"/>
              </a:defRPr>
            </a:defPPr>
          </a:lstStyle>
          <a:p xmlns:a="http://schemas.openxmlformats.org/drawingml/2006/main">
            <a:pPr algn="l">
              <a:defRPr sz="2175" b="1">
                <a:solidFill>
                  <a:srgbClr val="172B43"/>
                </a:solidFill>
                <a:latin typeface="Arial"/>
                <a:ea typeface="Arial"/>
                <a:cs typeface="Arial"/>
              </a:defRPr>
            </a:pPr>
            <a:r>
              <a:rPr sz="2175" b="1">
                <a:solidFill>
                  <a:srgbClr val="172B43"/>
                </a:solidFill>
                <a:latin typeface="Arial"/>
                <a:ea typeface="Arial"/>
                <a:cs typeface="Arial"/>
              </a:rPr>
              <a:t>Acceptance inputs</a:t>
            </a:r>
          </a:p>
        </p:txBody>
      </p:sp>
      <p:sp>
        <p:nvSpPr>
          <p:cNvPr id="10" name="">
            <a:extLst xmlns:a="http://schemas.openxmlformats.org/drawingml/2006/main">
              <a:ext uri="{FF2B5EF4-FFF2-40B4-BE49-F238E27FC236}">
                <a16:creationId xmlns:a16="http://schemas.microsoft.com/office/drawing/2014/main" id="{E60E51BF-E14C-46EB-8F46-2A191D3A8954}"/>
              </a:ext>
            </a:extLst>
          </p:cNvPr>
          <p:cNvSpPr>
            <a:spLocks xmlns:a="http://schemas.openxmlformats.org/drawingml/2006/main" noGrp="1"/>
          </p:cNvSpPr>
          <p:nvPr/>
        </p:nvSpPr>
        <p:spPr>
          <a:xfrm xmlns:a="http://schemas.openxmlformats.org/drawingml/2006/main">
            <a:off x="3143250" y="4371975"/>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72B43"/>
                </a:solidFill>
                <a:latin typeface="Arial"/>
                <a:ea typeface="Arial"/>
                <a:cs typeface="Arial"/>
              </a:defRPr>
            </a:defPPr>
          </a:lstStyle>
          <a:p xmlns:a="http://schemas.openxmlformats.org/drawingml/2006/main">
            <a:pPr algn="l">
              <a:defRPr sz="1950" b="0">
                <a:solidFill>
                  <a:srgbClr val="172B43"/>
                </a:solidFill>
                <a:latin typeface="Arial"/>
                <a:ea typeface="Arial"/>
                <a:cs typeface="Arial"/>
              </a:defRPr>
            </a:pPr>
            <a:r>
              <a:rPr sz="1950" b="0">
                <a:solidFill>
                  <a:srgbClr val="172B43"/>
                </a:solidFill>
                <a:latin typeface="Arial"/>
                <a:ea typeface="Arial"/>
                <a:cs typeface="Arial"/>
              </a:rPr>
              <a:t>Need production files, current layout, routing tables and golden data.</a:t>
            </a:r>
          </a:p>
        </p:txBody>
      </p:sp>
      <p:sp>
        <p:nvSpPr>
          <p:cNvPr id="11" name="">
            <a:extLst xmlns:a="http://schemas.openxmlformats.org/drawingml/2006/main">
              <a:ext uri="{FF2B5EF4-FFF2-40B4-BE49-F238E27FC236}">
                <a16:creationId xmlns:a16="http://schemas.microsoft.com/office/drawing/2014/main" id="{C5AC98D2-D6E1-4AFB-8FE2-58E724EABF42}"/>
              </a:ext>
            </a:extLst>
          </p:cNvPr>
          <p:cNvSpPr>
            <a:spLocks xmlns:a="http://schemas.openxmlformats.org/drawingml/2006/main" noGrp="1"/>
          </p:cNvSpPr>
          <p:nvPr/>
        </p:nvSpPr>
        <p:spPr>
          <a:xfrm xmlns:a="http://schemas.openxmlformats.org/drawingml/2006/main">
            <a:off x="3143250" y="49530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72B43"/>
                </a:solidFill>
                <a:latin typeface="Arial"/>
                <a:ea typeface="Arial"/>
                <a:cs typeface="Arial"/>
              </a:defRPr>
            </a:defPPr>
          </a:lstStyle>
          <a:p xmlns:a="http://schemas.openxmlformats.org/drawingml/2006/main">
            <a:pPr algn="l">
              <a:defRPr sz="1875" b="1">
                <a:solidFill>
                  <a:srgbClr val="172B43"/>
                </a:solidFill>
                <a:latin typeface="Arial"/>
                <a:ea typeface="Arial"/>
                <a:cs typeface="Arial"/>
              </a:defRPr>
            </a:pPr>
            <a:r>
              <a:rPr sz="1875" b="1">
                <a:solidFill>
                  <a:srgbClr val="172B43"/>
                </a:solidFill>
                <a:latin typeface="Arial"/>
                <a:ea typeface="Arial"/>
                <a:cs typeface="Arial"/>
              </a:rPr>
              <a:t>Confirm BayState scope and its separate 3,004-byte layout requirements.</a:t>
            </a:r>
          </a:p>
        </p:txBody>
      </p:sp>
    </p:spTree>
    <p:extLst>
      <p:ext uri="{BB962C8B-B14F-4D97-AF65-F5344CB8AC3E}">
        <p14:creationId xmlns:p14="http://schemas.microsoft.com/office/powerpoint/2010/main" val="462461785"/>
      </p:ext>
    </p:extLst>
  </p:cSld>
</p:sld>
</file>

<file path=ppt/slides/slide4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BEFDAB-4D01-4F6F-B8EF-17EF95359DCD}"/>
              </a:ext>
            </a:extLst>
          </p:cNvPr>
          <p:cNvSpPr>
            <a:spLocks xmlns:a="http://schemas.openxmlformats.org/drawingml/2006/main" noGrp="1"/>
          </p:cNvSpPr>
          <p:nvPr/>
        </p:nvSpPr>
        <p:spPr>
          <a:xfrm xmlns:a="http://schemas.openxmlformats.org/drawingml/2006/main">
            <a:off x="619125" y="5334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72B43"/>
                </a:solidFill>
                <a:latin typeface="Arial"/>
                <a:ea typeface="Arial"/>
                <a:cs typeface="Arial"/>
              </a:defRPr>
            </a:defPPr>
          </a:lstStyle>
          <a:p xmlns:a="http://schemas.openxmlformats.org/drawingml/2006/main">
            <a:pPr algn="l">
              <a:defRPr sz="3450" b="1">
                <a:solidFill>
                  <a:srgbClr val="172B43"/>
                </a:solidFill>
                <a:latin typeface="Arial"/>
                <a:ea typeface="Arial"/>
                <a:cs typeface="Arial"/>
              </a:defRPr>
            </a:pPr>
            <a:r>
              <a:rPr sz="3450" b="1">
                <a:solidFill>
                  <a:srgbClr val="172B43"/>
                </a:solidFill>
                <a:latin typeface="Arial"/>
                <a:ea typeface="Arial"/>
                <a:cs typeface="Arial"/>
              </a:rPr>
              <a:t>Reference: commands and navigation</a:t>
            </a:r>
          </a:p>
        </p:txBody>
      </p:sp>
      <p:sp>
        <p:nvSpPr>
          <p:cNvPr id="2" name="">
            <a:extLst xmlns:a="http://schemas.openxmlformats.org/drawingml/2006/main">
              <a:ext uri="{FF2B5EF4-FFF2-40B4-BE49-F238E27FC236}">
                <a16:creationId xmlns:a16="http://schemas.microsoft.com/office/drawing/2014/main" id="{A0172FF1-8F87-4C74-9978-17A429DFB5F5}"/>
              </a:ext>
            </a:extLst>
          </p:cNvPr>
          <p:cNvSpPr>
            <a:spLocks xmlns:a="http://schemas.openxmlformats.org/drawingml/2006/main" noGrp="1"/>
          </p:cNvSpPr>
          <p:nvPr/>
        </p:nvSpPr>
        <p:spPr>
          <a:xfrm xmlns:a="http://schemas.openxmlformats.org/drawingml/2006/main">
            <a:off x="1108710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597080"/>
                </a:solidFill>
                <a:latin typeface="Arial"/>
                <a:ea typeface="Arial"/>
                <a:cs typeface="Arial"/>
              </a:defRPr>
            </a:defPPr>
          </a:lstStyle>
          <a:p xmlns:a="http://schemas.openxmlformats.org/drawingml/2006/main">
            <a:pPr algn="l">
              <a:defRPr sz="1200" b="0">
                <a:solidFill>
                  <a:srgbClr val="597080"/>
                </a:solidFill>
                <a:latin typeface="Arial"/>
                <a:ea typeface="Arial"/>
                <a:cs typeface="Arial"/>
              </a:defRPr>
            </a:pPr>
            <a:r>
              <a:rPr sz="1200" b="0">
                <a:solidFill>
                  <a:srgbClr val="597080"/>
                </a:solidFill>
                <a:latin typeface="Arial"/>
                <a:ea typeface="Arial"/>
                <a:cs typeface="Arial"/>
              </a:rPr>
              <a:t>49</a:t>
            </a:r>
          </a:p>
        </p:txBody>
      </p:sp>
      <p:sp>
        <p:nvSpPr>
          <p:cNvPr id="3" name="">
            <a:extLst xmlns:a="http://schemas.openxmlformats.org/drawingml/2006/main">
              <a:ext uri="{FF2B5EF4-FFF2-40B4-BE49-F238E27FC236}">
                <a16:creationId xmlns:a16="http://schemas.microsoft.com/office/drawing/2014/main" id="{6611E24C-B2DA-4BD5-92BF-E54ED2E260D9}"/>
              </a:ext>
            </a:extLst>
          </p:cNvPr>
          <p:cNvSpPr>
            <a:spLocks xmlns:a="http://schemas.openxmlformats.org/drawingml/2006/main" noGrp="1"/>
          </p:cNvSpPr>
          <p:nvPr/>
        </p:nvSpPr>
        <p:spPr>
          <a:xfrm xmlns:a="http://schemas.openxmlformats.org/drawingml/2006/main">
            <a:off x="647700" y="181927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Synthetic example</a:t>
            </a:r>
          </a:p>
        </p:txBody>
      </p:sp>
      <p:sp>
        <p:nvSpPr>
          <p:cNvPr id="4" name="">
            <a:extLst xmlns:a="http://schemas.openxmlformats.org/drawingml/2006/main">
              <a:ext uri="{FF2B5EF4-FFF2-40B4-BE49-F238E27FC236}">
                <a16:creationId xmlns:a16="http://schemas.microsoft.com/office/drawing/2014/main" id="{7209845E-36BB-4D73-B744-E68B20BCE788}"/>
              </a:ext>
            </a:extLst>
          </p:cNvPr>
          <p:cNvSpPr>
            <a:spLocks xmlns:a="http://schemas.openxmlformats.org/drawingml/2006/main" noGrp="1"/>
          </p:cNvSpPr>
          <p:nvPr/>
        </p:nvSpPr>
        <p:spPr>
          <a:xfrm xmlns:a="http://schemas.openxmlformats.org/drawingml/2006/main">
            <a:off x="4381500" y="181927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python -m medpar_qa.cli --manifest</a:t>
            </a:r>
          </a:p>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config/run_manifest.all_stages.example.yaml</a:t>
            </a:r>
          </a:p>
        </p:txBody>
      </p:sp>
      <p:sp>
        <p:nvSpPr>
          <p:cNvPr id="5" name="">
            <a:extLst xmlns:a="http://schemas.openxmlformats.org/drawingml/2006/main">
              <a:ext uri="{FF2B5EF4-FFF2-40B4-BE49-F238E27FC236}">
                <a16:creationId xmlns:a16="http://schemas.microsoft.com/office/drawing/2014/main" id="{1E081CF1-B9F6-4253-9BEB-7217C11FCEE7}"/>
              </a:ext>
            </a:extLst>
          </p:cNvPr>
          <p:cNvSpPr>
            <a:spLocks xmlns:a="http://schemas.openxmlformats.org/drawingml/2006/main" noGrp="1"/>
          </p:cNvSpPr>
          <p:nvPr/>
        </p:nvSpPr>
        <p:spPr>
          <a:xfrm xmlns:a="http://schemas.openxmlformats.org/drawingml/2006/main">
            <a:off x="647700" y="29146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Software tests</a:t>
            </a:r>
          </a:p>
        </p:txBody>
      </p:sp>
      <p:sp>
        <p:nvSpPr>
          <p:cNvPr id="6" name="">
            <a:extLst xmlns:a="http://schemas.openxmlformats.org/drawingml/2006/main">
              <a:ext uri="{FF2B5EF4-FFF2-40B4-BE49-F238E27FC236}">
                <a16:creationId xmlns:a16="http://schemas.microsoft.com/office/drawing/2014/main" id="{CF0DE353-30DE-4F07-8D6A-FE275A22A99B}"/>
              </a:ext>
            </a:extLst>
          </p:cNvPr>
          <p:cNvSpPr>
            <a:spLocks xmlns:a="http://schemas.openxmlformats.org/drawingml/2006/main" noGrp="1"/>
          </p:cNvSpPr>
          <p:nvPr/>
        </p:nvSpPr>
        <p:spPr>
          <a:xfrm xmlns:a="http://schemas.openxmlformats.org/drawingml/2006/main">
            <a:off x="4381500" y="2914650"/>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python -m pytest -q</a:t>
            </a:r>
          </a:p>
        </p:txBody>
      </p:sp>
      <p:sp>
        <p:nvSpPr>
          <p:cNvPr id="7" name="">
            <a:extLst xmlns:a="http://schemas.openxmlformats.org/drawingml/2006/main">
              <a:ext uri="{FF2B5EF4-FFF2-40B4-BE49-F238E27FC236}">
                <a16:creationId xmlns:a16="http://schemas.microsoft.com/office/drawing/2014/main" id="{B4F599D0-BDB3-4F7C-BCC5-039D90D650B4}"/>
              </a:ext>
            </a:extLst>
          </p:cNvPr>
          <p:cNvSpPr>
            <a:spLocks xmlns:a="http://schemas.openxmlformats.org/drawingml/2006/main" noGrp="1"/>
          </p:cNvSpPr>
          <p:nvPr/>
        </p:nvSpPr>
        <p:spPr>
          <a:xfrm xmlns:a="http://schemas.openxmlformats.org/drawingml/2006/main">
            <a:off x="647700" y="40100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2457D6"/>
                </a:solidFill>
                <a:latin typeface="Arial"/>
                <a:ea typeface="Arial"/>
                <a:cs typeface="Arial"/>
              </a:defRPr>
            </a:defPPr>
          </a:lstStyle>
          <a:p xmlns:a="http://schemas.openxmlformats.org/drawingml/2006/main">
            <a:pPr algn="l">
              <a:defRPr sz="2100" b="1">
                <a:solidFill>
                  <a:srgbClr val="2457D6"/>
                </a:solidFill>
                <a:latin typeface="Arial"/>
                <a:ea typeface="Arial"/>
                <a:cs typeface="Arial"/>
              </a:defRPr>
            </a:pPr>
            <a:r>
              <a:rPr sz="2100" b="1">
                <a:solidFill>
                  <a:srgbClr val="2457D6"/>
                </a:solidFill>
                <a:latin typeface="Arial"/>
                <a:ea typeface="Arial"/>
                <a:cs typeface="Arial"/>
              </a:rPr>
              <a:t>Detailed code questions</a:t>
            </a:r>
          </a:p>
        </p:txBody>
      </p:sp>
      <p:sp>
        <p:nvSpPr>
          <p:cNvPr id="8" name="">
            <a:extLst xmlns:a="http://schemas.openxmlformats.org/drawingml/2006/main">
              <a:ext uri="{FF2B5EF4-FFF2-40B4-BE49-F238E27FC236}">
                <a16:creationId xmlns:a16="http://schemas.microsoft.com/office/drawing/2014/main" id="{F5AE3FA9-216C-4C96-B995-5E7C821D1E5E}"/>
              </a:ext>
            </a:extLst>
          </p:cNvPr>
          <p:cNvSpPr>
            <a:spLocks xmlns:a="http://schemas.openxmlformats.org/drawingml/2006/main" noGrp="1"/>
          </p:cNvSpPr>
          <p:nvPr/>
        </p:nvSpPr>
        <p:spPr>
          <a:xfrm xmlns:a="http://schemas.openxmlformats.org/drawingml/2006/main">
            <a:off x="4381500" y="4010025"/>
            <a:ext cx="709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2B43"/>
                </a:solidFill>
                <a:latin typeface="Arial"/>
                <a:ea typeface="Arial"/>
                <a:cs typeface="Arial"/>
              </a:defRPr>
            </a:defPPr>
          </a:lstStyle>
          <a:p xmlns:a="http://schemas.openxmlformats.org/drawingml/2006/main">
            <a:pPr algn="l">
              <a:defRPr sz="2025" b="0">
                <a:solidFill>
                  <a:srgbClr val="172B43"/>
                </a:solidFill>
                <a:latin typeface="Arial"/>
                <a:ea typeface="Arial"/>
                <a:cs typeface="Arial"/>
              </a:defRPr>
            </a:pPr>
            <a:r>
              <a:rPr sz="2025" b="0">
                <a:solidFill>
                  <a:srgbClr val="172B43"/>
                </a:solidFill>
                <a:latin typeface="Arial"/>
                <a:ea typeface="Arial"/>
                <a:cs typeface="Arial"/>
              </a:rPr>
              <a:t>Search the function name in README.md, then open the validator and its test.</a:t>
            </a:r>
          </a:p>
        </p:txBody>
      </p:sp>
    </p:spTree>
    <p:extLst>
      <p:ext uri="{BB962C8B-B14F-4D97-AF65-F5344CB8AC3E}">
        <p14:creationId xmlns:p14="http://schemas.microsoft.com/office/powerpoint/2010/main" val="487737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2026-10-11T13:54:26.6000000Z</dcterms:created>
  <dcterms:modified xsi:type="dcterms:W3CDTF">2026-10-11T13:54:26.6000000Z</dcterms:modified>
</coreProperties>
</file>